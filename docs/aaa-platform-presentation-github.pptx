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74" r:id="rId2"/>
    <p:sldId id="256" r:id="rId3"/>
    <p:sldId id="272" r:id="rId4"/>
    <p:sldId id="271" r:id="rId5"/>
    <p:sldId id="273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404" autoAdjust="0"/>
  </p:normalViewPr>
  <p:slideViewPr>
    <p:cSldViewPr snapToGrid="0" snapToObjects="1">
      <p:cViewPr varScale="1">
        <p:scale>
          <a:sx n="98" d="100"/>
          <a:sy n="98" d="100"/>
        </p:scale>
        <p:origin x="36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71550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2 PGW</a:t>
            </a:r>
          </a:p>
          <a:p>
            <a:r>
              <a:rPr lang="en-US" dirty="0"/>
              <a:t>Multiple routing domain</a:t>
            </a:r>
          </a:p>
          <a:p>
            <a:r>
              <a:rPr lang="en-US" dirty="0"/>
              <a:t>Static ip on multi IMSI</a:t>
            </a:r>
          </a:p>
          <a:p>
            <a:r>
              <a:rPr lang="en-US" dirty="0"/>
              <a:t>One AAA for all</a:t>
            </a:r>
          </a:p>
          <a:p>
            <a:r>
              <a:rPr lang="en-US" dirty="0"/>
              <a:t>Load test</a:t>
            </a:r>
          </a:p>
          <a:p>
            <a:r>
              <a:rPr lang="en-US" dirty="0"/>
              <a:t>Regression</a:t>
            </a:r>
          </a:p>
          <a:p>
            <a:r>
              <a:rPr lang="en-US" dirty="0"/>
              <a:t>Multi AZ</a:t>
            </a:r>
          </a:p>
          <a:p>
            <a:r>
              <a:rPr lang="en-US" dirty="0"/>
              <a:t>Scale out</a:t>
            </a:r>
          </a:p>
          <a:p>
            <a:r>
              <a:rPr lang="en-US" dirty="0"/>
              <a:t>Single API  for CMP</a:t>
            </a:r>
          </a:p>
        </p:txBody>
      </p:sp>
    </p:spTree>
    <p:extLst>
      <p:ext uri="{BB962C8B-B14F-4D97-AF65-F5344CB8AC3E}">
        <p14:creationId xmlns:p14="http://schemas.microsoft.com/office/powerpoint/2010/main" val="41881974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09323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274320"/>
            <a:ext cx="4114800" cy="5692140"/>
          </a:xfrm>
          <a:prstGeom prst="rect">
            <a:avLst/>
          </a:prstGeom>
          <a:solidFill>
            <a:srgbClr val="172055">
              <a:alpha val="60000"/>
            </a:srgbClr>
          </a:solidFill>
          <a:ln w="12700">
            <a:solidFill>
              <a:srgbClr val="172055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6583680" y="-274320"/>
            <a:ext cx="3200400" cy="5692140"/>
          </a:xfrm>
          <a:prstGeom prst="rect">
            <a:avLst/>
          </a:prstGeom>
          <a:solidFill>
            <a:srgbClr val="0D1844">
              <a:alpha val="60000"/>
            </a:srgbClr>
          </a:solidFill>
          <a:ln w="12700">
            <a:solidFill>
              <a:srgbClr val="0D184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274320" y="365760"/>
            <a:ext cx="3200400" cy="237744"/>
          </a:xfrm>
          <a:prstGeom prst="roundRect">
            <a:avLst>
              <a:gd name="adj" fmla="val 50000"/>
            </a:avLst>
          </a:prstGeom>
          <a:solidFill>
            <a:srgbClr val="3C4D6B"/>
          </a:solidFill>
          <a:ln w="12700">
            <a:solidFill>
              <a:srgbClr val="3C4D6B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274320" y="36576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ADCFC"/>
                </a:solidFill>
              </a:rPr>
              <a:t>TELECOM  |  AAA  |  CLOUD-NATIVE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100584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AAA Cloud-Native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27432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74320" y="2651760"/>
            <a:ext cx="5669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7E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High-Performance Subscriber Provisioning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7E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Real-Time RADIUS Authentication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7432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Shape 9"/>
          <p:cNvSpPr/>
          <p:nvPr/>
        </p:nvSpPr>
        <p:spPr>
          <a:xfrm>
            <a:off x="27432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" name="Text 10"/>
          <p:cNvSpPr/>
          <p:nvPr/>
        </p:nvSpPr>
        <p:spPr>
          <a:xfrm>
            <a:off x="27432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&lt; 15ms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7432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EA8E8"/>
                </a:solidFill>
              </a:rPr>
              <a:t>p99 Lookup SLA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19456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Shape 13"/>
          <p:cNvSpPr/>
          <p:nvPr/>
        </p:nvSpPr>
        <p:spPr>
          <a:xfrm>
            <a:off x="219456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Text 14"/>
          <p:cNvSpPr/>
          <p:nvPr/>
        </p:nvSpPr>
        <p:spPr>
          <a:xfrm>
            <a:off x="219456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100K+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19456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EA8E8"/>
                </a:solidFill>
              </a:rPr>
              <a:t>Bulk Profiles/Job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11480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Shape 17"/>
          <p:cNvSpPr/>
          <p:nvPr/>
        </p:nvSpPr>
        <p:spPr>
          <a:xfrm>
            <a:off x="411480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Text 18"/>
          <p:cNvSpPr/>
          <p:nvPr/>
        </p:nvSpPr>
        <p:spPr>
          <a:xfrm>
            <a:off x="411480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Multi-IMSI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11480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EA8E8"/>
                </a:solidFill>
              </a:rPr>
              <a:t>Auto-Provisioning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766560" y="914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CADCFC"/>
                </a:solidFill>
              </a:rPr>
              <a:t>C++17 / Drogon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75120" y="1074420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Text 22"/>
          <p:cNvSpPr/>
          <p:nvPr/>
        </p:nvSpPr>
        <p:spPr>
          <a:xfrm>
            <a:off x="6766560" y="14813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CADCFC"/>
                </a:solidFill>
              </a:rPr>
              <a:t>Python / FastAPI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675120" y="1641348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Text 24"/>
          <p:cNvSpPr/>
          <p:nvPr/>
        </p:nvSpPr>
        <p:spPr>
          <a:xfrm>
            <a:off x="6766560" y="204825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CADCFC"/>
                </a:solidFill>
              </a:rPr>
              <a:t>PostgreSQL 15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675120" y="2208276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8" name="Text 26"/>
          <p:cNvSpPr/>
          <p:nvPr/>
        </p:nvSpPr>
        <p:spPr>
          <a:xfrm>
            <a:off x="6766560" y="261518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CADCFC"/>
                </a:solidFill>
              </a:rPr>
              <a:t>Kubernetes / Helm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675120" y="2775204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Text 28"/>
          <p:cNvSpPr/>
          <p:nvPr/>
        </p:nvSpPr>
        <p:spPr>
          <a:xfrm>
            <a:off x="6766560" y="318211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CADCFC"/>
                </a:solidFill>
              </a:rPr>
              <a:t>Prometheus / Grafana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675120" y="3342132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0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Key Platform Capabilities</a:t>
            </a:r>
          </a:p>
        </p:txBody>
      </p:sp>
      <p:sp>
        <p:nvSpPr>
          <p:cNvPr id="4" name="Divider"/>
          <p:cNvSpPr/>
          <p:nvPr/>
        </p:nvSpPr>
        <p:spPr>
          <a:xfrm>
            <a:off x="4520000" y="620000"/>
            <a:ext cx="0" cy="492000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Item1"/>
          <p:cNvSpPr/>
          <p:nvPr/>
        </p:nvSpPr>
        <p:spPr>
          <a:xfrm>
            <a:off x="160000" y="620000"/>
            <a:ext cx="428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</a:rPr>
              <a:t>01  </a:t>
            </a:r>
            <a:r>
              <a:rPr lang="en-US" sz="1100" b="1" dirty="0">
                <a:solidFill>
                  <a:srgbClr val="1E2761"/>
                </a:solidFill>
              </a:rPr>
              <a:t>One Platform for All Donors</a:t>
            </a:r>
          </a:p>
          <a:p>
            <a:pPr marL="45720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Single system manages all subscriber profiles across all donors and networks</a:t>
            </a:r>
          </a:p>
        </p:txBody>
      </p:sp>
      <p:sp>
        <p:nvSpPr>
          <p:cNvPr id="6" name="Item2"/>
          <p:cNvSpPr/>
          <p:nvPr/>
        </p:nvSpPr>
        <p:spPr>
          <a:xfrm>
            <a:off x="150001" y="2913662"/>
            <a:ext cx="428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</a:rPr>
              <a:t>05  </a:t>
            </a:r>
            <a:r>
              <a:rPr lang="en-US" sz="1100" b="1" dirty="0">
                <a:solidFill>
                  <a:srgbClr val="1E2761"/>
                </a:solidFill>
              </a:rPr>
              <a:t>Horizontal Scale-Out Capabilities</a:t>
            </a:r>
          </a:p>
          <a:p>
            <a:pPr marL="45720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Add Lookup / API replicas with zero config changes; scales to millions of daily requests</a:t>
            </a:r>
          </a:p>
        </p:txBody>
      </p:sp>
      <p:sp>
        <p:nvSpPr>
          <p:cNvPr id="8" name="Item4"/>
          <p:cNvSpPr/>
          <p:nvPr/>
        </p:nvSpPr>
        <p:spPr>
          <a:xfrm>
            <a:off x="4680000" y="676209"/>
            <a:ext cx="428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</a:rPr>
              <a:t>08  </a:t>
            </a:r>
            <a:r>
              <a:rPr lang="en-US" sz="1100" b="1" dirty="0">
                <a:solidFill>
                  <a:srgbClr val="1E2761"/>
                </a:solidFill>
              </a:rPr>
              <a:t>Deployable on OCI or On-Premises</a:t>
            </a:r>
          </a:p>
          <a:p>
            <a:pPr marL="45720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Helm-based; runs on OCI Kubernetes, on-premises clusters, or local k3d/k8s</a:t>
            </a:r>
          </a:p>
        </p:txBody>
      </p:sp>
      <p:sp>
        <p:nvSpPr>
          <p:cNvPr id="9" name="Item5"/>
          <p:cNvSpPr/>
          <p:nvPr/>
        </p:nvSpPr>
        <p:spPr>
          <a:xfrm>
            <a:off x="4690000" y="2779070"/>
            <a:ext cx="4280000" cy="86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</a:rPr>
              <a:t>11  </a:t>
            </a:r>
            <a:r>
              <a:rPr lang="en-US" sz="1100" b="1" dirty="0">
                <a:solidFill>
                  <a:srgbClr val="1E2761"/>
                </a:solidFill>
              </a:rPr>
              <a:t>~500 Regression Tests on K8s</a:t>
            </a:r>
          </a:p>
          <a:p>
            <a:pPr marL="457200" indent="0">
              <a:buNone/>
            </a:pPr>
            <a:r>
              <a:rPr lang="en-US" sz="900" dirty="0">
                <a:solidFill>
                  <a:srgbClr val="3C4D6B"/>
                </a:solidFill>
              </a:rPr>
              <a:t>a)  Runs on K8s CI; deployable as dedicated pod on pre-production environment</a:t>
            </a:r>
          </a:p>
          <a:p>
            <a:pPr marL="457200" indent="0">
              <a:buNone/>
            </a:pPr>
            <a:r>
              <a:rPr lang="en-US" sz="900" dirty="0">
                <a:solidFill>
                  <a:srgbClr val="3C4D6B"/>
                </a:solidFill>
              </a:rPr>
              <a:t>b)  CPU &amp; RAM requirements documented per container image</a:t>
            </a:r>
          </a:p>
        </p:txBody>
      </p:sp>
      <p:sp>
        <p:nvSpPr>
          <p:cNvPr id="10" name="Item6"/>
          <p:cNvSpPr/>
          <p:nvPr/>
        </p:nvSpPr>
        <p:spPr>
          <a:xfrm>
            <a:off x="150001" y="3569919"/>
            <a:ext cx="428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</a:rPr>
              <a:t>06  </a:t>
            </a:r>
            <a:r>
              <a:rPr lang="en-US" sz="1100" b="1" dirty="0">
                <a:solidFill>
                  <a:srgbClr val="1E2761"/>
                </a:solidFill>
              </a:rPr>
              <a:t>Dedicated Load-Test Pod</a:t>
            </a:r>
          </a:p>
          <a:p>
            <a:pPr marL="45720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Isolated performance-testing workload with configurable concurrency and traffic targets</a:t>
            </a:r>
          </a:p>
        </p:txBody>
      </p:sp>
      <p:sp>
        <p:nvSpPr>
          <p:cNvPr id="11" name="Item7"/>
          <p:cNvSpPr/>
          <p:nvPr/>
        </p:nvSpPr>
        <p:spPr>
          <a:xfrm>
            <a:off x="120002" y="1760000"/>
            <a:ext cx="430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</a:rPr>
              <a:t>03  </a:t>
            </a:r>
            <a:r>
              <a:rPr lang="en-US" sz="1100" b="1" dirty="0">
                <a:solidFill>
                  <a:srgbClr val="1E2761"/>
                </a:solidFill>
              </a:rPr>
              <a:t>Routing Domain support</a:t>
            </a:r>
          </a:p>
          <a:p>
            <a:pPr marL="45720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Per </a:t>
            </a:r>
            <a:r>
              <a:rPr lang="en-US" sz="950" dirty="0" err="1">
                <a:solidFill>
                  <a:srgbClr val="3C4D6B"/>
                </a:solidFill>
              </a:rPr>
              <a:t>vDOM</a:t>
            </a:r>
            <a:r>
              <a:rPr lang="en-US" sz="950" dirty="0">
                <a:solidFill>
                  <a:srgbClr val="3C4D6B"/>
                </a:solidFill>
              </a:rPr>
              <a:t>, Per Gi interface routing-domain</a:t>
            </a:r>
          </a:p>
        </p:txBody>
      </p:sp>
      <p:sp>
        <p:nvSpPr>
          <p:cNvPr id="12" name="Item8"/>
          <p:cNvSpPr/>
          <p:nvPr/>
        </p:nvSpPr>
        <p:spPr>
          <a:xfrm>
            <a:off x="160000" y="2375000"/>
            <a:ext cx="430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</a:rPr>
              <a:t>04  </a:t>
            </a:r>
            <a:r>
              <a:rPr lang="en-US" sz="1100" b="1" dirty="0">
                <a:solidFill>
                  <a:srgbClr val="1E2761"/>
                </a:solidFill>
              </a:rPr>
              <a:t>Different Static IP par APN (also PGW with vAPN)</a:t>
            </a:r>
          </a:p>
          <a:p>
            <a:pPr marL="45720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Allow support GR with semi static IP (without BGP)</a:t>
            </a:r>
          </a:p>
        </p:txBody>
      </p:sp>
      <p:sp>
        <p:nvSpPr>
          <p:cNvPr id="13" name="Item9"/>
          <p:cNvSpPr/>
          <p:nvPr/>
        </p:nvSpPr>
        <p:spPr>
          <a:xfrm>
            <a:off x="4680000" y="1405570"/>
            <a:ext cx="430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</a:rPr>
              <a:t>09  </a:t>
            </a:r>
            <a:r>
              <a:rPr lang="en-US" sz="1100" b="1" dirty="0">
                <a:solidFill>
                  <a:srgbClr val="1E2761"/>
                </a:solidFill>
              </a:rPr>
              <a:t>Out-of-the-Box Prometheus Alerting</a:t>
            </a:r>
          </a:p>
          <a:p>
            <a:pPr marL="45720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Pre-built alert rules for p99 SLA breach, pool exhaustion, and DB health</a:t>
            </a:r>
          </a:p>
        </p:txBody>
      </p:sp>
      <p:sp>
        <p:nvSpPr>
          <p:cNvPr id="14" name="Item10"/>
          <p:cNvSpPr/>
          <p:nvPr/>
        </p:nvSpPr>
        <p:spPr>
          <a:xfrm>
            <a:off x="4639999" y="2057744"/>
            <a:ext cx="430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</a:rPr>
              <a:t>10  </a:t>
            </a:r>
            <a:r>
              <a:rPr lang="en-US" sz="1100" b="1" dirty="0">
                <a:solidFill>
                  <a:srgbClr val="1E2761"/>
                </a:solidFill>
              </a:rPr>
              <a:t>Out-of-the-Box Grafana Dashboards</a:t>
            </a:r>
          </a:p>
          <a:p>
            <a:pPr marL="45720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Pre-built charts for lookup latency, request throughput, and pool utilization</a:t>
            </a:r>
          </a:p>
        </p:txBody>
      </p:sp>
      <p:sp>
        <p:nvSpPr>
          <p:cNvPr id="15" name="Item11"/>
          <p:cNvSpPr/>
          <p:nvPr/>
        </p:nvSpPr>
        <p:spPr>
          <a:xfrm>
            <a:off x="130001" y="1190000"/>
            <a:ext cx="430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</a:rPr>
              <a:t>02  </a:t>
            </a:r>
            <a:r>
              <a:rPr lang="en-US" sz="1100" b="1" dirty="0">
                <a:solidFill>
                  <a:srgbClr val="1E2761"/>
                </a:solidFill>
              </a:rPr>
              <a:t>Auto Static-IP for All SIM Types</a:t>
            </a:r>
          </a:p>
          <a:p>
            <a:pPr marL="45720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Supports imsi / imsi_apn / iccid / iccid_apn modes with full auto-configuration</a:t>
            </a:r>
          </a:p>
        </p:txBody>
      </p:sp>
      <p:sp>
        <p:nvSpPr>
          <p:cNvPr id="16" name="Item12"/>
          <p:cNvSpPr/>
          <p:nvPr/>
        </p:nvSpPr>
        <p:spPr>
          <a:xfrm>
            <a:off x="4710000" y="3576002"/>
            <a:ext cx="430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</a:rPr>
              <a:t>12  </a:t>
            </a:r>
            <a:r>
              <a:rPr lang="en-US" sz="1100" b="1" dirty="0">
                <a:solidFill>
                  <a:srgbClr val="1E2761"/>
                </a:solidFill>
              </a:rPr>
              <a:t>Helm Charts for Kubernetes Deployment</a:t>
            </a:r>
          </a:p>
          <a:p>
            <a:pPr marL="45720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CPU &amp; RAM requests and limits defined per container; reproducible k8s deployments</a:t>
            </a:r>
          </a:p>
        </p:txBody>
      </p:sp>
      <p:sp>
        <p:nvSpPr>
          <p:cNvPr id="17" name="Item13"/>
          <p:cNvSpPr/>
          <p:nvPr/>
        </p:nvSpPr>
        <p:spPr>
          <a:xfrm>
            <a:off x="120002" y="4281871"/>
            <a:ext cx="428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</a:rPr>
              <a:t>07  </a:t>
            </a:r>
            <a:r>
              <a:rPr lang="en-US" sz="1100" b="1" dirty="0">
                <a:solidFill>
                  <a:srgbClr val="1E2761"/>
                </a:solidFill>
              </a:rPr>
              <a:t>Multi-Region &amp; Multi-AZ Support</a:t>
            </a:r>
          </a:p>
          <a:p>
            <a:pPr marL="45720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Scales independently per-region and per-availability-zone; survives zone failures</a:t>
            </a:r>
          </a:p>
        </p:txBody>
      </p:sp>
      <p:sp>
        <p:nvSpPr>
          <p:cNvPr id="18" name="Item12">
            <a:extLst>
              <a:ext uri="{FF2B5EF4-FFF2-40B4-BE49-F238E27FC236}">
                <a16:creationId xmlns:a16="http://schemas.microsoft.com/office/drawing/2014/main" id="{F0539C8D-121F-F3B5-2EE7-2E9F2F74DBCD}"/>
              </a:ext>
            </a:extLst>
          </p:cNvPr>
          <p:cNvSpPr/>
          <p:nvPr/>
        </p:nvSpPr>
        <p:spPr>
          <a:xfrm>
            <a:off x="4723998" y="4202110"/>
            <a:ext cx="430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</a:rPr>
              <a:t>13  </a:t>
            </a:r>
            <a:r>
              <a:rPr lang="en-US" sz="1100" b="1" dirty="0">
                <a:solidFill>
                  <a:srgbClr val="1E2761"/>
                </a:solidFill>
              </a:rPr>
              <a:t>Single API for CMP self service</a:t>
            </a:r>
          </a:p>
          <a:p>
            <a:pPr marL="457200"/>
            <a:r>
              <a:rPr lang="en-US" sz="950" dirty="0">
                <a:solidFill>
                  <a:srgbClr val="3C4D6B"/>
                </a:solidFill>
              </a:rPr>
              <a:t>CMP can provision static IP for all IMSIs with single API, Unified management for subscriber, pool, range-config, and bulk-job management</a:t>
            </a:r>
          </a:p>
          <a:p>
            <a:pPr marL="457200" indent="0">
              <a:buNone/>
            </a:pPr>
            <a:endParaRPr lang="en-US" sz="950" dirty="0">
              <a:solidFill>
                <a:srgbClr val="3C4D6B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0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Pod Architecture — Deployment Topology</a:t>
            </a:r>
          </a:p>
        </p:txBody>
      </p:sp>
      <p:sp>
        <p:nvSpPr>
          <p:cNvPr id="4" name="Text 2"/>
          <p:cNvSpPr/>
          <p:nvPr/>
        </p:nvSpPr>
        <p:spPr>
          <a:xfrm>
            <a:off x="365760" y="560000"/>
            <a:ext cx="8412480" cy="2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</a:rPr>
              <a:t>Request path: SMF → Radius-to-Rest → Lookup Service ↔ 1st Connection &amp; Provisioning ↔ PostgreSQL (HA cluster)</a:t>
            </a:r>
          </a:p>
        </p:txBody>
      </p:sp>
      <p:sp>
        <p:nvSpPr>
          <p:cNvPr id="5" name="DB1"/>
          <p:cNvSpPr/>
          <p:nvPr/>
        </p:nvSpPr>
        <p:spPr>
          <a:xfrm>
            <a:off x="550000" y="870000"/>
            <a:ext cx="1900000" cy="380000"/>
          </a:xfrm>
          <a:prstGeom prst="rect">
            <a:avLst/>
          </a:prstGeom>
          <a:solidFill>
            <a:srgbClr val="1E2761"/>
          </a:solidFill>
          <a:ln w="19050">
            <a:solidFill>
              <a:srgbClr val="2E75B6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PostgreSQL (Read)</a:t>
            </a:r>
          </a:p>
        </p:txBody>
      </p:sp>
      <p:sp>
        <p:nvSpPr>
          <p:cNvPr id="6" name="DB2"/>
          <p:cNvSpPr/>
          <p:nvPr/>
        </p:nvSpPr>
        <p:spPr>
          <a:xfrm>
            <a:off x="3622000" y="870000"/>
            <a:ext cx="1900000" cy="380000"/>
          </a:xfrm>
          <a:prstGeom prst="rect">
            <a:avLst/>
          </a:prstGeom>
          <a:solidFill>
            <a:srgbClr val="1E2761"/>
          </a:solidFill>
          <a:ln w="19050">
            <a:solidFill>
              <a:srgbClr val="2E75B6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000" b="1" dirty="0">
                <a:solidFill>
                  <a:srgbClr val="FFFFFF"/>
                </a:solidFill>
              </a:rPr>
              <a:t>PostgreSQL (Read)</a:t>
            </a:r>
          </a:p>
        </p:txBody>
      </p:sp>
      <p:sp>
        <p:nvSpPr>
          <p:cNvPr id="7" name="DB3"/>
          <p:cNvSpPr/>
          <p:nvPr/>
        </p:nvSpPr>
        <p:spPr>
          <a:xfrm>
            <a:off x="6694000" y="870000"/>
            <a:ext cx="1900000" cy="380000"/>
          </a:xfrm>
          <a:prstGeom prst="rect">
            <a:avLst/>
          </a:prstGeom>
          <a:solidFill>
            <a:srgbClr val="1E2761"/>
          </a:solidFill>
          <a:ln w="19050">
            <a:solidFill>
              <a:srgbClr val="2E75B6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000" b="1" dirty="0">
                <a:solidFill>
                  <a:srgbClr val="FFFFFF"/>
                </a:solidFill>
              </a:rPr>
              <a:t>PostgreSQL (Read/Write)</a:t>
            </a:r>
          </a:p>
        </p:txBody>
      </p:sp>
      <p:sp>
        <p:nvSpPr>
          <p:cNvPr id="8" name="DBLine1"/>
          <p:cNvSpPr/>
          <p:nvPr/>
        </p:nvSpPr>
        <p:spPr>
          <a:xfrm>
            <a:off x="2450000" y="1060000"/>
            <a:ext cx="117200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9" name="DBLine2"/>
          <p:cNvSpPr/>
          <p:nvPr/>
        </p:nvSpPr>
        <p:spPr>
          <a:xfrm>
            <a:off x="5522000" y="1060000"/>
            <a:ext cx="117200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VArr_DB1"/>
          <p:cNvSpPr/>
          <p:nvPr/>
        </p:nvSpPr>
        <p:spPr>
          <a:xfrm>
            <a:off x="1499999" y="1250000"/>
            <a:ext cx="229979" cy="1151322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12" name="VArr_DB3"/>
          <p:cNvSpPr/>
          <p:nvPr/>
        </p:nvSpPr>
        <p:spPr>
          <a:xfrm flipH="1">
            <a:off x="7392537" y="1249999"/>
            <a:ext cx="251463" cy="319493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LookupMain"/>
          <p:cNvSpPr/>
          <p:nvPr/>
        </p:nvSpPr>
        <p:spPr>
          <a:xfrm>
            <a:off x="4010000" y="2401322"/>
            <a:ext cx="3200000" cy="510000"/>
          </a:xfrm>
          <a:prstGeom prst="ellipse">
            <a:avLst/>
          </a:prstGeom>
          <a:solidFill>
            <a:srgbClr val="FFC000"/>
          </a:solidFill>
          <a:ln w="25400">
            <a:solidFill>
              <a:srgbClr val="CADCFC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Lookup Service (FRA)</a:t>
            </a:r>
          </a:p>
        </p:txBody>
      </p:sp>
      <p:sp>
        <p:nvSpPr>
          <p:cNvPr id="16" name="1stConnMain"/>
          <p:cNvSpPr/>
          <p:nvPr/>
        </p:nvSpPr>
        <p:spPr>
          <a:xfrm>
            <a:off x="4850000" y="1530000"/>
            <a:ext cx="3100000" cy="510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 w="25400">
            <a:solidFill>
              <a:srgbClr val="CADCFC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1st Connection &amp; Provisioning</a:t>
            </a:r>
          </a:p>
        </p:txBody>
      </p:sp>
      <p:sp>
        <p:nvSpPr>
          <p:cNvPr id="17" name="ArrowUI"/>
          <p:cNvSpPr/>
          <p:nvPr/>
        </p:nvSpPr>
        <p:spPr>
          <a:xfrm flipH="1" flipV="1">
            <a:off x="7950000" y="1784998"/>
            <a:ext cx="20000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18" name="UIMain"/>
          <p:cNvSpPr/>
          <p:nvPr/>
        </p:nvSpPr>
        <p:spPr>
          <a:xfrm>
            <a:off x="8150000" y="1640000"/>
            <a:ext cx="850000" cy="390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rgbClr val="CADCFC"/>
            </a:solidFill>
            <a:prstDash val="solid"/>
          </a:ln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UI</a:t>
            </a:r>
          </a:p>
        </p:txBody>
      </p:sp>
      <p:sp>
        <p:nvSpPr>
          <p:cNvPr id="19" name="VArr_R2R1"/>
          <p:cNvSpPr/>
          <p:nvPr/>
        </p:nvSpPr>
        <p:spPr>
          <a:xfrm flipH="1">
            <a:off x="974999" y="2892644"/>
            <a:ext cx="458015" cy="43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VArr_R2R2"/>
          <p:cNvSpPr/>
          <p:nvPr/>
        </p:nvSpPr>
        <p:spPr>
          <a:xfrm>
            <a:off x="2625000" y="2892644"/>
            <a:ext cx="125000" cy="43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VArr_R2R3"/>
          <p:cNvSpPr/>
          <p:nvPr/>
        </p:nvSpPr>
        <p:spPr>
          <a:xfrm flipV="1">
            <a:off x="2850000" y="1901321"/>
            <a:ext cx="2139999" cy="500001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 dirty="0"/>
          </a:p>
        </p:txBody>
      </p:sp>
      <p:sp>
        <p:nvSpPr>
          <p:cNvPr id="22" name="VArr_R2R4"/>
          <p:cNvSpPr/>
          <p:nvPr/>
        </p:nvSpPr>
        <p:spPr>
          <a:xfrm flipH="1">
            <a:off x="6375000" y="2030000"/>
            <a:ext cx="55000" cy="39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R2R1Shadow"/>
          <p:cNvSpPr/>
          <p:nvPr/>
        </p:nvSpPr>
        <p:spPr>
          <a:xfrm>
            <a:off x="210000" y="3372644"/>
            <a:ext cx="1650000" cy="430000"/>
          </a:xfrm>
          <a:prstGeom prst="ellipse">
            <a:avLst/>
          </a:prstGeom>
          <a:solidFill>
            <a:srgbClr val="FFC000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R2R1Main"/>
          <p:cNvSpPr/>
          <p:nvPr/>
        </p:nvSpPr>
        <p:spPr>
          <a:xfrm>
            <a:off x="150000" y="3322644"/>
            <a:ext cx="1650000" cy="430000"/>
          </a:xfrm>
          <a:prstGeom prst="ellipse">
            <a:avLst/>
          </a:prstGeom>
          <a:solidFill>
            <a:srgbClr val="FFC000"/>
          </a:solidFill>
          <a:ln w="25400">
            <a:solidFill>
              <a:srgbClr val="CADCFC"/>
            </a:solidFill>
            <a:prstDash val="solid"/>
          </a:ln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Radius to Rest</a:t>
            </a:r>
          </a:p>
        </p:txBody>
      </p:sp>
      <p:sp>
        <p:nvSpPr>
          <p:cNvPr id="25" name="R2R2Shadow"/>
          <p:cNvSpPr/>
          <p:nvPr/>
        </p:nvSpPr>
        <p:spPr>
          <a:xfrm>
            <a:off x="2060000" y="3372644"/>
            <a:ext cx="1650000" cy="430000"/>
          </a:xfrm>
          <a:prstGeom prst="ellipse">
            <a:avLst/>
          </a:prstGeom>
          <a:solidFill>
            <a:srgbClr val="FFC000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R2R2Main"/>
          <p:cNvSpPr/>
          <p:nvPr/>
        </p:nvSpPr>
        <p:spPr>
          <a:xfrm>
            <a:off x="2000000" y="3322644"/>
            <a:ext cx="1650000" cy="430000"/>
          </a:xfrm>
          <a:prstGeom prst="ellipse">
            <a:avLst/>
          </a:prstGeom>
          <a:solidFill>
            <a:srgbClr val="FFC000"/>
          </a:solidFill>
          <a:ln w="25400">
            <a:solidFill>
              <a:srgbClr val="CADCFC"/>
            </a:solidFill>
            <a:prstDash val="solid"/>
          </a:ln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Radius to Rest</a:t>
            </a:r>
          </a:p>
        </p:txBody>
      </p:sp>
      <p:sp>
        <p:nvSpPr>
          <p:cNvPr id="27" name="R2R3Shadow"/>
          <p:cNvSpPr/>
          <p:nvPr/>
        </p:nvSpPr>
        <p:spPr>
          <a:xfrm>
            <a:off x="3860000" y="3372644"/>
            <a:ext cx="1650000" cy="430000"/>
          </a:xfrm>
          <a:prstGeom prst="ellipse">
            <a:avLst/>
          </a:prstGeom>
          <a:solidFill>
            <a:srgbClr val="FFC000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8" name="R2R3Main"/>
          <p:cNvSpPr/>
          <p:nvPr/>
        </p:nvSpPr>
        <p:spPr>
          <a:xfrm>
            <a:off x="3800000" y="3322644"/>
            <a:ext cx="1650000" cy="430000"/>
          </a:xfrm>
          <a:prstGeom prst="ellipse">
            <a:avLst/>
          </a:prstGeom>
          <a:solidFill>
            <a:srgbClr val="FFC000"/>
          </a:solidFill>
          <a:ln w="25400">
            <a:solidFill>
              <a:srgbClr val="CADCFC"/>
            </a:solidFill>
            <a:prstDash val="solid"/>
          </a:ln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Radius to Rest</a:t>
            </a:r>
          </a:p>
        </p:txBody>
      </p:sp>
      <p:sp>
        <p:nvSpPr>
          <p:cNvPr id="29" name="R2R4Shadow"/>
          <p:cNvSpPr/>
          <p:nvPr/>
        </p:nvSpPr>
        <p:spPr>
          <a:xfrm>
            <a:off x="5610000" y="3372644"/>
            <a:ext cx="1650000" cy="430000"/>
          </a:xfrm>
          <a:prstGeom prst="ellipse">
            <a:avLst/>
          </a:prstGeom>
          <a:solidFill>
            <a:srgbClr val="FFC000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R2R4Main"/>
          <p:cNvSpPr/>
          <p:nvPr/>
        </p:nvSpPr>
        <p:spPr>
          <a:xfrm>
            <a:off x="5550000" y="3322644"/>
            <a:ext cx="1650000" cy="430000"/>
          </a:xfrm>
          <a:prstGeom prst="ellipse">
            <a:avLst/>
          </a:prstGeom>
          <a:solidFill>
            <a:srgbClr val="FFC000"/>
          </a:solidFill>
          <a:ln w="25400">
            <a:solidFill>
              <a:srgbClr val="CADCFC"/>
            </a:solidFill>
            <a:prstDash val="solid"/>
          </a:ln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Radius to Rest</a:t>
            </a:r>
          </a:p>
        </p:txBody>
      </p:sp>
      <p:sp>
        <p:nvSpPr>
          <p:cNvPr id="31" name="VArr_SMF1"/>
          <p:cNvSpPr/>
          <p:nvPr/>
        </p:nvSpPr>
        <p:spPr>
          <a:xfrm>
            <a:off x="975000" y="3752644"/>
            <a:ext cx="0" cy="25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32" name="VArr_SMF2"/>
          <p:cNvSpPr/>
          <p:nvPr/>
        </p:nvSpPr>
        <p:spPr>
          <a:xfrm>
            <a:off x="2825000" y="3752644"/>
            <a:ext cx="0" cy="25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VArr_SMF3"/>
          <p:cNvSpPr/>
          <p:nvPr/>
        </p:nvSpPr>
        <p:spPr>
          <a:xfrm>
            <a:off x="4625000" y="3752644"/>
            <a:ext cx="0" cy="25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34" name="VArr_SMF4"/>
          <p:cNvSpPr/>
          <p:nvPr/>
        </p:nvSpPr>
        <p:spPr>
          <a:xfrm>
            <a:off x="6375000" y="3752644"/>
            <a:ext cx="0" cy="25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35" name="SMF01"/>
          <p:cNvSpPr/>
          <p:nvPr/>
        </p:nvSpPr>
        <p:spPr>
          <a:xfrm>
            <a:off x="22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6" name="SMF02"/>
          <p:cNvSpPr/>
          <p:nvPr/>
        </p:nvSpPr>
        <p:spPr>
          <a:xfrm>
            <a:off x="61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7" name="SMF03"/>
          <p:cNvSpPr/>
          <p:nvPr/>
        </p:nvSpPr>
        <p:spPr>
          <a:xfrm>
            <a:off x="100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38" name="SMF04"/>
          <p:cNvSpPr/>
          <p:nvPr/>
        </p:nvSpPr>
        <p:spPr>
          <a:xfrm>
            <a:off x="139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39" name="SMF05"/>
          <p:cNvSpPr/>
          <p:nvPr/>
        </p:nvSpPr>
        <p:spPr>
          <a:xfrm>
            <a:off x="207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0" name="SMF06"/>
          <p:cNvSpPr/>
          <p:nvPr/>
        </p:nvSpPr>
        <p:spPr>
          <a:xfrm>
            <a:off x="246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1" name="SMF07"/>
          <p:cNvSpPr/>
          <p:nvPr/>
        </p:nvSpPr>
        <p:spPr>
          <a:xfrm>
            <a:off x="285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2" name="SMF08"/>
          <p:cNvSpPr/>
          <p:nvPr/>
        </p:nvSpPr>
        <p:spPr>
          <a:xfrm>
            <a:off x="324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3" name="SMF09"/>
          <p:cNvSpPr/>
          <p:nvPr/>
        </p:nvSpPr>
        <p:spPr>
          <a:xfrm>
            <a:off x="387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4" name="SMF10"/>
          <p:cNvSpPr/>
          <p:nvPr/>
        </p:nvSpPr>
        <p:spPr>
          <a:xfrm>
            <a:off x="426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5" name="SMF11"/>
          <p:cNvSpPr/>
          <p:nvPr/>
        </p:nvSpPr>
        <p:spPr>
          <a:xfrm>
            <a:off x="465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6" name="SMF12"/>
          <p:cNvSpPr/>
          <p:nvPr/>
        </p:nvSpPr>
        <p:spPr>
          <a:xfrm>
            <a:off x="504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7" name="SMF13"/>
          <p:cNvSpPr/>
          <p:nvPr/>
        </p:nvSpPr>
        <p:spPr>
          <a:xfrm>
            <a:off x="570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8" name="SMF14"/>
          <p:cNvSpPr/>
          <p:nvPr/>
        </p:nvSpPr>
        <p:spPr>
          <a:xfrm>
            <a:off x="609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9" name="SMF15"/>
          <p:cNvSpPr/>
          <p:nvPr/>
        </p:nvSpPr>
        <p:spPr>
          <a:xfrm>
            <a:off x="648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50" name="QAAutomation"/>
          <p:cNvSpPr/>
          <p:nvPr/>
        </p:nvSpPr>
        <p:spPr>
          <a:xfrm>
            <a:off x="6794000" y="4583500"/>
            <a:ext cx="998872" cy="380000"/>
          </a:xfrm>
          <a:prstGeom prst="rect">
            <a:avLst/>
          </a:prstGeom>
          <a:solidFill>
            <a:srgbClr val="00B050"/>
          </a:solidFill>
          <a:ln w="19050">
            <a:solidFill>
              <a:srgbClr val="FFFFFF"/>
            </a:solidFill>
            <a:prstDash val="solid"/>
          </a:ln>
        </p:spPr>
        <p:txBody>
          <a:bodyPr wrap="square" lIns="45720" tIns="0" rIns="4572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QA Automation</a:t>
            </a:r>
          </a:p>
        </p:txBody>
      </p:sp>
      <p:sp>
        <p:nvSpPr>
          <p:cNvPr id="51" name="LookupMain">
            <a:extLst>
              <a:ext uri="{FF2B5EF4-FFF2-40B4-BE49-F238E27FC236}">
                <a16:creationId xmlns:a16="http://schemas.microsoft.com/office/drawing/2014/main" id="{D0AC557F-9803-EEC1-8633-2F6193EBD442}"/>
              </a:ext>
            </a:extLst>
          </p:cNvPr>
          <p:cNvSpPr/>
          <p:nvPr/>
        </p:nvSpPr>
        <p:spPr>
          <a:xfrm>
            <a:off x="660000" y="2401322"/>
            <a:ext cx="3200000" cy="510000"/>
          </a:xfrm>
          <a:prstGeom prst="ellipse">
            <a:avLst/>
          </a:prstGeom>
          <a:solidFill>
            <a:srgbClr val="FFC000"/>
          </a:solidFill>
          <a:ln w="25400">
            <a:solidFill>
              <a:srgbClr val="CADCFC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Lookup Service (SOF)</a:t>
            </a:r>
          </a:p>
        </p:txBody>
      </p:sp>
      <p:sp>
        <p:nvSpPr>
          <p:cNvPr id="52" name="VArr_R2R2">
            <a:extLst>
              <a:ext uri="{FF2B5EF4-FFF2-40B4-BE49-F238E27FC236}">
                <a16:creationId xmlns:a16="http://schemas.microsoft.com/office/drawing/2014/main" id="{1D63D2E2-DB0C-482C-98E8-AF01DBEDF52D}"/>
              </a:ext>
            </a:extLst>
          </p:cNvPr>
          <p:cNvSpPr/>
          <p:nvPr/>
        </p:nvSpPr>
        <p:spPr>
          <a:xfrm flipH="1">
            <a:off x="4684998" y="2892644"/>
            <a:ext cx="156987" cy="43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53" name="VArr_R2R2">
            <a:extLst>
              <a:ext uri="{FF2B5EF4-FFF2-40B4-BE49-F238E27FC236}">
                <a16:creationId xmlns:a16="http://schemas.microsoft.com/office/drawing/2014/main" id="{6670ABF9-823B-92FA-FBDC-EC0783D57E2B}"/>
              </a:ext>
            </a:extLst>
          </p:cNvPr>
          <p:cNvSpPr/>
          <p:nvPr/>
        </p:nvSpPr>
        <p:spPr>
          <a:xfrm>
            <a:off x="6223379" y="2892644"/>
            <a:ext cx="51620" cy="43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54" name="VArr_DB1">
            <a:extLst>
              <a:ext uri="{FF2B5EF4-FFF2-40B4-BE49-F238E27FC236}">
                <a16:creationId xmlns:a16="http://schemas.microsoft.com/office/drawing/2014/main" id="{D6C4533A-D9AA-0FDF-52DF-DCEA9615402C}"/>
              </a:ext>
            </a:extLst>
          </p:cNvPr>
          <p:cNvSpPr/>
          <p:nvPr/>
        </p:nvSpPr>
        <p:spPr>
          <a:xfrm>
            <a:off x="3999998" y="1250000"/>
            <a:ext cx="516989" cy="1206597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55" name="VArr_SMF4">
            <a:extLst>
              <a:ext uri="{FF2B5EF4-FFF2-40B4-BE49-F238E27FC236}">
                <a16:creationId xmlns:a16="http://schemas.microsoft.com/office/drawing/2014/main" id="{C3ABD02D-6032-19E1-53BB-AE91E0598BEA}"/>
              </a:ext>
            </a:extLst>
          </p:cNvPr>
          <p:cNvSpPr/>
          <p:nvPr/>
        </p:nvSpPr>
        <p:spPr>
          <a:xfrm>
            <a:off x="6860000" y="3752643"/>
            <a:ext cx="340000" cy="830857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 dirty="0"/>
          </a:p>
        </p:txBody>
      </p:sp>
      <p:sp>
        <p:nvSpPr>
          <p:cNvPr id="56" name="QAAutomation">
            <a:extLst>
              <a:ext uri="{FF2B5EF4-FFF2-40B4-BE49-F238E27FC236}">
                <a16:creationId xmlns:a16="http://schemas.microsoft.com/office/drawing/2014/main" id="{BD2C4931-5342-4594-78EB-06C478C15BE2}"/>
              </a:ext>
            </a:extLst>
          </p:cNvPr>
          <p:cNvSpPr/>
          <p:nvPr/>
        </p:nvSpPr>
        <p:spPr>
          <a:xfrm>
            <a:off x="7922705" y="4583500"/>
            <a:ext cx="998872" cy="380000"/>
          </a:xfrm>
          <a:prstGeom prst="rect">
            <a:avLst/>
          </a:prstGeom>
          <a:solidFill>
            <a:srgbClr val="00B050"/>
          </a:solidFill>
          <a:ln w="19050">
            <a:solidFill>
              <a:srgbClr val="FFFFFF"/>
            </a:solidFill>
            <a:prstDash val="solid"/>
          </a:ln>
        </p:spPr>
        <p:txBody>
          <a:bodyPr wrap="square" lIns="45720" tIns="0" rIns="4572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QA Load test</a:t>
            </a:r>
          </a:p>
        </p:txBody>
      </p:sp>
      <p:sp>
        <p:nvSpPr>
          <p:cNvPr id="57" name="VArr_SMF4">
            <a:extLst>
              <a:ext uri="{FF2B5EF4-FFF2-40B4-BE49-F238E27FC236}">
                <a16:creationId xmlns:a16="http://schemas.microsoft.com/office/drawing/2014/main" id="{D6A318F1-B0D0-CE54-87A0-7A04D791723F}"/>
              </a:ext>
            </a:extLst>
          </p:cNvPr>
          <p:cNvSpPr/>
          <p:nvPr/>
        </p:nvSpPr>
        <p:spPr>
          <a:xfrm>
            <a:off x="7074000" y="3712192"/>
            <a:ext cx="1066000" cy="871308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 dirty="0"/>
          </a:p>
        </p:txBody>
      </p:sp>
      <p:sp>
        <p:nvSpPr>
          <p:cNvPr id="58" name="VArr_SMF1">
            <a:extLst>
              <a:ext uri="{FF2B5EF4-FFF2-40B4-BE49-F238E27FC236}">
                <a16:creationId xmlns:a16="http://schemas.microsoft.com/office/drawing/2014/main" id="{77656D84-4140-D40C-8D87-529B11A0DC7A}"/>
              </a:ext>
            </a:extLst>
          </p:cNvPr>
          <p:cNvSpPr/>
          <p:nvPr/>
        </p:nvSpPr>
        <p:spPr>
          <a:xfrm flipH="1">
            <a:off x="365760" y="3782644"/>
            <a:ext cx="269239" cy="27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59" name="VArr_SMF1">
            <a:extLst>
              <a:ext uri="{FF2B5EF4-FFF2-40B4-BE49-F238E27FC236}">
                <a16:creationId xmlns:a16="http://schemas.microsoft.com/office/drawing/2014/main" id="{52749F85-1002-BC46-280B-906C7A6055D1}"/>
              </a:ext>
            </a:extLst>
          </p:cNvPr>
          <p:cNvSpPr/>
          <p:nvPr/>
        </p:nvSpPr>
        <p:spPr>
          <a:xfrm flipH="1">
            <a:off x="1173998" y="3813966"/>
            <a:ext cx="70997" cy="248678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60" name="VArr_R2R1">
            <a:extLst>
              <a:ext uri="{FF2B5EF4-FFF2-40B4-BE49-F238E27FC236}">
                <a16:creationId xmlns:a16="http://schemas.microsoft.com/office/drawing/2014/main" id="{DC38368C-2512-12E1-EF71-FAD2AB6C5DE1}"/>
              </a:ext>
            </a:extLst>
          </p:cNvPr>
          <p:cNvSpPr/>
          <p:nvPr/>
        </p:nvSpPr>
        <p:spPr>
          <a:xfrm flipH="1">
            <a:off x="1499998" y="2812644"/>
            <a:ext cx="2827398" cy="548678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61" name="VArr_R2R2">
            <a:extLst>
              <a:ext uri="{FF2B5EF4-FFF2-40B4-BE49-F238E27FC236}">
                <a16:creationId xmlns:a16="http://schemas.microsoft.com/office/drawing/2014/main" id="{1235CF28-E9C5-1D68-B8F8-794CEEA59004}"/>
              </a:ext>
            </a:extLst>
          </p:cNvPr>
          <p:cNvSpPr/>
          <p:nvPr/>
        </p:nvSpPr>
        <p:spPr>
          <a:xfrm>
            <a:off x="3423379" y="2862644"/>
            <a:ext cx="794224" cy="46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62" name="VArr_SMF4">
            <a:extLst>
              <a:ext uri="{FF2B5EF4-FFF2-40B4-BE49-F238E27FC236}">
                <a16:creationId xmlns:a16="http://schemas.microsoft.com/office/drawing/2014/main" id="{C3385D6B-CB56-B14B-1780-C8C86A4C223C}"/>
              </a:ext>
            </a:extLst>
          </p:cNvPr>
          <p:cNvSpPr/>
          <p:nvPr/>
        </p:nvSpPr>
        <p:spPr>
          <a:xfrm flipH="1">
            <a:off x="7489999" y="1942531"/>
            <a:ext cx="43012" cy="2640969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 dirty="0"/>
          </a:p>
        </p:txBody>
      </p:sp>
      <p:sp>
        <p:nvSpPr>
          <p:cNvPr id="64" name="UIMain">
            <a:extLst>
              <a:ext uri="{FF2B5EF4-FFF2-40B4-BE49-F238E27FC236}">
                <a16:creationId xmlns:a16="http://schemas.microsoft.com/office/drawing/2014/main" id="{DB87E8AB-0DCA-08BB-075C-FD1214FC0972}"/>
              </a:ext>
            </a:extLst>
          </p:cNvPr>
          <p:cNvSpPr/>
          <p:nvPr/>
        </p:nvSpPr>
        <p:spPr>
          <a:xfrm>
            <a:off x="8179999" y="1896096"/>
            <a:ext cx="850000" cy="390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rgbClr val="CADCFC"/>
            </a:solidFill>
            <a:prstDash val="solid"/>
          </a:ln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UI</a:t>
            </a:r>
          </a:p>
        </p:txBody>
      </p:sp>
      <p:sp>
        <p:nvSpPr>
          <p:cNvPr id="65" name="VArr_SMF4">
            <a:extLst>
              <a:ext uri="{FF2B5EF4-FFF2-40B4-BE49-F238E27FC236}">
                <a16:creationId xmlns:a16="http://schemas.microsoft.com/office/drawing/2014/main" id="{CCA8D513-69F1-3C16-9764-0A9CC09D827C}"/>
              </a:ext>
            </a:extLst>
          </p:cNvPr>
          <p:cNvSpPr/>
          <p:nvPr/>
        </p:nvSpPr>
        <p:spPr>
          <a:xfrm>
            <a:off x="7744998" y="1896096"/>
            <a:ext cx="680002" cy="2687401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ntainer Resour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2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3FB"/>
          </a:solidFill>
          <a:ln>
            <a:noFill/>
          </a:ln>
        </p:spPr>
        <p:txBody>
          <a:bodyPr lIns="91440" tIns="45720" rIns="91440" bIns="45720" anchor="ctr"/>
          <a:lstStyle/>
          <a:p>
            <a:pPr algn="ctr"/>
            <a:endParaRPr/>
          </a:p>
        </p:txBody>
      </p:sp>
      <p:sp>
        <p:nvSpPr>
          <p:cNvPr id="3" name="sp3"/>
          <p:cNvSpPr>
            <a:spLocks noGrp="1"/>
          </p:cNvSpPr>
          <p:nvPr/>
        </p:nvSpPr>
        <p:spPr>
          <a:xfrm>
            <a:off x="0" y="0"/>
            <a:ext cx="9144000" cy="49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lIns="228600" tIns="45720" rIns="228600" bIns="45720" anchor="ctr"/>
          <a:lstStyle/>
          <a:p>
            <a:pPr algn="l"/>
            <a:r>
              <a:rPr lang="en-US" sz="1900" b="1" dirty="0">
                <a:solidFill>
                  <a:srgbClr val="FFFFFF"/>
                </a:solidFill>
                <a:latin typeface="Calibri"/>
              </a:rPr>
              <a:t>Container Resource Requirements — CPU, RAM, Storage, Replicas &amp; Throughput</a:t>
            </a:r>
          </a:p>
        </p:txBody>
      </p:sp>
      <p:sp>
        <p:nvSpPr>
          <p:cNvPr id="4" name="sp4"/>
          <p:cNvSpPr>
            <a:spLocks noGrp="1"/>
          </p:cNvSpPr>
          <p:nvPr/>
        </p:nvSpPr>
        <p:spPr>
          <a:xfrm>
            <a:off x="150000" y="510000"/>
            <a:ext cx="6050000" cy="210000"/>
          </a:xfrm>
          <a:prstGeom prst="rect">
            <a:avLst/>
          </a:prstGeom>
          <a:solidFill>
            <a:srgbClr val="EEF3FB"/>
          </a:solidFill>
          <a:ln>
            <a:noFill/>
          </a:ln>
        </p:spPr>
        <p:txBody>
          <a:bodyPr lIns="91440" tIns="45720" rIns="91440" bIns="45720" anchor="ctr"/>
          <a:lstStyle/>
          <a:p>
            <a:pPr algn="l"/>
            <a:r>
              <a:rPr lang="en-US" sz="800" b="0" i="1" dirty="0">
                <a:solidFill>
                  <a:srgbClr val="2E75B6"/>
                </a:solidFill>
                <a:latin typeface="Calibri"/>
              </a:rPr>
              <a:t>Sized for 2,000 Access-Requests/sec  |  99.9% fast path (subscriber profile exists in DB)  |  0.1% first-connection</a:t>
            </a:r>
          </a:p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6300000" y="510000"/>
            <a:ext cx="2694000" cy="21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lIns="91440" tIns="45720" rIns="91440" bIns="45720" anchor="ctr"/>
          <a:lstStyle/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Fast path: 1,998 rps  |  Slow path: 2 rps</a:t>
            </a:r>
          </a:p>
        </p:txBody>
      </p:sp>
      <p:sp>
        <p:nvSpPr>
          <p:cNvPr id="6" name="sp6"/>
          <p:cNvSpPr>
            <a:spLocks noGrp="1"/>
          </p:cNvSpPr>
          <p:nvPr/>
        </p:nvSpPr>
        <p:spPr>
          <a:xfrm>
            <a:off x="150000" y="760000"/>
            <a:ext cx="1800000" cy="400000"/>
          </a:xfrm>
          <a:prstGeom prst="rect">
            <a:avLst/>
          </a:prstGeom>
          <a:solidFill>
            <a:srgbClr val="1E2761"/>
          </a:solidFill>
          <a:ln>
            <a:solidFill>
              <a:srgbClr val="9EB3D8"/>
            </a:solidFill>
          </a:ln>
        </p:spPr>
        <p:txBody>
          <a:bodyPr lIns="45720" tIns="30480" rIns="45720" bIns="30480" anchor="ctr"/>
          <a:lstStyle/>
          <a:p>
            <a:pPr algn="l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Container</a:t>
            </a:r>
          </a:p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1950000" y="760000"/>
            <a:ext cx="1006285" cy="400000"/>
          </a:xfrm>
          <a:prstGeom prst="rect">
            <a:avLst/>
          </a:prstGeom>
          <a:solidFill>
            <a:srgbClr val="1E2761"/>
          </a:solidFill>
          <a:ln>
            <a:solidFill>
              <a:srgbClr val="9EB3D8"/>
            </a:solidFill>
          </a:ln>
        </p:spPr>
        <p:txBody>
          <a:bodyPr lIns="45720" tIns="30480" rIns="45720" bIns="30480" anchor="ctr"/>
          <a:lstStyle/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CPU</a:t>
            </a:r>
          </a:p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Request</a:t>
            </a:r>
          </a:p>
        </p:txBody>
      </p:sp>
      <p:sp>
        <p:nvSpPr>
          <p:cNvPr id="8" name="sp8"/>
          <p:cNvSpPr>
            <a:spLocks noGrp="1"/>
          </p:cNvSpPr>
          <p:nvPr/>
        </p:nvSpPr>
        <p:spPr>
          <a:xfrm>
            <a:off x="2956285" y="760000"/>
            <a:ext cx="1006285" cy="400000"/>
          </a:xfrm>
          <a:prstGeom prst="rect">
            <a:avLst/>
          </a:prstGeom>
          <a:solidFill>
            <a:srgbClr val="1E2761"/>
          </a:solidFill>
          <a:ln>
            <a:solidFill>
              <a:srgbClr val="9EB3D8"/>
            </a:solidFill>
          </a:ln>
        </p:spPr>
        <p:txBody>
          <a:bodyPr lIns="45720" tIns="30480" rIns="45720" bIns="30480" anchor="ctr"/>
          <a:lstStyle/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CPU</a:t>
            </a:r>
          </a:p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Limit</a:t>
            </a:r>
          </a:p>
        </p:txBody>
      </p:sp>
      <p:sp>
        <p:nvSpPr>
          <p:cNvPr id="9" name="sp9"/>
          <p:cNvSpPr>
            <a:spLocks noGrp="1"/>
          </p:cNvSpPr>
          <p:nvPr/>
        </p:nvSpPr>
        <p:spPr>
          <a:xfrm>
            <a:off x="3962570" y="760000"/>
            <a:ext cx="1006285" cy="400000"/>
          </a:xfrm>
          <a:prstGeom prst="rect">
            <a:avLst/>
          </a:prstGeom>
          <a:solidFill>
            <a:srgbClr val="1E2761"/>
          </a:solidFill>
          <a:ln>
            <a:solidFill>
              <a:srgbClr val="9EB3D8"/>
            </a:solidFill>
          </a:ln>
        </p:spPr>
        <p:txBody>
          <a:bodyPr lIns="45720" tIns="30480" rIns="45720" bIns="30480" anchor="ctr"/>
          <a:lstStyle/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RAM</a:t>
            </a:r>
          </a:p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Request</a:t>
            </a:r>
          </a:p>
        </p:txBody>
      </p:sp>
      <p:sp>
        <p:nvSpPr>
          <p:cNvPr id="10" name="sp10"/>
          <p:cNvSpPr>
            <a:spLocks noGrp="1"/>
          </p:cNvSpPr>
          <p:nvPr/>
        </p:nvSpPr>
        <p:spPr>
          <a:xfrm>
            <a:off x="4968855" y="760000"/>
            <a:ext cx="1006285" cy="400000"/>
          </a:xfrm>
          <a:prstGeom prst="rect">
            <a:avLst/>
          </a:prstGeom>
          <a:solidFill>
            <a:srgbClr val="1E2761"/>
          </a:solidFill>
          <a:ln>
            <a:solidFill>
              <a:srgbClr val="9EB3D8"/>
            </a:solidFill>
          </a:ln>
        </p:spPr>
        <p:txBody>
          <a:bodyPr lIns="45720" tIns="30480" rIns="45720" bIns="30480" anchor="ctr"/>
          <a:lstStyle/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RAM</a:t>
            </a:r>
          </a:p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Limit</a:t>
            </a:r>
          </a:p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5975140" y="760000"/>
            <a:ext cx="1006285" cy="400000"/>
          </a:xfrm>
          <a:prstGeom prst="rect">
            <a:avLst/>
          </a:prstGeom>
          <a:solidFill>
            <a:srgbClr val="1E2761"/>
          </a:solidFill>
          <a:ln>
            <a:solidFill>
              <a:srgbClr val="9EB3D8"/>
            </a:solidFill>
          </a:ln>
        </p:spPr>
        <p:txBody>
          <a:bodyPr lIns="45720" tIns="30480" rIns="45720" bIns="30480" anchor="ctr"/>
          <a:lstStyle/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Storage</a:t>
            </a:r>
          </a:p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(PVC)</a:t>
            </a:r>
          </a:p>
        </p:txBody>
      </p:sp>
      <p:sp>
        <p:nvSpPr>
          <p:cNvPr id="12" name="sp12"/>
          <p:cNvSpPr>
            <a:spLocks noGrp="1"/>
          </p:cNvSpPr>
          <p:nvPr/>
        </p:nvSpPr>
        <p:spPr>
          <a:xfrm>
            <a:off x="6981425" y="760000"/>
            <a:ext cx="1006285" cy="400000"/>
          </a:xfrm>
          <a:prstGeom prst="rect">
            <a:avLst/>
          </a:prstGeom>
          <a:solidFill>
            <a:srgbClr val="C45000"/>
          </a:solidFill>
          <a:ln>
            <a:solidFill>
              <a:srgbClr val="9EB3D8"/>
            </a:solidFill>
          </a:ln>
        </p:spPr>
        <p:txBody>
          <a:bodyPr lIns="45720" tIns="30480" rIns="45720" bIns="30480" anchor="ctr"/>
          <a:lstStyle/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Replicas</a:t>
            </a:r>
          </a:p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@ 2k rps</a:t>
            </a:r>
          </a:p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7987710" y="760000"/>
            <a:ext cx="1006290" cy="400000"/>
          </a:xfrm>
          <a:prstGeom prst="rect">
            <a:avLst/>
          </a:prstGeom>
          <a:solidFill>
            <a:srgbClr val="025F6B"/>
          </a:solidFill>
          <a:ln>
            <a:solidFill>
              <a:srgbClr val="9EB3D8"/>
            </a:solidFill>
          </a:ln>
        </p:spPr>
        <p:txBody>
          <a:bodyPr lIns="45720" tIns="30480" rIns="45720" bIns="30480" anchor="ctr"/>
          <a:lstStyle/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Max RPS</a:t>
            </a:r>
          </a:p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per Pod</a:t>
            </a:r>
          </a:p>
        </p:txBody>
      </p:sp>
      <p:sp>
        <p:nvSpPr>
          <p:cNvPr id="14" name="sp14"/>
          <p:cNvSpPr>
            <a:spLocks noGrp="1"/>
          </p:cNvSpPr>
          <p:nvPr/>
        </p:nvSpPr>
        <p:spPr>
          <a:xfrm>
            <a:off x="150000" y="1160000"/>
            <a:ext cx="1800000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l"/>
            <a:r>
              <a:rPr lang="en-US" sz="820" b="1" i="0" dirty="0">
                <a:solidFill>
                  <a:srgbClr val="1E2761"/>
                </a:solidFill>
                <a:latin typeface="Calibri"/>
              </a:rPr>
              <a:t>aaa-lookup-service</a:t>
            </a:r>
          </a:p>
        </p:txBody>
      </p:sp>
      <p:sp>
        <p:nvSpPr>
          <p:cNvPr id="15" name="sp15"/>
          <p:cNvSpPr>
            <a:spLocks noGrp="1"/>
          </p:cNvSpPr>
          <p:nvPr/>
        </p:nvSpPr>
        <p:spPr>
          <a:xfrm>
            <a:off x="1950000" y="1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500m</a:t>
            </a:r>
          </a:p>
        </p:txBody>
      </p:sp>
      <p:sp>
        <p:nvSpPr>
          <p:cNvPr id="16" name="sp16"/>
          <p:cNvSpPr>
            <a:spLocks noGrp="1"/>
          </p:cNvSpPr>
          <p:nvPr/>
        </p:nvSpPr>
        <p:spPr>
          <a:xfrm>
            <a:off x="2956285" y="1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dirty="0">
                <a:solidFill>
                  <a:srgbClr val="1E2761"/>
                </a:solidFill>
                <a:latin typeface="Calibri"/>
              </a:rPr>
              <a:t>1</a:t>
            </a:r>
            <a:r>
              <a:rPr lang="en-US" sz="820" b="0" i="0" dirty="0">
                <a:solidFill>
                  <a:srgbClr val="1E2761"/>
                </a:solidFill>
                <a:latin typeface="Calibri"/>
              </a:rPr>
              <a:t>,000m</a:t>
            </a:r>
          </a:p>
        </p:txBody>
      </p:sp>
      <p:sp>
        <p:nvSpPr>
          <p:cNvPr id="17" name="sp17"/>
          <p:cNvSpPr>
            <a:spLocks noGrp="1"/>
          </p:cNvSpPr>
          <p:nvPr/>
        </p:nvSpPr>
        <p:spPr>
          <a:xfrm>
            <a:off x="3962570" y="1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256 Mi</a:t>
            </a:r>
          </a:p>
        </p:txBody>
      </p:sp>
      <p:sp>
        <p:nvSpPr>
          <p:cNvPr id="18" name="sp18"/>
          <p:cNvSpPr>
            <a:spLocks noGrp="1"/>
          </p:cNvSpPr>
          <p:nvPr/>
        </p:nvSpPr>
        <p:spPr>
          <a:xfrm>
            <a:off x="4968855" y="1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512 Mi</a:t>
            </a:r>
          </a:p>
        </p:txBody>
      </p:sp>
      <p:sp>
        <p:nvSpPr>
          <p:cNvPr id="19" name="sp19"/>
          <p:cNvSpPr>
            <a:spLocks noGrp="1"/>
          </p:cNvSpPr>
          <p:nvPr/>
        </p:nvSpPr>
        <p:spPr>
          <a:xfrm>
            <a:off x="5975140" y="1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20" name="sp20"/>
          <p:cNvSpPr>
            <a:spLocks noGrp="1"/>
          </p:cNvSpPr>
          <p:nvPr/>
        </p:nvSpPr>
        <p:spPr>
          <a:xfrm>
            <a:off x="6981425" y="1160000"/>
            <a:ext cx="1006285" cy="375000"/>
          </a:xfrm>
          <a:prstGeom prst="rect">
            <a:avLst/>
          </a:prstGeom>
          <a:solidFill>
            <a:srgbClr val="D6EAD6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1" i="0" dirty="0">
                <a:solidFill>
                  <a:srgbClr val="1A5C1A"/>
                </a:solidFill>
                <a:latin typeface="Calibri"/>
              </a:rPr>
              <a:t>3</a:t>
            </a:r>
          </a:p>
        </p:txBody>
      </p:sp>
      <p:sp>
        <p:nvSpPr>
          <p:cNvPr id="21" name="sp21"/>
          <p:cNvSpPr>
            <a:spLocks noGrp="1"/>
          </p:cNvSpPr>
          <p:nvPr/>
        </p:nvSpPr>
        <p:spPr>
          <a:xfrm>
            <a:off x="7987710" y="1160000"/>
            <a:ext cx="1006290" cy="375000"/>
          </a:xfrm>
          <a:prstGeom prst="rect">
            <a:avLst/>
          </a:prstGeom>
          <a:solidFill>
            <a:srgbClr val="D0EEF2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1" i="0" dirty="0">
                <a:solidFill>
                  <a:srgbClr val="014F5A"/>
                </a:solidFill>
                <a:latin typeface="Calibri"/>
              </a:rPr>
              <a:t>~600 rps</a:t>
            </a:r>
          </a:p>
        </p:txBody>
      </p:sp>
      <p:sp>
        <p:nvSpPr>
          <p:cNvPr id="22" name="sp22"/>
          <p:cNvSpPr>
            <a:spLocks noGrp="1"/>
          </p:cNvSpPr>
          <p:nvPr/>
        </p:nvSpPr>
        <p:spPr>
          <a:xfrm>
            <a:off x="150000" y="1535000"/>
            <a:ext cx="1800000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l"/>
            <a:r>
              <a:rPr lang="en-US" sz="820" b="1" i="0" dirty="0">
                <a:solidFill>
                  <a:srgbClr val="1E2761"/>
                </a:solidFill>
                <a:latin typeface="Calibri"/>
              </a:rPr>
              <a:t>subscriber-profile-api</a:t>
            </a:r>
          </a:p>
        </p:txBody>
      </p:sp>
      <p:sp>
        <p:nvSpPr>
          <p:cNvPr id="23" name="sp23"/>
          <p:cNvSpPr>
            <a:spLocks noGrp="1"/>
          </p:cNvSpPr>
          <p:nvPr/>
        </p:nvSpPr>
        <p:spPr>
          <a:xfrm>
            <a:off x="1950000" y="15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250m</a:t>
            </a:r>
          </a:p>
        </p:txBody>
      </p:sp>
      <p:sp>
        <p:nvSpPr>
          <p:cNvPr id="24" name="sp24"/>
          <p:cNvSpPr>
            <a:spLocks noGrp="1"/>
          </p:cNvSpPr>
          <p:nvPr/>
        </p:nvSpPr>
        <p:spPr>
          <a:xfrm>
            <a:off x="2956285" y="15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1,000m</a:t>
            </a:r>
          </a:p>
        </p:txBody>
      </p:sp>
      <p:sp>
        <p:nvSpPr>
          <p:cNvPr id="25" name="sp25"/>
          <p:cNvSpPr>
            <a:spLocks noGrp="1"/>
          </p:cNvSpPr>
          <p:nvPr/>
        </p:nvSpPr>
        <p:spPr>
          <a:xfrm>
            <a:off x="3962570" y="15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256 Mi</a:t>
            </a:r>
          </a:p>
        </p:txBody>
      </p:sp>
      <p:sp>
        <p:nvSpPr>
          <p:cNvPr id="26" name="sp26"/>
          <p:cNvSpPr>
            <a:spLocks noGrp="1"/>
          </p:cNvSpPr>
          <p:nvPr/>
        </p:nvSpPr>
        <p:spPr>
          <a:xfrm>
            <a:off x="4968855" y="15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512 Mi</a:t>
            </a:r>
          </a:p>
        </p:txBody>
      </p:sp>
      <p:sp>
        <p:nvSpPr>
          <p:cNvPr id="27" name="sp27"/>
          <p:cNvSpPr>
            <a:spLocks noGrp="1"/>
          </p:cNvSpPr>
          <p:nvPr/>
        </p:nvSpPr>
        <p:spPr>
          <a:xfrm>
            <a:off x="5975140" y="15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28" name="sp28"/>
          <p:cNvSpPr>
            <a:spLocks noGrp="1"/>
          </p:cNvSpPr>
          <p:nvPr/>
        </p:nvSpPr>
        <p:spPr>
          <a:xfrm>
            <a:off x="6981425" y="1535000"/>
            <a:ext cx="1006285" cy="375000"/>
          </a:xfrm>
          <a:prstGeom prst="rect">
            <a:avLst/>
          </a:prstGeom>
          <a:solidFill>
            <a:srgbClr val="D6EAD6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1" i="0" dirty="0">
                <a:solidFill>
                  <a:srgbClr val="1A5C1A"/>
                </a:solidFill>
                <a:latin typeface="Calibri"/>
              </a:rPr>
              <a:t>2</a:t>
            </a:r>
          </a:p>
        </p:txBody>
      </p:sp>
      <p:sp>
        <p:nvSpPr>
          <p:cNvPr id="29" name="sp29"/>
          <p:cNvSpPr>
            <a:spLocks noGrp="1"/>
          </p:cNvSpPr>
          <p:nvPr/>
        </p:nvSpPr>
        <p:spPr>
          <a:xfrm>
            <a:off x="7987710" y="1535000"/>
            <a:ext cx="1006290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~50 rps</a:t>
            </a:r>
          </a:p>
        </p:txBody>
      </p:sp>
      <p:sp>
        <p:nvSpPr>
          <p:cNvPr id="30" name="sp30"/>
          <p:cNvSpPr>
            <a:spLocks noGrp="1"/>
          </p:cNvSpPr>
          <p:nvPr/>
        </p:nvSpPr>
        <p:spPr>
          <a:xfrm>
            <a:off x="150000" y="1910000"/>
            <a:ext cx="1800000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l"/>
            <a:r>
              <a:rPr lang="en-US" sz="820" b="1" i="0" dirty="0">
                <a:solidFill>
                  <a:srgbClr val="1E2761"/>
                </a:solidFill>
                <a:latin typeface="Calibri"/>
              </a:rPr>
              <a:t>Radius-to-Rest pod</a:t>
            </a:r>
          </a:p>
        </p:txBody>
      </p:sp>
      <p:sp>
        <p:nvSpPr>
          <p:cNvPr id="31" name="sp31"/>
          <p:cNvSpPr>
            <a:spLocks noGrp="1"/>
          </p:cNvSpPr>
          <p:nvPr/>
        </p:nvSpPr>
        <p:spPr>
          <a:xfrm>
            <a:off x="1950000" y="19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250m</a:t>
            </a:r>
          </a:p>
        </p:txBody>
      </p:sp>
      <p:sp>
        <p:nvSpPr>
          <p:cNvPr id="32" name="sp32"/>
          <p:cNvSpPr>
            <a:spLocks noGrp="1"/>
          </p:cNvSpPr>
          <p:nvPr/>
        </p:nvSpPr>
        <p:spPr>
          <a:xfrm>
            <a:off x="2956285" y="19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1,000m</a:t>
            </a:r>
          </a:p>
        </p:txBody>
      </p:sp>
      <p:sp>
        <p:nvSpPr>
          <p:cNvPr id="33" name="sp33"/>
          <p:cNvSpPr>
            <a:spLocks noGrp="1"/>
          </p:cNvSpPr>
          <p:nvPr/>
        </p:nvSpPr>
        <p:spPr>
          <a:xfrm>
            <a:off x="3962570" y="19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128 Mi</a:t>
            </a:r>
          </a:p>
        </p:txBody>
      </p:sp>
      <p:sp>
        <p:nvSpPr>
          <p:cNvPr id="34" name="sp34"/>
          <p:cNvSpPr>
            <a:spLocks noGrp="1"/>
          </p:cNvSpPr>
          <p:nvPr/>
        </p:nvSpPr>
        <p:spPr>
          <a:xfrm>
            <a:off x="4968855" y="19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256 Mi</a:t>
            </a:r>
          </a:p>
        </p:txBody>
      </p:sp>
      <p:sp>
        <p:nvSpPr>
          <p:cNvPr id="35" name="sp35"/>
          <p:cNvSpPr>
            <a:spLocks noGrp="1"/>
          </p:cNvSpPr>
          <p:nvPr/>
        </p:nvSpPr>
        <p:spPr>
          <a:xfrm>
            <a:off x="5975140" y="19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36" name="sp36"/>
          <p:cNvSpPr>
            <a:spLocks noGrp="1"/>
          </p:cNvSpPr>
          <p:nvPr/>
        </p:nvSpPr>
        <p:spPr>
          <a:xfrm>
            <a:off x="6981425" y="1910000"/>
            <a:ext cx="1006285" cy="375000"/>
          </a:xfrm>
          <a:prstGeom prst="rect">
            <a:avLst/>
          </a:prstGeom>
          <a:solidFill>
            <a:srgbClr val="D6EAD6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1" i="0" dirty="0">
                <a:solidFill>
                  <a:srgbClr val="1A5C1A"/>
                </a:solidFill>
                <a:latin typeface="Calibri"/>
              </a:rPr>
              <a:t>4</a:t>
            </a:r>
          </a:p>
        </p:txBody>
      </p:sp>
      <p:sp>
        <p:nvSpPr>
          <p:cNvPr id="37" name="sp37"/>
          <p:cNvSpPr>
            <a:spLocks noGrp="1"/>
          </p:cNvSpPr>
          <p:nvPr/>
        </p:nvSpPr>
        <p:spPr>
          <a:xfrm>
            <a:off x="7987710" y="1910000"/>
            <a:ext cx="1006290" cy="375000"/>
          </a:xfrm>
          <a:prstGeom prst="rect">
            <a:avLst/>
          </a:prstGeom>
          <a:solidFill>
            <a:srgbClr val="D0EEF2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1" i="0" dirty="0">
                <a:solidFill>
                  <a:srgbClr val="014F5A"/>
                </a:solidFill>
                <a:latin typeface="Calibri"/>
              </a:rPr>
              <a:t>~500 rps</a:t>
            </a:r>
          </a:p>
        </p:txBody>
      </p:sp>
      <p:sp>
        <p:nvSpPr>
          <p:cNvPr id="38" name="sp38"/>
          <p:cNvSpPr>
            <a:spLocks noGrp="1"/>
          </p:cNvSpPr>
          <p:nvPr/>
        </p:nvSpPr>
        <p:spPr>
          <a:xfrm>
            <a:off x="150000" y="2285000"/>
            <a:ext cx="1800000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l"/>
            <a:r>
              <a:rPr lang="en-US" sz="820" b="1" i="0" dirty="0">
                <a:solidFill>
                  <a:srgbClr val="1E2761"/>
                </a:solidFill>
                <a:latin typeface="Calibri"/>
              </a:rPr>
              <a:t>PostgreSQL (primary)</a:t>
            </a:r>
          </a:p>
        </p:txBody>
      </p:sp>
      <p:sp>
        <p:nvSpPr>
          <p:cNvPr id="39" name="sp39"/>
          <p:cNvSpPr>
            <a:spLocks noGrp="1"/>
          </p:cNvSpPr>
          <p:nvPr/>
        </p:nvSpPr>
        <p:spPr>
          <a:xfrm>
            <a:off x="1950000" y="22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500m</a:t>
            </a:r>
          </a:p>
        </p:txBody>
      </p:sp>
      <p:sp>
        <p:nvSpPr>
          <p:cNvPr id="40" name="sp40"/>
          <p:cNvSpPr>
            <a:spLocks noGrp="1"/>
          </p:cNvSpPr>
          <p:nvPr/>
        </p:nvSpPr>
        <p:spPr>
          <a:xfrm>
            <a:off x="2956285" y="22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2,000m</a:t>
            </a:r>
          </a:p>
        </p:txBody>
      </p:sp>
      <p:sp>
        <p:nvSpPr>
          <p:cNvPr id="41" name="sp41"/>
          <p:cNvSpPr>
            <a:spLocks noGrp="1"/>
          </p:cNvSpPr>
          <p:nvPr/>
        </p:nvSpPr>
        <p:spPr>
          <a:xfrm>
            <a:off x="3962570" y="22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512 Mi</a:t>
            </a:r>
          </a:p>
        </p:txBody>
      </p:sp>
      <p:sp>
        <p:nvSpPr>
          <p:cNvPr id="42" name="sp42"/>
          <p:cNvSpPr>
            <a:spLocks noGrp="1"/>
          </p:cNvSpPr>
          <p:nvPr/>
        </p:nvSpPr>
        <p:spPr>
          <a:xfrm>
            <a:off x="4968855" y="22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2,048 Mi</a:t>
            </a:r>
          </a:p>
        </p:txBody>
      </p:sp>
      <p:sp>
        <p:nvSpPr>
          <p:cNvPr id="43" name="sp43"/>
          <p:cNvSpPr>
            <a:spLocks noGrp="1"/>
          </p:cNvSpPr>
          <p:nvPr/>
        </p:nvSpPr>
        <p:spPr>
          <a:xfrm>
            <a:off x="5975140" y="2285000"/>
            <a:ext cx="1006285" cy="375000"/>
          </a:xfrm>
          <a:prstGeom prst="rect">
            <a:avLst/>
          </a:prstGeom>
          <a:solidFill>
            <a:srgbClr val="FFF3CD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1" i="0" dirty="0">
                <a:solidFill>
                  <a:srgbClr val="7B4F00"/>
                </a:solidFill>
                <a:latin typeface="Calibri"/>
              </a:rPr>
              <a:t>20 Gi</a:t>
            </a:r>
          </a:p>
        </p:txBody>
      </p:sp>
      <p:sp>
        <p:nvSpPr>
          <p:cNvPr id="44" name="sp44"/>
          <p:cNvSpPr>
            <a:spLocks noGrp="1"/>
          </p:cNvSpPr>
          <p:nvPr/>
        </p:nvSpPr>
        <p:spPr>
          <a:xfrm>
            <a:off x="6981425" y="2285000"/>
            <a:ext cx="1006285" cy="375000"/>
          </a:xfrm>
          <a:prstGeom prst="rect">
            <a:avLst/>
          </a:prstGeom>
          <a:solidFill>
            <a:srgbClr val="D6EAD6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1" i="0" dirty="0">
                <a:solidFill>
                  <a:srgbClr val="1A5C1A"/>
                </a:solidFill>
                <a:latin typeface="Calibri"/>
              </a:rPr>
              <a:t>1</a:t>
            </a:r>
          </a:p>
        </p:txBody>
      </p:sp>
      <p:sp>
        <p:nvSpPr>
          <p:cNvPr id="45" name="sp45"/>
          <p:cNvSpPr>
            <a:spLocks noGrp="1"/>
          </p:cNvSpPr>
          <p:nvPr/>
        </p:nvSpPr>
        <p:spPr>
          <a:xfrm>
            <a:off x="7987710" y="2285000"/>
            <a:ext cx="1006290" cy="375000"/>
          </a:xfrm>
          <a:prstGeom prst="rect">
            <a:avLst/>
          </a:prstGeom>
          <a:solidFill>
            <a:srgbClr val="D0EEF2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1" i="0" dirty="0">
                <a:solidFill>
                  <a:srgbClr val="014F5A"/>
                </a:solidFill>
                <a:latin typeface="Calibri"/>
              </a:rPr>
              <a:t>~2,000 qps</a:t>
            </a:r>
          </a:p>
        </p:txBody>
      </p:sp>
      <p:sp>
        <p:nvSpPr>
          <p:cNvPr id="46" name="sp46"/>
          <p:cNvSpPr>
            <a:spLocks noGrp="1"/>
          </p:cNvSpPr>
          <p:nvPr/>
        </p:nvSpPr>
        <p:spPr>
          <a:xfrm>
            <a:off x="150000" y="2660000"/>
            <a:ext cx="1800000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l"/>
            <a:r>
              <a:rPr lang="en-US" sz="820" b="1" i="0" dirty="0">
                <a:solidFill>
                  <a:srgbClr val="1E2761"/>
                </a:solidFill>
                <a:latin typeface="Calibri"/>
              </a:rPr>
              <a:t>PostgreSQL (replica)</a:t>
            </a:r>
          </a:p>
        </p:txBody>
      </p:sp>
      <p:sp>
        <p:nvSpPr>
          <p:cNvPr id="47" name="sp47"/>
          <p:cNvSpPr>
            <a:spLocks noGrp="1"/>
          </p:cNvSpPr>
          <p:nvPr/>
        </p:nvSpPr>
        <p:spPr>
          <a:xfrm>
            <a:off x="1950000" y="26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500m</a:t>
            </a:r>
          </a:p>
        </p:txBody>
      </p:sp>
      <p:sp>
        <p:nvSpPr>
          <p:cNvPr id="48" name="sp48"/>
          <p:cNvSpPr>
            <a:spLocks noGrp="1"/>
          </p:cNvSpPr>
          <p:nvPr/>
        </p:nvSpPr>
        <p:spPr>
          <a:xfrm>
            <a:off x="2956285" y="26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2,000m</a:t>
            </a:r>
          </a:p>
        </p:txBody>
      </p:sp>
      <p:sp>
        <p:nvSpPr>
          <p:cNvPr id="49" name="sp49"/>
          <p:cNvSpPr>
            <a:spLocks noGrp="1"/>
          </p:cNvSpPr>
          <p:nvPr/>
        </p:nvSpPr>
        <p:spPr>
          <a:xfrm>
            <a:off x="3962570" y="26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512 Mi</a:t>
            </a:r>
          </a:p>
        </p:txBody>
      </p:sp>
      <p:sp>
        <p:nvSpPr>
          <p:cNvPr id="50" name="sp50"/>
          <p:cNvSpPr>
            <a:spLocks noGrp="1"/>
          </p:cNvSpPr>
          <p:nvPr/>
        </p:nvSpPr>
        <p:spPr>
          <a:xfrm>
            <a:off x="4968855" y="26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2,048 Mi</a:t>
            </a:r>
          </a:p>
        </p:txBody>
      </p:sp>
      <p:sp>
        <p:nvSpPr>
          <p:cNvPr id="51" name="sp51"/>
          <p:cNvSpPr>
            <a:spLocks noGrp="1"/>
          </p:cNvSpPr>
          <p:nvPr/>
        </p:nvSpPr>
        <p:spPr>
          <a:xfrm>
            <a:off x="5975140" y="2660000"/>
            <a:ext cx="1006285" cy="375000"/>
          </a:xfrm>
          <a:prstGeom prst="rect">
            <a:avLst/>
          </a:prstGeom>
          <a:solidFill>
            <a:srgbClr val="FFF3CD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1" i="0" dirty="0">
                <a:solidFill>
                  <a:srgbClr val="7B4F00"/>
                </a:solidFill>
                <a:latin typeface="Calibri"/>
              </a:rPr>
              <a:t>20 Gi</a:t>
            </a:r>
          </a:p>
        </p:txBody>
      </p:sp>
      <p:sp>
        <p:nvSpPr>
          <p:cNvPr id="52" name="sp52"/>
          <p:cNvSpPr>
            <a:spLocks noGrp="1"/>
          </p:cNvSpPr>
          <p:nvPr/>
        </p:nvSpPr>
        <p:spPr>
          <a:xfrm>
            <a:off x="6981425" y="2660000"/>
            <a:ext cx="1006285" cy="375000"/>
          </a:xfrm>
          <a:prstGeom prst="rect">
            <a:avLst/>
          </a:prstGeom>
          <a:solidFill>
            <a:srgbClr val="D6EAD6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1" i="0" dirty="0">
                <a:solidFill>
                  <a:srgbClr val="1A5C1A"/>
                </a:solidFill>
                <a:latin typeface="Calibri"/>
              </a:rPr>
              <a:t>2</a:t>
            </a:r>
          </a:p>
        </p:txBody>
      </p:sp>
      <p:sp>
        <p:nvSpPr>
          <p:cNvPr id="53" name="sp53"/>
          <p:cNvSpPr>
            <a:spLocks noGrp="1"/>
          </p:cNvSpPr>
          <p:nvPr/>
        </p:nvSpPr>
        <p:spPr>
          <a:xfrm>
            <a:off x="7987710" y="2660000"/>
            <a:ext cx="1006290" cy="375000"/>
          </a:xfrm>
          <a:prstGeom prst="rect">
            <a:avLst/>
          </a:prstGeom>
          <a:solidFill>
            <a:srgbClr val="D6EAD6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1" i="0" dirty="0">
                <a:solidFill>
                  <a:srgbClr val="1A5C1A"/>
                </a:solidFill>
                <a:latin typeface="Calibri"/>
              </a:rPr>
              <a:t>~5,000 qps</a:t>
            </a:r>
          </a:p>
        </p:txBody>
      </p:sp>
      <p:sp>
        <p:nvSpPr>
          <p:cNvPr id="54" name="sp54"/>
          <p:cNvSpPr>
            <a:spLocks noGrp="1"/>
          </p:cNvSpPr>
          <p:nvPr/>
        </p:nvSpPr>
        <p:spPr>
          <a:xfrm>
            <a:off x="150000" y="3035000"/>
            <a:ext cx="1800000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l"/>
            <a:r>
              <a:rPr lang="en-US" sz="820" b="1" i="0" dirty="0">
                <a:solidFill>
                  <a:srgbClr val="1E2761"/>
                </a:solidFill>
                <a:latin typeface="Calibri"/>
              </a:rPr>
              <a:t>PgBouncer</a:t>
            </a:r>
          </a:p>
        </p:txBody>
      </p:sp>
      <p:sp>
        <p:nvSpPr>
          <p:cNvPr id="55" name="sp55"/>
          <p:cNvSpPr>
            <a:spLocks noGrp="1"/>
          </p:cNvSpPr>
          <p:nvPr/>
        </p:nvSpPr>
        <p:spPr>
          <a:xfrm>
            <a:off x="1950000" y="30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100m</a:t>
            </a:r>
          </a:p>
        </p:txBody>
      </p:sp>
      <p:sp>
        <p:nvSpPr>
          <p:cNvPr id="56" name="sp56"/>
          <p:cNvSpPr>
            <a:spLocks noGrp="1"/>
          </p:cNvSpPr>
          <p:nvPr/>
        </p:nvSpPr>
        <p:spPr>
          <a:xfrm>
            <a:off x="2956285" y="30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500m</a:t>
            </a:r>
          </a:p>
        </p:txBody>
      </p:sp>
      <p:sp>
        <p:nvSpPr>
          <p:cNvPr id="57" name="sp57"/>
          <p:cNvSpPr>
            <a:spLocks noGrp="1"/>
          </p:cNvSpPr>
          <p:nvPr/>
        </p:nvSpPr>
        <p:spPr>
          <a:xfrm>
            <a:off x="3962570" y="30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64 Mi</a:t>
            </a:r>
          </a:p>
        </p:txBody>
      </p:sp>
      <p:sp>
        <p:nvSpPr>
          <p:cNvPr id="58" name="sp58"/>
          <p:cNvSpPr>
            <a:spLocks noGrp="1"/>
          </p:cNvSpPr>
          <p:nvPr/>
        </p:nvSpPr>
        <p:spPr>
          <a:xfrm>
            <a:off x="4968855" y="30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128 Mi</a:t>
            </a:r>
          </a:p>
        </p:txBody>
      </p:sp>
      <p:sp>
        <p:nvSpPr>
          <p:cNvPr id="59" name="sp59"/>
          <p:cNvSpPr>
            <a:spLocks noGrp="1"/>
          </p:cNvSpPr>
          <p:nvPr/>
        </p:nvSpPr>
        <p:spPr>
          <a:xfrm>
            <a:off x="5975140" y="30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60" name="sp60"/>
          <p:cNvSpPr>
            <a:spLocks noGrp="1"/>
          </p:cNvSpPr>
          <p:nvPr/>
        </p:nvSpPr>
        <p:spPr>
          <a:xfrm>
            <a:off x="6981425" y="3035000"/>
            <a:ext cx="1006285" cy="375000"/>
          </a:xfrm>
          <a:prstGeom prst="rect">
            <a:avLst/>
          </a:prstGeom>
          <a:solidFill>
            <a:srgbClr val="D6EAD6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1" i="0" dirty="0">
                <a:solidFill>
                  <a:srgbClr val="1A5C1A"/>
                </a:solidFill>
                <a:latin typeface="Calibri"/>
              </a:rPr>
              <a:t>2</a:t>
            </a:r>
          </a:p>
        </p:txBody>
      </p:sp>
      <p:sp>
        <p:nvSpPr>
          <p:cNvPr id="61" name="sp61"/>
          <p:cNvSpPr>
            <a:spLocks noGrp="1"/>
          </p:cNvSpPr>
          <p:nvPr/>
        </p:nvSpPr>
        <p:spPr>
          <a:xfrm>
            <a:off x="7987710" y="3035000"/>
            <a:ext cx="1006290" cy="375000"/>
          </a:xfrm>
          <a:prstGeom prst="rect">
            <a:avLst/>
          </a:prstGeom>
          <a:solidFill>
            <a:srgbClr val="D6EAD6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1" i="0" dirty="0">
                <a:solidFill>
                  <a:srgbClr val="1A5C1A"/>
                </a:solidFill>
                <a:latin typeface="Calibri"/>
              </a:rPr>
              <a:t>&gt;10,000</a:t>
            </a:r>
          </a:p>
        </p:txBody>
      </p:sp>
      <p:sp>
        <p:nvSpPr>
          <p:cNvPr id="62" name="sp62"/>
          <p:cNvSpPr>
            <a:spLocks noGrp="1"/>
          </p:cNvSpPr>
          <p:nvPr/>
        </p:nvSpPr>
        <p:spPr>
          <a:xfrm>
            <a:off x="150000" y="3410000"/>
            <a:ext cx="1800000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l"/>
            <a:r>
              <a:rPr lang="en-US" sz="820" b="1" i="0" dirty="0">
                <a:solidFill>
                  <a:srgbClr val="1E2761"/>
                </a:solidFill>
                <a:latin typeface="Calibri"/>
              </a:rPr>
              <a:t>UI pod</a:t>
            </a:r>
          </a:p>
        </p:txBody>
      </p:sp>
      <p:sp>
        <p:nvSpPr>
          <p:cNvPr id="63" name="sp63"/>
          <p:cNvSpPr>
            <a:spLocks noGrp="1"/>
          </p:cNvSpPr>
          <p:nvPr/>
        </p:nvSpPr>
        <p:spPr>
          <a:xfrm>
            <a:off x="1950000" y="34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100m</a:t>
            </a:r>
          </a:p>
        </p:txBody>
      </p:sp>
      <p:sp>
        <p:nvSpPr>
          <p:cNvPr id="64" name="sp64"/>
          <p:cNvSpPr>
            <a:spLocks noGrp="1"/>
          </p:cNvSpPr>
          <p:nvPr/>
        </p:nvSpPr>
        <p:spPr>
          <a:xfrm>
            <a:off x="2956285" y="34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500m</a:t>
            </a:r>
          </a:p>
        </p:txBody>
      </p:sp>
      <p:sp>
        <p:nvSpPr>
          <p:cNvPr id="65" name="sp65"/>
          <p:cNvSpPr>
            <a:spLocks noGrp="1"/>
          </p:cNvSpPr>
          <p:nvPr/>
        </p:nvSpPr>
        <p:spPr>
          <a:xfrm>
            <a:off x="3962570" y="34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128 Mi</a:t>
            </a:r>
          </a:p>
        </p:txBody>
      </p:sp>
      <p:sp>
        <p:nvSpPr>
          <p:cNvPr id="66" name="sp66"/>
          <p:cNvSpPr>
            <a:spLocks noGrp="1"/>
          </p:cNvSpPr>
          <p:nvPr/>
        </p:nvSpPr>
        <p:spPr>
          <a:xfrm>
            <a:off x="4968855" y="34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256 Mi</a:t>
            </a:r>
          </a:p>
        </p:txBody>
      </p:sp>
      <p:sp>
        <p:nvSpPr>
          <p:cNvPr id="67" name="sp67"/>
          <p:cNvSpPr>
            <a:spLocks noGrp="1"/>
          </p:cNvSpPr>
          <p:nvPr/>
        </p:nvSpPr>
        <p:spPr>
          <a:xfrm>
            <a:off x="5975140" y="34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68" name="sp68"/>
          <p:cNvSpPr>
            <a:spLocks noGrp="1"/>
          </p:cNvSpPr>
          <p:nvPr/>
        </p:nvSpPr>
        <p:spPr>
          <a:xfrm>
            <a:off x="6981425" y="3410000"/>
            <a:ext cx="1006285" cy="375000"/>
          </a:xfrm>
          <a:prstGeom prst="rect">
            <a:avLst/>
          </a:prstGeom>
          <a:solidFill>
            <a:srgbClr val="D6EAD6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1" i="0" dirty="0">
                <a:solidFill>
                  <a:srgbClr val="1A5C1A"/>
                </a:solidFill>
                <a:latin typeface="Calibri"/>
              </a:rPr>
              <a:t>1</a:t>
            </a:r>
          </a:p>
        </p:txBody>
      </p:sp>
      <p:sp>
        <p:nvSpPr>
          <p:cNvPr id="69" name="sp69"/>
          <p:cNvSpPr>
            <a:spLocks noGrp="1"/>
          </p:cNvSpPr>
          <p:nvPr/>
        </p:nvSpPr>
        <p:spPr>
          <a:xfrm>
            <a:off x="7987710" y="3410000"/>
            <a:ext cx="1006290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~200 rps</a:t>
            </a:r>
          </a:p>
        </p:txBody>
      </p:sp>
      <p:sp>
        <p:nvSpPr>
          <p:cNvPr id="70" name="sp70"/>
          <p:cNvSpPr>
            <a:spLocks noGrp="1"/>
          </p:cNvSpPr>
          <p:nvPr/>
        </p:nvSpPr>
        <p:spPr>
          <a:xfrm>
            <a:off x="150000" y="3785000"/>
            <a:ext cx="1800000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l"/>
            <a:r>
              <a:rPr lang="en-US" sz="820" b="1" i="0" dirty="0">
                <a:solidFill>
                  <a:srgbClr val="1E2761"/>
                </a:solidFill>
                <a:latin typeface="Calibri"/>
              </a:rPr>
              <a:t>aaa-regression-tester</a:t>
            </a:r>
          </a:p>
        </p:txBody>
      </p:sp>
      <p:sp>
        <p:nvSpPr>
          <p:cNvPr id="71" name="sp71"/>
          <p:cNvSpPr>
            <a:spLocks noGrp="1"/>
          </p:cNvSpPr>
          <p:nvPr/>
        </p:nvSpPr>
        <p:spPr>
          <a:xfrm>
            <a:off x="1950000" y="37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250m</a:t>
            </a:r>
          </a:p>
        </p:txBody>
      </p:sp>
      <p:sp>
        <p:nvSpPr>
          <p:cNvPr id="72" name="sp72"/>
          <p:cNvSpPr>
            <a:spLocks noGrp="1"/>
          </p:cNvSpPr>
          <p:nvPr/>
        </p:nvSpPr>
        <p:spPr>
          <a:xfrm>
            <a:off x="2956285" y="37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500m</a:t>
            </a:r>
          </a:p>
        </p:txBody>
      </p:sp>
      <p:sp>
        <p:nvSpPr>
          <p:cNvPr id="73" name="sp73"/>
          <p:cNvSpPr>
            <a:spLocks noGrp="1"/>
          </p:cNvSpPr>
          <p:nvPr/>
        </p:nvSpPr>
        <p:spPr>
          <a:xfrm>
            <a:off x="3962570" y="37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256 Mi</a:t>
            </a:r>
          </a:p>
        </p:txBody>
      </p:sp>
      <p:sp>
        <p:nvSpPr>
          <p:cNvPr id="74" name="sp74"/>
          <p:cNvSpPr>
            <a:spLocks noGrp="1"/>
          </p:cNvSpPr>
          <p:nvPr/>
        </p:nvSpPr>
        <p:spPr>
          <a:xfrm>
            <a:off x="4968855" y="37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512 Mi</a:t>
            </a:r>
          </a:p>
        </p:txBody>
      </p:sp>
      <p:sp>
        <p:nvSpPr>
          <p:cNvPr id="75" name="sp75"/>
          <p:cNvSpPr>
            <a:spLocks noGrp="1"/>
          </p:cNvSpPr>
          <p:nvPr/>
        </p:nvSpPr>
        <p:spPr>
          <a:xfrm>
            <a:off x="5975140" y="37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76" name="sp76"/>
          <p:cNvSpPr>
            <a:spLocks noGrp="1"/>
          </p:cNvSpPr>
          <p:nvPr/>
        </p:nvSpPr>
        <p:spPr>
          <a:xfrm>
            <a:off x="6981425" y="37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888888"/>
                </a:solidFill>
                <a:latin typeface="Calibri"/>
              </a:rPr>
              <a:t>1 *</a:t>
            </a:r>
          </a:p>
        </p:txBody>
      </p:sp>
      <p:sp>
        <p:nvSpPr>
          <p:cNvPr id="77" name="sp77"/>
          <p:cNvSpPr>
            <a:spLocks noGrp="1"/>
          </p:cNvSpPr>
          <p:nvPr/>
        </p:nvSpPr>
        <p:spPr>
          <a:xfrm>
            <a:off x="7987710" y="3785000"/>
            <a:ext cx="1006290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888888"/>
                </a:solidFill>
                <a:latin typeface="Calibri"/>
              </a:rPr>
              <a:t>N/A</a:t>
            </a:r>
          </a:p>
        </p:txBody>
      </p:sp>
      <p:sp>
        <p:nvSpPr>
          <p:cNvPr id="78" name="sp78"/>
          <p:cNvSpPr>
            <a:spLocks noGrp="1"/>
          </p:cNvSpPr>
          <p:nvPr/>
        </p:nvSpPr>
        <p:spPr>
          <a:xfrm>
            <a:off x="150000" y="4160000"/>
            <a:ext cx="1800000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l"/>
            <a:r>
              <a:rPr lang="en-US" sz="820" b="1" i="0" dirty="0">
                <a:solidFill>
                  <a:srgbClr val="1E2761"/>
                </a:solidFill>
                <a:latin typeface="Calibri"/>
              </a:rPr>
              <a:t>Load-test pod</a:t>
            </a:r>
          </a:p>
        </p:txBody>
      </p:sp>
      <p:sp>
        <p:nvSpPr>
          <p:cNvPr id="79" name="sp79"/>
          <p:cNvSpPr>
            <a:spLocks noGrp="1"/>
          </p:cNvSpPr>
          <p:nvPr/>
        </p:nvSpPr>
        <p:spPr>
          <a:xfrm>
            <a:off x="1950000" y="4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500m</a:t>
            </a:r>
          </a:p>
        </p:txBody>
      </p:sp>
      <p:sp>
        <p:nvSpPr>
          <p:cNvPr id="80" name="sp80"/>
          <p:cNvSpPr>
            <a:spLocks noGrp="1"/>
          </p:cNvSpPr>
          <p:nvPr/>
        </p:nvSpPr>
        <p:spPr>
          <a:xfrm>
            <a:off x="2956285" y="4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2,000m</a:t>
            </a:r>
          </a:p>
        </p:txBody>
      </p:sp>
      <p:sp>
        <p:nvSpPr>
          <p:cNvPr id="81" name="sp81"/>
          <p:cNvSpPr>
            <a:spLocks noGrp="1"/>
          </p:cNvSpPr>
          <p:nvPr/>
        </p:nvSpPr>
        <p:spPr>
          <a:xfrm>
            <a:off x="3962570" y="4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256 Mi</a:t>
            </a:r>
          </a:p>
        </p:txBody>
      </p:sp>
      <p:sp>
        <p:nvSpPr>
          <p:cNvPr id="82" name="sp82"/>
          <p:cNvSpPr>
            <a:spLocks noGrp="1"/>
          </p:cNvSpPr>
          <p:nvPr/>
        </p:nvSpPr>
        <p:spPr>
          <a:xfrm>
            <a:off x="4968855" y="4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1,024 Mi</a:t>
            </a:r>
          </a:p>
        </p:txBody>
      </p:sp>
      <p:sp>
        <p:nvSpPr>
          <p:cNvPr id="83" name="sp83"/>
          <p:cNvSpPr>
            <a:spLocks noGrp="1"/>
          </p:cNvSpPr>
          <p:nvPr/>
        </p:nvSpPr>
        <p:spPr>
          <a:xfrm>
            <a:off x="5975140" y="4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84" name="sp84"/>
          <p:cNvSpPr>
            <a:spLocks noGrp="1"/>
          </p:cNvSpPr>
          <p:nvPr/>
        </p:nvSpPr>
        <p:spPr>
          <a:xfrm>
            <a:off x="6981425" y="4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888888"/>
                </a:solidFill>
                <a:latin typeface="Calibri"/>
              </a:rPr>
              <a:t>1 *</a:t>
            </a:r>
          </a:p>
        </p:txBody>
      </p:sp>
      <p:sp>
        <p:nvSpPr>
          <p:cNvPr id="85" name="sp85"/>
          <p:cNvSpPr>
            <a:spLocks noGrp="1"/>
          </p:cNvSpPr>
          <p:nvPr/>
        </p:nvSpPr>
        <p:spPr>
          <a:xfrm>
            <a:off x="7987710" y="4160000"/>
            <a:ext cx="1006290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888888"/>
                </a:solidFill>
                <a:latin typeface="Calibri"/>
              </a:rPr>
              <a:t>N/A (gen.)</a:t>
            </a:r>
          </a:p>
        </p:txBody>
      </p:sp>
      <p:sp>
        <p:nvSpPr>
          <p:cNvPr id="86" name="sp86"/>
          <p:cNvSpPr>
            <a:spLocks noGrp="1"/>
          </p:cNvSpPr>
          <p:nvPr/>
        </p:nvSpPr>
        <p:spPr>
          <a:xfrm>
            <a:off x="150000" y="4710000"/>
            <a:ext cx="8844000" cy="260000"/>
          </a:xfrm>
          <a:prstGeom prst="rect">
            <a:avLst/>
          </a:prstGeom>
          <a:solidFill>
            <a:srgbClr val="EEF3FB"/>
          </a:solidFill>
          <a:ln>
            <a:noFill/>
          </a:ln>
        </p:spPr>
        <p:txBody>
          <a:bodyPr lIns="91440" tIns="45720" rIns="91440" bIns="45720" anchor="ctr"/>
          <a:lstStyle/>
          <a:p>
            <a:pPr algn="l"/>
            <a:r>
              <a:rPr lang="en-US" sz="700" b="0" i="1" dirty="0">
                <a:solidFill>
                  <a:srgbClr val="6B7280"/>
                </a:solidFill>
                <a:latin typeface="Calibri"/>
              </a:rPr>
              <a:t>* On-demand job pod  |  RPS figures are for fast-path requests only (subscriber profile exists in DB)  |  1 SQL query per IMSI lookup → ~2,000 qps at 2k rps  |  PVC size configurable (20 Gi = baseline)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The Challenge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493776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Speed vs. Scale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93776" y="125272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EA8E8"/>
                </a:solidFill>
              </a:rPr>
              <a:t>RADIUS must authenticate subscribers in &lt;15ms while serving millions of requests per day — but provisioning writes are slower and less frequent.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274320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493776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Unknown IMSIs at First Attach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" y="312724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EA8E8"/>
                </a:solidFill>
              </a:rPr>
              <a:t>Network equipment cannot predict when a new SIM activates. Operators need dynamic, zero-touch provisioning on first connection — no manual intervention.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54880" y="86868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Shape 11"/>
          <p:cNvSpPr/>
          <p:nvPr/>
        </p:nvSpPr>
        <p:spPr>
          <a:xfrm>
            <a:off x="4754880" y="86868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4882896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Multi-IMSI SIM Complexity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82896" y="125272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EA8E8"/>
                </a:solidFill>
              </a:rPr>
              <a:t>A single physical SIM card can carry up to 10 distinct IMSIs. Provisioning one slot must automatically provision all sibling slots in a single atomic step.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0" y="274320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Shape 15"/>
          <p:cNvSpPr/>
          <p:nvPr/>
        </p:nvSpPr>
        <p:spPr>
          <a:xfrm>
            <a:off x="4754880" y="274320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8" name="Text 16"/>
          <p:cNvSpPr/>
          <p:nvPr/>
        </p:nvSpPr>
        <p:spPr>
          <a:xfrm>
            <a:off x="4882896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IP Pool Race Conditions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82896" y="312724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EA8E8"/>
                </a:solidFill>
              </a:rPr>
              <a:t>Concurrent first-connection events can race to claim the same IP address. A safe, lock-free allocation mechanism is critical for correctness at scale.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Solution: Three-Service Architecture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E75B6"/>
                </a:solidFill>
              </a:rPr>
              <a:t>aaa-lookup-service orchestrates first-connection — radius-server routes all Access-Requests to lookup only, which calls subscriber-profile-api on DB miss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468880" y="960120"/>
            <a:ext cx="4206240" cy="7498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Shape 4"/>
          <p:cNvSpPr/>
          <p:nvPr/>
        </p:nvSpPr>
        <p:spPr>
          <a:xfrm>
            <a:off x="2468880" y="960120"/>
            <a:ext cx="420624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2468880" y="101498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aaa-radius-server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468880" y="13990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</a:rPr>
              <a:t>RADIUS Frontend  |  Forwards all Access-Requests to lookup-service only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80360" y="1709928"/>
            <a:ext cx="0" cy="438912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Shape 8"/>
          <p:cNvSpPr/>
          <p:nvPr/>
        </p:nvSpPr>
        <p:spPr>
          <a:xfrm>
            <a:off x="1737360" y="2148840"/>
            <a:ext cx="114300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365760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2E75B6"/>
                </a:solidFill>
              </a:rPr>
              <a:t>Every Access-Request → GET /lookup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263640" y="1709928"/>
            <a:ext cx="0" cy="438912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Shape 11"/>
          <p:cNvSpPr/>
          <p:nvPr/>
        </p:nvSpPr>
        <p:spPr>
          <a:xfrm>
            <a:off x="6263640" y="2148840"/>
            <a:ext cx="1143000" cy="0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6400800" y="1920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F5A623"/>
                </a:solidFill>
              </a:rPr>
              <a:t>POST /first-connection (called by lookup pod internally, on DB miss)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0" y="2194560"/>
            <a:ext cx="0" cy="2674620"/>
          </a:xfrm>
          <a:prstGeom prst="line">
            <a:avLst/>
          </a:prstGeom>
          <a:noFill/>
          <a:ln w="12700">
            <a:solidFill>
              <a:srgbClr val="CADCFC"/>
            </a:solidFill>
            <a:prstDash val="dash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Text 14"/>
          <p:cNvSpPr/>
          <p:nvPr/>
        </p:nvSpPr>
        <p:spPr>
          <a:xfrm>
            <a:off x="365760" y="2240280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2E75B6"/>
                </a:solidFill>
              </a:rPr>
              <a:t>READ PATH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" y="253288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</a:rPr>
              <a:t>aaa-lookup-service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65760" y="28986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E75B6"/>
                </a:solidFill>
              </a:rPr>
              <a:t>C++17 / Drogon — Port 8081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3200400"/>
            <a:ext cx="4023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Sub-15ms p99 hot-path (called on every Access-Request)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Reads from local read-replica only (no writes)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Single-query IMSI lookup, index-only seek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JWT RS256 verification with caching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On DB miss: calls POST /first-connection on subscriber-profile-api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2240280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2E75B6"/>
                </a:solidFill>
              </a:rPr>
              <a:t>FIRST-CONNECTION PATH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253288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</a:rPr>
              <a:t>subscriber-profile-api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54880" y="28986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E75B6"/>
                </a:solidFill>
              </a:rPr>
              <a:t>Python 3.11 / FastAPI — Port 8080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754880" y="3200400"/>
            <a:ext cx="4023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Called by lookup-service on 404: allocates IP + creates profile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Full subscriber lifecycle CRUD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Multi-IMSI atomic provisioning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Race-safe IP pool claiming (FOR UPDATE SKIP LOCKED)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Async bulk operations up to 100K profiles/job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Performance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1600200" cy="12344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320040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&lt; 15ms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20040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ADCFC"/>
                </a:solidFill>
              </a:rPr>
              <a:t>p99 Lookup Latency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39112" y="868680"/>
            <a:ext cx="1600200" cy="1234440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9" name="Shape 7"/>
          <p:cNvSpPr/>
          <p:nvPr/>
        </p:nvSpPr>
        <p:spPr>
          <a:xfrm>
            <a:off x="2039112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2039112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1-3ms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039112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ADCFC"/>
                </a:solidFill>
              </a:rPr>
              <a:t>p50 Typical Latency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758184" y="868680"/>
            <a:ext cx="1600200" cy="123444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3" name="Shape 11"/>
          <p:cNvSpPr/>
          <p:nvPr/>
        </p:nvSpPr>
        <p:spPr>
          <a:xfrm>
            <a:off x="3758184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3758184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100K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758184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ADCFC"/>
                </a:solidFill>
              </a:rPr>
              <a:t>Profiles per Bulk Job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77256" y="868680"/>
            <a:ext cx="1600200" cy="1234440"/>
          </a:xfrm>
          <a:prstGeom prst="rect">
            <a:avLst/>
          </a:prstGeom>
          <a:solidFill>
            <a:srgbClr val="114C75"/>
          </a:solidFill>
          <a:ln w="12700">
            <a:solidFill>
              <a:srgbClr val="114C75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7" name="Shape 15"/>
          <p:cNvSpPr/>
          <p:nvPr/>
        </p:nvSpPr>
        <p:spPr>
          <a:xfrm>
            <a:off x="5477256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8" name="Text 16"/>
          <p:cNvSpPr/>
          <p:nvPr/>
        </p:nvSpPr>
        <p:spPr>
          <a:xfrm>
            <a:off x="5477256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253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77256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ADCFC"/>
                </a:solidFill>
              </a:rPr>
              <a:t>IPs per /24 Pool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196328" y="868680"/>
            <a:ext cx="1600200" cy="123444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21" name="Shape 19"/>
          <p:cNvSpPr/>
          <p:nvPr/>
        </p:nvSpPr>
        <p:spPr>
          <a:xfrm>
            <a:off x="7196328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7196328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10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7196328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ADCFC"/>
                </a:solidFill>
              </a:rPr>
              <a:t>Max IMSIs per SIM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65760" y="2331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FC3F7"/>
                </a:solidFill>
              </a:rPr>
              <a:t>How we achieve &lt; 15ms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65760" y="274320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Text 24"/>
          <p:cNvSpPr/>
          <p:nvPr/>
        </p:nvSpPr>
        <p:spPr>
          <a:xfrm>
            <a:off x="493776" y="27889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Index-only B-tree seek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3776" y="304495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EA8E8"/>
                </a:solidFill>
              </a:rPr>
              <a:t>imsi2sim.imsi is a PK — single-page lookup, no full-table scan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54880" y="274320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9" name="Text 27"/>
          <p:cNvSpPr/>
          <p:nvPr/>
        </p:nvSpPr>
        <p:spPr>
          <a:xfrm>
            <a:off x="4882896" y="27889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Near 100% cache hit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82896" y="304495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EA8E8"/>
                </a:solidFill>
              </a:rPr>
              <a:t>~80MB index fits entirely in PostgreSQL shared_buffers at steady state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65760" y="370332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2" name="Text 30"/>
          <p:cNvSpPr/>
          <p:nvPr/>
        </p:nvSpPr>
        <p:spPr>
          <a:xfrm>
            <a:off x="493776" y="37490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Async C++ Drogon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3776" y="400507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EA8E8"/>
                </a:solidFill>
              </a:rPr>
              <a:t>Non-blocking I/O with coroutines; zero context-switching overhead per request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54880" y="370332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5" name="Text 33"/>
          <p:cNvSpPr/>
          <p:nvPr/>
        </p:nvSpPr>
        <p:spPr>
          <a:xfrm>
            <a:off x="4882896" y="37490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Read replica isolation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882896" y="400507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EA8E8"/>
                </a:solidFill>
              </a:rPr>
              <a:t>Lookup never competes with write transactions on the primary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RADIUS Hot-Path Flow (Happy Path)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E75B6"/>
                </a:solidFill>
              </a:rPr>
              <a:t>Steady-state: every Access-Request handled entirely by aaa-lookup-service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2860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508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22860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aaa-radius-server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07442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LID4096"/>
          </a:p>
        </p:txBody>
      </p:sp>
      <p:sp>
        <p:nvSpPr>
          <p:cNvPr id="8" name="Shape 6"/>
          <p:cNvSpPr/>
          <p:nvPr/>
        </p:nvSpPr>
        <p:spPr>
          <a:xfrm>
            <a:off x="246888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508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246888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aaa-lookup-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service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(C++, port 8081)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1470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508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2" name="Text 10"/>
          <p:cNvSpPr/>
          <p:nvPr/>
        </p:nvSpPr>
        <p:spPr>
          <a:xfrm>
            <a:off x="470916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Read Replica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(PostgreSQL)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55498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Shape 12"/>
          <p:cNvSpPr/>
          <p:nvPr/>
        </p:nvSpPr>
        <p:spPr>
          <a:xfrm>
            <a:off x="1074420" y="1920240"/>
            <a:ext cx="224028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Text 13"/>
          <p:cNvSpPr/>
          <p:nvPr/>
        </p:nvSpPr>
        <p:spPr>
          <a:xfrm>
            <a:off x="3186684" y="179222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E75B6"/>
                </a:solidFill>
              </a:rPr>
              <a:t>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0140" y="162763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E2761"/>
                </a:solidFill>
              </a:rPr>
              <a:t>GET /lookup?imsi=278773000002002&amp;apn=internet.op.com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314700" y="2423160"/>
            <a:ext cx="224028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8" name="Text 16"/>
          <p:cNvSpPr/>
          <p:nvPr/>
        </p:nvSpPr>
        <p:spPr>
          <a:xfrm>
            <a:off x="5426964" y="22951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E75B6"/>
                </a:solidFill>
              </a:rPr>
              <a:t>▶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360420" y="21305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E2761"/>
                </a:solidFill>
              </a:rPr>
              <a:t>SELECT ... WHERE imsi = $1  (index seek)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314700" y="2880360"/>
            <a:ext cx="2240280" cy="0"/>
          </a:xfrm>
          <a:prstGeom prst="line">
            <a:avLst/>
          </a:prstGeom>
          <a:noFill/>
          <a:ln w="19050">
            <a:solidFill>
              <a:srgbClr val="2ECC8C"/>
            </a:solidFill>
            <a:prstDash val="dash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Text 19"/>
          <p:cNvSpPr/>
          <p:nvPr/>
        </p:nvSpPr>
        <p:spPr>
          <a:xfrm>
            <a:off x="3259836" y="27523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ECC8C"/>
                </a:solidFill>
              </a:rPr>
              <a:t>◀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360420" y="25877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2E75B6"/>
                </a:solidFill>
              </a:rPr>
              <a:t>Row: static_ip = 100.65.120.5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074420" y="3337560"/>
            <a:ext cx="2240280" cy="0"/>
          </a:xfrm>
          <a:prstGeom prst="line">
            <a:avLst/>
          </a:prstGeom>
          <a:noFill/>
          <a:ln w="19050">
            <a:solidFill>
              <a:srgbClr val="2ECC8C"/>
            </a:solidFill>
            <a:prstDash val="dash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Text 22"/>
          <p:cNvSpPr/>
          <p:nvPr/>
        </p:nvSpPr>
        <p:spPr>
          <a:xfrm>
            <a:off x="1019556" y="32095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ECC8C"/>
                </a:solidFill>
              </a:rPr>
              <a:t>◀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0140" y="30449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2E75B6"/>
                </a:solidFill>
              </a:rPr>
              <a:t>200 OK  {"static_ip": "100.65.120.5"}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83680" y="960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Possible Outcomes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83680" y="1280160"/>
            <a:ext cx="2286000" cy="54864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8" name="Text 26"/>
          <p:cNvSpPr/>
          <p:nvPr/>
        </p:nvSpPr>
        <p:spPr>
          <a:xfrm>
            <a:off x="6583680" y="128016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200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086600" y="12801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Access-Accept + Framed-IP-Address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583680" y="1938528"/>
            <a:ext cx="2286000" cy="5486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1" name="Text 29"/>
          <p:cNvSpPr/>
          <p:nvPr/>
        </p:nvSpPr>
        <p:spPr>
          <a:xfrm>
            <a:off x="6583680" y="1938528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403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086600" y="193852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Access-Reject (suspended)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583680" y="2596896"/>
            <a:ext cx="2286000" cy="54864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4" name="Text 32"/>
          <p:cNvSpPr/>
          <p:nvPr/>
        </p:nvSpPr>
        <p:spPr>
          <a:xfrm>
            <a:off x="6583680" y="2596896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404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086600" y="25968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Access-Reject (no range config)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5B6"/>
                </a:solidFill>
              </a:rPr>
              <a:t>SLA: p99 &lt; 15ms end-to-end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solidFill>
            <a:srgbClr val="EEF3FB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8" name="Text 36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5B6"/>
                </a:solidFill>
              </a:rPr>
              <a:t>SLA: p99 &lt; 15ms end-to-end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Two-Stage First-Connection Allocation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E75B6"/>
                </a:solidFill>
              </a:rPr>
              <a:t>Unknown IMSI → auto-provisioned in a single atomic transaction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023360" cy="1600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365760" y="10058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STAGE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12984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aaa-lookup-service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162763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/lookup?imsi={imsi}&amp;apn={apn}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Queries READ REPLICA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IMSI not found in imsi2sim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Returns 404 {"error": "not_found"}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" y="263347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A623"/>
                </a:solidFill>
              </a:rPr>
              <a:t>▼  aaa-lookup-service calls POST /first-connection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944368"/>
            <a:ext cx="4023360" cy="1920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2" name="Shape 10"/>
          <p:cNvSpPr/>
          <p:nvPr/>
        </p:nvSpPr>
        <p:spPr>
          <a:xfrm>
            <a:off x="365760" y="2990088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Text 11"/>
          <p:cNvSpPr/>
          <p:nvPr/>
        </p:nvSpPr>
        <p:spPr>
          <a:xfrm>
            <a:off x="365760" y="29900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STAGE 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328269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subscriber-profile-api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361188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aaa-lookup-service: POST /v1/first-connection {imsi, apn, imei}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Idempotency check: IMSI already exists?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Match range config (f_imsi &lt;= $imsi &lt;= t_imsi)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Claim IP:  DELETE FROM ip_pool_available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FOR UPDATE SKIP LOCKED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INSERT profile + IMSI + IP  (atomic COMMIT)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663440" y="9601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75B6"/>
                </a:solidFill>
              </a:rPr>
              <a:t>First-Connection Outcomes  (subscriber-profile-api)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1261872"/>
            <a:ext cx="4114800" cy="868680"/>
          </a:xfrm>
          <a:prstGeom prst="rect">
            <a:avLst/>
          </a:prstGeom>
          <a:solidFill>
            <a:srgbClr val="E8F5E9"/>
          </a:solidFill>
          <a:ln w="12700">
            <a:solidFill>
              <a:srgbClr val="2ECC8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8" name="Shape 16"/>
          <p:cNvSpPr/>
          <p:nvPr/>
        </p:nvSpPr>
        <p:spPr>
          <a:xfrm>
            <a:off x="4663440" y="1261872"/>
            <a:ext cx="54864" cy="86868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Text 17"/>
          <p:cNvSpPr/>
          <p:nvPr/>
        </p:nvSpPr>
        <p:spPr>
          <a:xfrm>
            <a:off x="4773168" y="130759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</a:rPr>
              <a:t>200 OK — IP Allocated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773168" y="156362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C4D6B"/>
                </a:solidFill>
              </a:rPr>
              <a:t>subscriber-profile-api creates sim_id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C4D6B"/>
                </a:solidFill>
              </a:rPr>
              <a:t>(gen_random_uuid). static_ip returned.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C4D6B"/>
                </a:solidFill>
              </a:rPr>
              <a:t>aaa-lookup-service returns 200 to aaa-radius-server. Access-Accept issued.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2221992"/>
            <a:ext cx="4114800" cy="868680"/>
          </a:xfrm>
          <a:prstGeom prst="rect">
            <a:avLst/>
          </a:prstGeom>
          <a:solidFill>
            <a:srgbClr val="E3F2FD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Shape 20"/>
          <p:cNvSpPr/>
          <p:nvPr/>
        </p:nvSpPr>
        <p:spPr>
          <a:xfrm>
            <a:off x="4663440" y="2221992"/>
            <a:ext cx="54864" cy="8686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Text 21"/>
          <p:cNvSpPr/>
          <p:nvPr/>
        </p:nvSpPr>
        <p:spPr>
          <a:xfrm>
            <a:off x="4773168" y="226771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</a:rPr>
              <a:t>200 OK — Idempotent Return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773168" y="252374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C4D6B"/>
                </a:solidFill>
              </a:rPr>
              <a:t>IMSI already existed in DB.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C4D6B"/>
                </a:solidFill>
              </a:rPr>
              <a:t>Same sim_id &amp; IP returned.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C4D6B"/>
                </a:solidFill>
              </a:rPr>
              <a:t>Safe to retry — no duplicates.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3182112"/>
            <a:ext cx="4114800" cy="868680"/>
          </a:xfrm>
          <a:prstGeom prst="rect">
            <a:avLst/>
          </a:prstGeom>
          <a:solidFill>
            <a:srgbClr val="FFF3E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Shape 24"/>
          <p:cNvSpPr/>
          <p:nvPr/>
        </p:nvSpPr>
        <p:spPr>
          <a:xfrm>
            <a:off x="4663440" y="3182112"/>
            <a:ext cx="54864" cy="8686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7" name="Text 25"/>
          <p:cNvSpPr/>
          <p:nvPr/>
        </p:nvSpPr>
        <p:spPr>
          <a:xfrm>
            <a:off x="4773168" y="322783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</a:rPr>
              <a:t>404 — No Range Config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773168" y="348386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C4D6B"/>
                </a:solidFill>
              </a:rPr>
              <a:t>IMSI not in any active range config.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C4D6B"/>
                </a:solidFill>
              </a:rPr>
              <a:t>aaa-radius-server issues Access-Reject.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4142232"/>
            <a:ext cx="4114800" cy="868680"/>
          </a:xfrm>
          <a:prstGeom prst="rect">
            <a:avLst/>
          </a:prstGeom>
          <a:solidFill>
            <a:srgbClr val="FFEBEE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Shape 28"/>
          <p:cNvSpPr/>
          <p:nvPr/>
        </p:nvSpPr>
        <p:spPr>
          <a:xfrm>
            <a:off x="4663440" y="4142232"/>
            <a:ext cx="54864" cy="86868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1" name="Text 29"/>
          <p:cNvSpPr/>
          <p:nvPr/>
        </p:nvSpPr>
        <p:spPr>
          <a:xfrm>
            <a:off x="4773168" y="41879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</a:rPr>
              <a:t>503 — Pool Exhausted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773168" y="444398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C4D6B"/>
                </a:solidFill>
              </a:rPr>
              <a:t>No available IPs remaining.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C4D6B"/>
                </a:solidFill>
              </a:rPr>
              <a:t>Create a new pool.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C4D6B"/>
                </a:solidFill>
              </a:rPr>
              <a:t>Alert fires automatically.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Multi-IMSI SIM: Zero-Touch Provisioning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E75B6"/>
                </a:solidFill>
              </a:rPr>
              <a:t>All sibling slots pre-provisioned atomically — each from its own per-slot pool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2286000" cy="3200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828800" cy="36576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27432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SIM Card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2240280"/>
            <a:ext cx="2011680" cy="475488"/>
          </a:xfrm>
          <a:prstGeom prst="rect">
            <a:avLst/>
          </a:prstGeom>
          <a:solidFill>
            <a:srgbClr val="3C4D6B"/>
          </a:solidFill>
          <a:ln w="635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411480" y="224028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Slot 1: IMSI 278770...042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2834640"/>
            <a:ext cx="2011680" cy="475488"/>
          </a:xfrm>
          <a:prstGeom prst="rect">
            <a:avLst/>
          </a:prstGeom>
          <a:solidFill>
            <a:srgbClr val="3C4D6B"/>
          </a:solidFill>
          <a:ln w="635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411480" y="283464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Slot 2: IMSI 278771...042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3657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7EA8E8"/>
                </a:solidFill>
              </a:rPr>
              <a:t>ICCID: 8944...042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834640" y="1051560"/>
            <a:ext cx="1097280" cy="32004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4" name="Shape 12"/>
          <p:cNvSpPr/>
          <p:nvPr/>
        </p:nvSpPr>
        <p:spPr>
          <a:xfrm>
            <a:off x="324612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Text 13"/>
          <p:cNvSpPr/>
          <p:nvPr/>
        </p:nvSpPr>
        <p:spPr>
          <a:xfrm>
            <a:off x="324612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5B6"/>
                </a:solidFill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88950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Slot 1 First Attach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88950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 → DB miss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 calls /first-connection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{imsi: "278770...042"}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069080" y="1051560"/>
            <a:ext cx="1097280" cy="3200400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9" name="Shape 17"/>
          <p:cNvSpPr/>
          <p:nvPr/>
        </p:nvSpPr>
        <p:spPr>
          <a:xfrm>
            <a:off x="448056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Text 18"/>
          <p:cNvSpPr/>
          <p:nvPr/>
        </p:nvSpPr>
        <p:spPr>
          <a:xfrm>
            <a:off x="448056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5C9E"/>
                </a:solidFill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2394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Compute Offset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12394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offset = 278770...042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- 278770...000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42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03520" y="1051560"/>
            <a:ext cx="1097280" cy="320040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24" name="Shape 22"/>
          <p:cNvSpPr/>
          <p:nvPr/>
        </p:nvSpPr>
        <p:spPr>
          <a:xfrm>
            <a:off x="571500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Text 23"/>
          <p:cNvSpPr/>
          <p:nvPr/>
        </p:nvSpPr>
        <p:spPr>
          <a:xfrm>
            <a:off x="571500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55A8A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35838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Derive ICCID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5838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8944...000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+ 42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8944...042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537960" y="1051560"/>
            <a:ext cx="1097280" cy="320040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29" name="Shape 27"/>
          <p:cNvSpPr/>
          <p:nvPr/>
        </p:nvSpPr>
        <p:spPr>
          <a:xfrm>
            <a:off x="694944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Text 28"/>
          <p:cNvSpPr/>
          <p:nvPr/>
        </p:nvSpPr>
        <p:spPr>
          <a:xfrm>
            <a:off x="694944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CC8C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9282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Atomic Transaction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9282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 per slot (imsi mode)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1 IP card (iccid mode)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slots INSERTed, 1 COMMIT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772400" y="1051560"/>
            <a:ext cx="1097280" cy="3200400"/>
          </a:xfrm>
          <a:prstGeom prst="rect">
            <a:avLst/>
          </a:prstGeom>
          <a:solidFill>
            <a:srgbClr val="28A870"/>
          </a:solidFill>
          <a:ln w="12700">
            <a:solidFill>
              <a:srgbClr val="28A870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34" name="Shape 32"/>
          <p:cNvSpPr/>
          <p:nvPr/>
        </p:nvSpPr>
        <p:spPr>
          <a:xfrm>
            <a:off x="818388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5" name="Text 33"/>
          <p:cNvSpPr/>
          <p:nvPr/>
        </p:nvSpPr>
        <p:spPr>
          <a:xfrm>
            <a:off x="818388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8A870"/>
                </a:solidFill>
              </a:rPr>
              <a:t>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82726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Slot 2 Connects Later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82726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 → 200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(pre-provisioned!)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first-conn never called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74320" y="4434840"/>
            <a:ext cx="8595360" cy="475488"/>
          </a:xfrm>
          <a:prstGeom prst="rect">
            <a:avLst/>
          </a:prstGeom>
          <a:solidFill>
            <a:srgbClr val="1E2761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9" name="Text 37"/>
          <p:cNvSpPr/>
          <p:nvPr/>
        </p:nvSpPr>
        <p:spPr>
          <a:xfrm>
            <a:off x="457200" y="443484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</a:rPr>
              <a:t>Key: All siblings provisioned in ONE transaction (thundering herd protection). imsi mode → IP per slot. iccid mode → 1 shared IP per card.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274320" y="4434840"/>
            <a:ext cx="54864" cy="47548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Data Model: 9 PostgreSQL Tables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E75B6"/>
                </a:solidFill>
              </a:rPr>
              <a:t>Three logical groups — subscriber data, IP pools, and range configurations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8346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274320" y="10058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</a:rPr>
              <a:t>SUBSCRIBER DATA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353312"/>
            <a:ext cx="28346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8" name="Text 6"/>
          <p:cNvSpPr/>
          <p:nvPr/>
        </p:nvSpPr>
        <p:spPr>
          <a:xfrm>
            <a:off x="384048" y="1389888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sim_profiles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" y="1627632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1BD"/>
                </a:solidFill>
              </a:rPr>
              <a:t>PK: sim_id (UUID)  |  One row per SIM card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2011680"/>
            <a:ext cx="283464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384048" y="2048256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imsi2sim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" y="2286000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1BD"/>
                </a:solidFill>
              </a:rPr>
              <a:t>PK: imsi (15 digits)  |  One row per IMSI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2670048"/>
            <a:ext cx="28346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384048" y="2706624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imsi_apn_ips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944368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IMSI-level IP assignments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3328416"/>
            <a:ext cx="283464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384048" y="336499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sim_apn_ips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84048" y="3602736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Card-level IP assignments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005840"/>
            <a:ext cx="2651760" cy="292608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Text 18"/>
          <p:cNvSpPr/>
          <p:nvPr/>
        </p:nvSpPr>
        <p:spPr>
          <a:xfrm>
            <a:off x="3337560" y="1005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</a:rPr>
              <a:t>IP POOLS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37560" y="1353312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3447288" y="1389888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ip_pools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447288" y="1627632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1BD"/>
                </a:solidFill>
              </a:rPr>
              <a:t>PK: pool_id (UUID)  |  Pool definition (CIDR, bounds)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337560" y="2011680"/>
            <a:ext cx="265176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Text 23"/>
          <p:cNvSpPr/>
          <p:nvPr/>
        </p:nvSpPr>
        <p:spPr>
          <a:xfrm>
            <a:off x="3447288" y="2048256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ip_pool_available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28600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1BD"/>
                </a:solidFill>
              </a:rPr>
              <a:t>PK: (pool_id, ip)  |  Available IP work-queue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17920" y="1005840"/>
            <a:ext cx="2651760" cy="292608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8" name="Text 26"/>
          <p:cNvSpPr/>
          <p:nvPr/>
        </p:nvSpPr>
        <p:spPr>
          <a:xfrm>
            <a:off x="6217920" y="1005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</a:rPr>
              <a:t>RANGE CONFIGS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1353312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Text 28"/>
          <p:cNvSpPr/>
          <p:nvPr/>
        </p:nvSpPr>
        <p:spPr>
          <a:xfrm>
            <a:off x="6327648" y="1389888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imsi_range_configs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27648" y="1627632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IMSI ranges for auto-prov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217920" y="2011680"/>
            <a:ext cx="265176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Text 31"/>
          <p:cNvSpPr/>
          <p:nvPr/>
        </p:nvSpPr>
        <p:spPr>
          <a:xfrm>
            <a:off x="6327648" y="2048256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iccid_range_configs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327648" y="228600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Multi-IMSI SIM parent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2670048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6" name="Text 34"/>
          <p:cNvSpPr/>
          <p:nvPr/>
        </p:nvSpPr>
        <p:spPr>
          <a:xfrm>
            <a:off x="6327648" y="2706624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range_config_apn_pools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327648" y="2944368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Per-APN pool overrides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217920" y="3328416"/>
            <a:ext cx="265176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9" name="Text 37"/>
          <p:cNvSpPr/>
          <p:nvPr/>
        </p:nvSpPr>
        <p:spPr>
          <a:xfrm>
            <a:off x="6327648" y="3364992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bulk_jobs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327648" y="3602736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1BD"/>
                </a:solidFill>
              </a:rPr>
              <a:t>PK: job_id (UUID)  |  Async bulk job tracking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74320" y="4023360"/>
            <a:ext cx="8595360" cy="86868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2" name="Text 40"/>
          <p:cNvSpPr/>
          <p:nvPr/>
        </p:nvSpPr>
        <p:spPr>
          <a:xfrm>
            <a:off x="457200" y="40690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ip_resolution modes: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82880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4" name="Text 42"/>
          <p:cNvSpPr/>
          <p:nvPr/>
        </p:nvSpPr>
        <p:spPr>
          <a:xfrm>
            <a:off x="182880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82880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</a:rPr>
              <a:t>IP per IMSI, all APNs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1188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7" name="Text 45"/>
          <p:cNvSpPr/>
          <p:nvPr/>
        </p:nvSpPr>
        <p:spPr>
          <a:xfrm>
            <a:off x="361188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imsi_apn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61188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</a:rPr>
              <a:t>IP per IMSI per APN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39496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0" name="Text 48"/>
          <p:cNvSpPr/>
          <p:nvPr/>
        </p:nvSpPr>
        <p:spPr>
          <a:xfrm>
            <a:off x="539496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39496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</a:rPr>
              <a:t>IP per card, all APNs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04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3" name="Text 51"/>
          <p:cNvSpPr/>
          <p:nvPr/>
        </p:nvSpPr>
        <p:spPr>
          <a:xfrm>
            <a:off x="717804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iccid_apn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7804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</a:rPr>
              <a:t>IP per card per APN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subscriber-profile-api: REST API Surface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E75B6"/>
                </a:solidFill>
              </a:rPr>
              <a:t>Full lifecycle management with JWT authentication (OAuth 2.0 Bearer)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743200" cy="29260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27432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Subscriber Profiles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432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432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36576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/v1/profiles/{id}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" name="Text 10"/>
          <p:cNvSpPr/>
          <p:nvPr/>
        </p:nvSpPr>
        <p:spPr>
          <a:xfrm>
            <a:off x="36576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/v1/profiles?iccid={}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36576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/v1/profiles/{id}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Text 14"/>
          <p:cNvSpPr/>
          <p:nvPr/>
        </p:nvSpPr>
        <p:spPr>
          <a:xfrm>
            <a:off x="365760" y="27614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/v1/profiles/{id}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0" y="1005840"/>
            <a:ext cx="2743200" cy="292608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8" name="Text 16"/>
          <p:cNvSpPr/>
          <p:nvPr/>
        </p:nvSpPr>
        <p:spPr>
          <a:xfrm>
            <a:off x="320040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IMSI Operations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Text 18"/>
          <p:cNvSpPr/>
          <p:nvPr/>
        </p:nvSpPr>
        <p:spPr>
          <a:xfrm>
            <a:off x="329184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/v1/profiles/{id}/imsis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329184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/v1/profiles/{id}/imsis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20040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Text 22"/>
          <p:cNvSpPr/>
          <p:nvPr/>
        </p:nvSpPr>
        <p:spPr>
          <a:xfrm>
            <a:off x="329184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.../imsis/{imsi}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Text 24"/>
          <p:cNvSpPr/>
          <p:nvPr/>
        </p:nvSpPr>
        <p:spPr>
          <a:xfrm>
            <a:off x="329184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.../imsis/{imsi}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26480" y="1005840"/>
            <a:ext cx="2743200" cy="292608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8" name="Text 26"/>
          <p:cNvSpPr/>
          <p:nvPr/>
        </p:nvSpPr>
        <p:spPr>
          <a:xfrm>
            <a:off x="612648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IP Pools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12648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Text 28"/>
          <p:cNvSpPr/>
          <p:nvPr/>
        </p:nvSpPr>
        <p:spPr>
          <a:xfrm>
            <a:off x="621792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/v1/pools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12648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2" name="Text 30"/>
          <p:cNvSpPr/>
          <p:nvPr/>
        </p:nvSpPr>
        <p:spPr>
          <a:xfrm>
            <a:off x="621792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/v1/pools/{id}/stats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2648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4" name="Text 32"/>
          <p:cNvSpPr/>
          <p:nvPr/>
        </p:nvSpPr>
        <p:spPr>
          <a:xfrm>
            <a:off x="621792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/v1/pools/{id}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12648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6" name="Text 34"/>
          <p:cNvSpPr/>
          <p:nvPr/>
        </p:nvSpPr>
        <p:spPr>
          <a:xfrm>
            <a:off x="621792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/v1/pools/{id}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74320" y="2971800"/>
            <a:ext cx="2743200" cy="292608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8" name="Text 36"/>
          <p:cNvSpPr/>
          <p:nvPr/>
        </p:nvSpPr>
        <p:spPr>
          <a:xfrm>
            <a:off x="27432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Range Configs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7432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0" name="Text 38"/>
          <p:cNvSpPr/>
          <p:nvPr/>
        </p:nvSpPr>
        <p:spPr>
          <a:xfrm>
            <a:off x="36576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/v1/range-configs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7432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2" name="Text 40"/>
          <p:cNvSpPr/>
          <p:nvPr/>
        </p:nvSpPr>
        <p:spPr>
          <a:xfrm>
            <a:off x="36576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GET/POST/DELETE .../apn-pools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27432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4" name="Text 42"/>
          <p:cNvSpPr/>
          <p:nvPr/>
        </p:nvSpPr>
        <p:spPr>
          <a:xfrm>
            <a:off x="36576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/v1/iccid-range-configs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7432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6" name="Text 44"/>
          <p:cNvSpPr/>
          <p:nvPr/>
        </p:nvSpPr>
        <p:spPr>
          <a:xfrm>
            <a:off x="36576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.../imsi-slots (multi-IMSI)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200400" y="2971800"/>
            <a:ext cx="2743200" cy="292608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8" name="Text 46"/>
          <p:cNvSpPr/>
          <p:nvPr/>
        </p:nvSpPr>
        <p:spPr>
          <a:xfrm>
            <a:off x="320040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First-Connection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320040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0" name="Text 48"/>
          <p:cNvSpPr/>
          <p:nvPr/>
        </p:nvSpPr>
        <p:spPr>
          <a:xfrm>
            <a:off x="329184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/v1/first-connection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20040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2" name="Text 50"/>
          <p:cNvSpPr/>
          <p:nvPr/>
        </p:nvSpPr>
        <p:spPr>
          <a:xfrm>
            <a:off x="329184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Idempotent allocation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20040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4" name="Text 52"/>
          <p:cNvSpPr/>
          <p:nvPr/>
        </p:nvSpPr>
        <p:spPr>
          <a:xfrm>
            <a:off x="329184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Returns sim_id + IP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0040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6" name="Text 54"/>
          <p:cNvSpPr/>
          <p:nvPr/>
        </p:nvSpPr>
        <p:spPr>
          <a:xfrm>
            <a:off x="329184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503 if pool exhausted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126480" y="2971800"/>
            <a:ext cx="2743200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8" name="Text 56"/>
          <p:cNvSpPr/>
          <p:nvPr/>
        </p:nvSpPr>
        <p:spPr>
          <a:xfrm>
            <a:off x="612648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Bulk &amp; Jobs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12648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0" name="Text 58"/>
          <p:cNvSpPr/>
          <p:nvPr/>
        </p:nvSpPr>
        <p:spPr>
          <a:xfrm>
            <a:off x="621792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/v1/profiles/bulk (JSON)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612648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2" name="Text 60"/>
          <p:cNvSpPr/>
          <p:nvPr/>
        </p:nvSpPr>
        <p:spPr>
          <a:xfrm>
            <a:off x="621792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/v1/profiles/bulk (CSV)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12648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4" name="Text 62"/>
          <p:cNvSpPr/>
          <p:nvPr/>
        </p:nvSpPr>
        <p:spPr>
          <a:xfrm>
            <a:off x="621792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/v1/jobs/{job_id}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12648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6" name="Text 64"/>
          <p:cNvSpPr/>
          <p:nvPr/>
        </p:nvSpPr>
        <p:spPr>
          <a:xfrm>
            <a:off x="621792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queued / processing / done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Bulk Provisioning: Async Job Processing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E75B6"/>
                </a:solidFill>
              </a:rPr>
              <a:t>Up to 100,000 profiles per job — JSON or CSV, never blocks the API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1920240" cy="19202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Shape 4"/>
          <p:cNvSpPr/>
          <p:nvPr/>
        </p:nvSpPr>
        <p:spPr>
          <a:xfrm>
            <a:off x="109728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109728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5B6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747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Submit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747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</a:rPr>
              <a:t>POST /v1/profiles/bulk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</a:rPr>
              <a:t>JSON array or CSV file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</a:rPr>
              <a:t>(up to 100K profiles)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19456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377440" y="1005840"/>
            <a:ext cx="1920240" cy="192024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2" name="Shape 10"/>
          <p:cNvSpPr/>
          <p:nvPr/>
        </p:nvSpPr>
        <p:spPr>
          <a:xfrm>
            <a:off x="320040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Text 11"/>
          <p:cNvSpPr/>
          <p:nvPr/>
        </p:nvSpPr>
        <p:spPr>
          <a:xfrm>
            <a:off x="320040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55A8A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5059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202 Accepted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45059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</a:rPr>
              <a:t>Returns job_id immediately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</a:rPr>
              <a:t>No waiting — fully async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</a:rPr>
              <a:t>status_url provided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29768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480560" y="1005840"/>
            <a:ext cx="1920240" cy="192024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8" name="Shape 16"/>
          <p:cNvSpPr/>
          <p:nvPr/>
        </p:nvSpPr>
        <p:spPr>
          <a:xfrm>
            <a:off x="530352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Text 17"/>
          <p:cNvSpPr/>
          <p:nvPr/>
        </p:nvSpPr>
        <p:spPr>
          <a:xfrm>
            <a:off x="530352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3D60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5371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Thread Pool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5371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</a:rPr>
              <a:t>BULK_WORKER_THREADS (default 2)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</a:rPr>
              <a:t>Processes in batches of 1,000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</a:rPr>
              <a:t>INSERT ON CONFLICT (upsert)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583680" y="1005840"/>
            <a:ext cx="1920240" cy="192024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24" name="Shape 22"/>
          <p:cNvSpPr/>
          <p:nvPr/>
        </p:nvSpPr>
        <p:spPr>
          <a:xfrm>
            <a:off x="740664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Text 23"/>
          <p:cNvSpPr/>
          <p:nvPr/>
        </p:nvSpPr>
        <p:spPr>
          <a:xfrm>
            <a:off x="740664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CC8C"/>
                </a:solidFill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5683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Poll Status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5683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</a:rPr>
              <a:t>GET /v1/jobs/{job_id}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</a:rPr>
              <a:t>queued → processing → completed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</a:rPr>
              <a:t>processed + failed + errors[]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74320" y="3127248"/>
            <a:ext cx="4114800" cy="169164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9" name="Shape 27"/>
          <p:cNvSpPr/>
          <p:nvPr/>
        </p:nvSpPr>
        <p:spPr>
          <a:xfrm>
            <a:off x="274320" y="3127248"/>
            <a:ext cx="54864" cy="16916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Text 28"/>
          <p:cNvSpPr/>
          <p:nvPr/>
        </p:nvSpPr>
        <p:spPr>
          <a:xfrm>
            <a:off x="402336" y="32004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</a:rPr>
              <a:t>Error Handling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2336" y="3520440"/>
            <a:ext cx="3886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Failed rows do not abort the job — errors are accumulated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Each error contains: row number, field, message, bad value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Job completes with processed=N, failed=M, errors=[...]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0" y="3127248"/>
            <a:ext cx="4297680" cy="16916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Text 31"/>
          <p:cNvSpPr/>
          <p:nvPr/>
        </p:nvSpPr>
        <p:spPr>
          <a:xfrm>
            <a:off x="4663440" y="320040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A8E8"/>
                </a:solidFill>
              </a:rPr>
              <a:t>Example response (GET /v1/jobs/{id})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663440" y="35112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{"job_id": "abc123",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663440" y="369417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"status": "completed",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63440" y="38770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"processed": 4997,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663440" y="405993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"failed": 3,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663440" y="424281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"errors": [{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663440" y="44256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"row": 42, "field": "imsi",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663440" y="460857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"message": "Must be 15 digits"}]}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Observability &amp; Monitoring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E75B6"/>
                </a:solidFill>
              </a:rPr>
              <a:t>Prometheus metrics, structured JSON logs, Grafana dashboards, auto-alerting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</a:rPr>
              <a:t>Key Prometheus Metrics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Metric Name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lookup_latency_ms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p50/p95/p99 per result label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lookup_result_total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resolved / not_found / suspended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first_connection_total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allocated / reused / pool_exhausted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pool_exhausted_total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pool_id — alert if rate &gt; 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bulk_job_duration_seconds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End-to-end bulk job 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api_request_duration_ms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endpoints by method+path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217920" y="96012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</a:rPr>
              <a:t>Alerting Rules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17920" y="128016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Shape 6"/>
          <p:cNvSpPr/>
          <p:nvPr/>
        </p:nvSpPr>
        <p:spPr>
          <a:xfrm>
            <a:off x="8686800" y="1280160"/>
            <a:ext cx="182880" cy="68580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6309360" y="131673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</a:rPr>
              <a:t>p99 Latency High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309360" y="15727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&gt; 15ms for 2+ min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6217920" y="205740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Shape 10"/>
          <p:cNvSpPr/>
          <p:nvPr/>
        </p:nvSpPr>
        <p:spPr>
          <a:xfrm>
            <a:off x="8686800" y="2057400"/>
            <a:ext cx="182880" cy="6858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Text 11"/>
          <p:cNvSpPr/>
          <p:nvPr/>
        </p:nvSpPr>
        <p:spPr>
          <a:xfrm>
            <a:off x="6309360" y="20939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</a:rPr>
              <a:t>Pool Exhausted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30936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rate &gt; 0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217920" y="283464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Shape 14"/>
          <p:cNvSpPr/>
          <p:nvPr/>
        </p:nvSpPr>
        <p:spPr>
          <a:xfrm>
            <a:off x="8686800" y="2834640"/>
            <a:ext cx="182880" cy="6858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8" name="Text 15"/>
          <p:cNvSpPr/>
          <p:nvPr/>
        </p:nvSpPr>
        <p:spPr>
          <a:xfrm>
            <a:off x="6309360" y="287121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</a:rPr>
              <a:t>Not-Found Spike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30936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&gt; 5x baseline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217920" y="361188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Shape 18"/>
          <p:cNvSpPr/>
          <p:nvPr/>
        </p:nvSpPr>
        <p:spPr>
          <a:xfrm>
            <a:off x="8686800" y="3611880"/>
            <a:ext cx="182880" cy="68580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19"/>
          <p:cNvSpPr/>
          <p:nvPr/>
        </p:nvSpPr>
        <p:spPr>
          <a:xfrm>
            <a:off x="6309360" y="364845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</a:rPr>
              <a:t>DB Primary Down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309360" y="39044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connection lost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274320" y="37033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</a:rPr>
              <a:t>Structured JSON Logging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274320" y="4023360"/>
            <a:ext cx="8595360" cy="8412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Text 23"/>
          <p:cNvSpPr/>
          <p:nvPr/>
        </p:nvSpPr>
        <p:spPr>
          <a:xfrm>
            <a:off x="411480" y="4114800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"ts":"2026-03-13T14:00:00Z", "imsi_hash":"278773..", "apn":"internet.op.com", "result":"resolved", "latency_ms":2.4, "ip_resolution":"imsi" }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11480" y="466344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5A623"/>
                </a:solidFill>
              </a:rPr>
              <a:t>Note: Raw IMSI is NEVER logged — SHA-256(imsi)[0:8] is used instead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Kubernetes Deployment Architecture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E75B6"/>
                </a:solidFill>
              </a:rPr>
              <a:t>Helm umbrella chart — all components in aaa-platform namespace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3794760"/>
          </a:xfrm>
          <a:prstGeom prst="rect">
            <a:avLst/>
          </a:prstGeom>
          <a:solidFill>
            <a:srgbClr val="F8FAFF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411480" y="1005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</a:rPr>
              <a:t>aaa-platform  (Kubernetes Namespace)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89888"/>
            <a:ext cx="1920240" cy="9144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</a:rPr>
              <a:t>aaa-lookup-service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</a:rPr>
              <a:t>(C++, 3-6 replicas)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8081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560320" y="1389888"/>
            <a:ext cx="1920240" cy="91440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256032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</a:rPr>
              <a:t>subscriber-profile-api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</a:rPr>
              <a:t>(Python, 2-4 replicas)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6032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8080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663440" y="1389888"/>
            <a:ext cx="1920240" cy="91440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466344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</a:rPr>
              <a:t>aaa-management-ui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</a:rPr>
              <a:t>(React, 1-2 replicas)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66344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766560" y="1389888"/>
            <a:ext cx="1920240" cy="914400"/>
          </a:xfrm>
          <a:prstGeom prst="rect">
            <a:avLst/>
          </a:prstGeom>
          <a:solidFill>
            <a:srgbClr val="3C4D6B"/>
          </a:solidFill>
          <a:ln w="12700">
            <a:solidFill>
              <a:srgbClr val="3C4D6B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676656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</a:rPr>
              <a:t>Prometheus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</a:rPr>
              <a:t>+ Grafana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9090/3000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417320" y="2304288"/>
            <a:ext cx="0" cy="365760"/>
          </a:xfrm>
          <a:prstGeom prst="line">
            <a:avLst/>
          </a:prstGeom>
          <a:noFill/>
          <a:ln w="1270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Shape 18"/>
          <p:cNvSpPr/>
          <p:nvPr/>
        </p:nvSpPr>
        <p:spPr>
          <a:xfrm>
            <a:off x="3520440" y="2304288"/>
            <a:ext cx="0" cy="365760"/>
          </a:xfrm>
          <a:prstGeom prst="line">
            <a:avLst/>
          </a:prstGeom>
          <a:noFill/>
          <a:ln w="1270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Shape 19"/>
          <p:cNvSpPr/>
          <p:nvPr/>
        </p:nvSpPr>
        <p:spPr>
          <a:xfrm>
            <a:off x="457200" y="2670048"/>
            <a:ext cx="5029200" cy="914400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Shape 20"/>
          <p:cNvSpPr/>
          <p:nvPr/>
        </p:nvSpPr>
        <p:spPr>
          <a:xfrm>
            <a:off x="54864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Text 21"/>
          <p:cNvSpPr/>
          <p:nvPr/>
        </p:nvSpPr>
        <p:spPr>
          <a:xfrm>
            <a:off x="54864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PostgreSQL Primary (CNPG)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78308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Text 23"/>
          <p:cNvSpPr/>
          <p:nvPr/>
        </p:nvSpPr>
        <p:spPr>
          <a:xfrm>
            <a:off x="178308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PgBouncer RW (pooler)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01752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7" name="Text 25"/>
          <p:cNvSpPr/>
          <p:nvPr/>
        </p:nvSpPr>
        <p:spPr>
          <a:xfrm>
            <a:off x="301752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PgBouncer RO (pooler)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25196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9" name="Text 27"/>
          <p:cNvSpPr/>
          <p:nvPr/>
        </p:nvSpPr>
        <p:spPr>
          <a:xfrm>
            <a:off x="425196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Read Replica(s)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7200" y="3794760"/>
            <a:ext cx="5029200" cy="640080"/>
          </a:xfrm>
          <a:prstGeom prst="rect">
            <a:avLst/>
          </a:prstGeom>
          <a:solidFill>
            <a:srgbClr val="EEF3FB"/>
          </a:solidFill>
          <a:ln w="6350">
            <a:solidFill>
              <a:srgbClr val="B0C4D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1" name="Text 29"/>
          <p:cNvSpPr/>
          <p:nvPr/>
        </p:nvSpPr>
        <p:spPr>
          <a:xfrm>
            <a:off x="502920" y="37947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</a:rPr>
              <a:t>nginx-ingress  |  lookup.aaa.localhost → :8081  |  provisioning.aaa.localhost → :8080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760720" y="1389888"/>
            <a:ext cx="3017520" cy="1600200"/>
          </a:xfrm>
          <a:prstGeom prst="rect">
            <a:avLst/>
          </a:prstGeom>
          <a:solidFill>
            <a:srgbClr val="EEF3FB"/>
          </a:solidFill>
          <a:ln w="12700">
            <a:solidFill>
              <a:srgbClr val="B0C4D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Text 31"/>
          <p:cNvSpPr/>
          <p:nvPr/>
        </p:nvSpPr>
        <p:spPr>
          <a:xfrm>
            <a:off x="5852160" y="14447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Helm Charts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852160" y="17647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aaa-platform (umbrella)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52160" y="19933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aaa-database (CNPG)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52160" y="22219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aaa-lookup-service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52160" y="24505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subscriber-profile-api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52160" y="26791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aaa-management-ui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760720" y="3090672"/>
            <a:ext cx="3017520" cy="1344168"/>
          </a:xfrm>
          <a:prstGeom prst="rect">
            <a:avLst/>
          </a:prstGeom>
          <a:solidFill>
            <a:srgbClr val="EEF3FB"/>
          </a:solidFill>
          <a:ln w="12700">
            <a:solidFill>
              <a:srgbClr val="B0C4D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0" name="Text 38"/>
          <p:cNvSpPr/>
          <p:nvPr/>
        </p:nvSpPr>
        <p:spPr>
          <a:xfrm>
            <a:off x="5852160" y="314553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Storage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852160" y="34930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Dev: local-path (k3d) (5 Gi)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852160" y="378561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Prod: gp3-encrypted (EBS) (100 Gi)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852160" y="40782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Prometheus: local-path / gp3 (5-50 Gi)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Developer Workflow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E75B6"/>
                </a:solidFill>
              </a:rPr>
              <a:t>Makefile-driven local development with k3d + hot-reload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</a:rPr>
              <a:t>Bootstrap (first time):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29844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365760" y="133502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bootstrap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94560" y="13350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cluster-up + hosts + build-all + push-all + deploy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80136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365760" y="183794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status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94560" y="183794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Show all pod statuses in aaa-platform namespace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30428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Text 11"/>
          <p:cNvSpPr/>
          <p:nvPr/>
        </p:nvSpPr>
        <p:spPr>
          <a:xfrm>
            <a:off x="365760" y="23408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194560" y="234086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Run 11-module regression suite as K8s Job (~15 min)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4320" y="2852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</a:rPr>
              <a:t>Port-Forward (local dev):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200400"/>
            <a:ext cx="4572000" cy="36576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384048" y="322783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port-forward-api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78608" y="322783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localhost:8080 (subscriber-profile-api)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3630168"/>
            <a:ext cx="45720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Text 18"/>
          <p:cNvSpPr/>
          <p:nvPr/>
        </p:nvSpPr>
        <p:spPr>
          <a:xfrm>
            <a:off x="384048" y="36576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port-forward-lookup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78608" y="3657600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localhost:8081 (aaa-lookup-service)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4059936"/>
            <a:ext cx="4572000" cy="36576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Text 21"/>
          <p:cNvSpPr/>
          <p:nvPr/>
        </p:nvSpPr>
        <p:spPr>
          <a:xfrm>
            <a:off x="384048" y="408736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port-forward-db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78608" y="4087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localhost:5432 (psql, DBeaver)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4489704"/>
            <a:ext cx="45720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Text 24"/>
          <p:cNvSpPr/>
          <p:nvPr/>
        </p:nvSpPr>
        <p:spPr>
          <a:xfrm>
            <a:off x="384048" y="451713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port-forward-grafana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578608" y="451713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localhost:3000 (admin/dev-grafana)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120640" y="960120"/>
            <a:ext cx="3749040" cy="388620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9" name="Shape 27"/>
          <p:cNvSpPr/>
          <p:nvPr/>
        </p:nvSpPr>
        <p:spPr>
          <a:xfrm>
            <a:off x="5120640" y="960120"/>
            <a:ext cx="3749040" cy="329184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Text 28"/>
          <p:cNvSpPr/>
          <p:nvPr/>
        </p:nvSpPr>
        <p:spPr>
          <a:xfrm>
            <a:off x="5166360" y="9601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Regression Test Suite (11 Modules)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230368" y="13716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</a:rPr>
              <a:t>test_01_pools.py — IP pool CRUD &amp; exhaustion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230368" y="1719072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Text 31"/>
          <p:cNvSpPr/>
          <p:nvPr/>
        </p:nvSpPr>
        <p:spPr>
          <a:xfrm>
            <a:off x="5230368" y="175564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</a:rPr>
              <a:t>test_02_range_configs.py — IMSI range CRUD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230368" y="2103120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5" name="Text 33"/>
          <p:cNvSpPr/>
          <p:nvPr/>
        </p:nvSpPr>
        <p:spPr>
          <a:xfrm>
            <a:off x="5230368" y="213969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</a:rPr>
              <a:t>test_03/04/05 — Profiles A / B / C modes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230368" y="2487168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7" name="Text 35"/>
          <p:cNvSpPr/>
          <p:nvPr/>
        </p:nvSpPr>
        <p:spPr>
          <a:xfrm>
            <a:off x="5230368" y="25237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</a:rPr>
              <a:t>test_06_imsi_ops.py — IMSI add/remove/update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230368" y="2871216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9" name="Text 37"/>
          <p:cNvSpPr/>
          <p:nvPr/>
        </p:nvSpPr>
        <p:spPr>
          <a:xfrm>
            <a:off x="5230368" y="290779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</a:rPr>
              <a:t>test_07_dynamic_alloc.py — First-connection flow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230368" y="3255264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1" name="Text 39"/>
          <p:cNvSpPr/>
          <p:nvPr/>
        </p:nvSpPr>
        <p:spPr>
          <a:xfrm>
            <a:off x="5230368" y="32918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</a:rPr>
              <a:t>test_08_bulk.py — JSON + CSV bulk upsert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230368" y="3639312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3" name="Text 41"/>
          <p:cNvSpPr/>
          <p:nvPr/>
        </p:nvSpPr>
        <p:spPr>
          <a:xfrm>
            <a:off x="5230368" y="36758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</a:rPr>
              <a:t>test_09_migration.py — MariaDB → PostgreSQL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230368" y="4023360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5" name="Text 43"/>
          <p:cNvSpPr/>
          <p:nvPr/>
        </p:nvSpPr>
        <p:spPr>
          <a:xfrm>
            <a:off x="5230368" y="405993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</a:rPr>
              <a:t>test_10_errors.py — Validation &amp; conflicts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230368" y="4407408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7" name="Text 45"/>
          <p:cNvSpPr/>
          <p:nvPr/>
        </p:nvSpPr>
        <p:spPr>
          <a:xfrm>
            <a:off x="5230368" y="444398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</a:rPr>
              <a:t>test_11_performance.py — Latency &amp; stress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230368" y="4791456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274320" y="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Auto-Allocation Scenarios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766560" y="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EA8E8"/>
                </a:solidFill>
              </a:rPr>
              <a:t>POST /v1/first-connection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4592" y="749808"/>
            <a:ext cx="347472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192024" y="749808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#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12064" y="749808"/>
            <a:ext cx="141732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8" name="Text 6"/>
          <p:cNvSpPr/>
          <p:nvPr/>
        </p:nvSpPr>
        <p:spPr>
          <a:xfrm>
            <a:off x="539496" y="749808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SIM type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929384" y="749808"/>
            <a:ext cx="100584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1956816" y="74980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Mode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935224" y="749808"/>
            <a:ext cx="100584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" name="Text 10"/>
          <p:cNvSpPr/>
          <p:nvPr/>
        </p:nvSpPr>
        <p:spPr>
          <a:xfrm>
            <a:off x="2962656" y="74980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APN catalog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41064" y="749808"/>
            <a:ext cx="658368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3968496" y="749808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IPs / SIM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99432" y="749808"/>
            <a:ext cx="137160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Text 14"/>
          <p:cNvSpPr/>
          <p:nvPr/>
        </p:nvSpPr>
        <p:spPr>
          <a:xfrm>
            <a:off x="4626864" y="749808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Config steps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71032" y="749808"/>
            <a:ext cx="169164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8" name="Text 16"/>
          <p:cNvSpPr/>
          <p:nvPr/>
        </p:nvSpPr>
        <p:spPr>
          <a:xfrm>
            <a:off x="5998464" y="74980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First connect provisions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64592" y="1078992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Text 18"/>
          <p:cNvSpPr/>
          <p:nvPr/>
        </p:nvSpPr>
        <p:spPr>
          <a:xfrm>
            <a:off x="192024" y="107899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E2761"/>
                </a:solidFill>
              </a:rPr>
              <a:t>S1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12064" y="1078992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539496" y="1078992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1929384" y="1078992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Text 22"/>
          <p:cNvSpPr/>
          <p:nvPr/>
        </p:nvSpPr>
        <p:spPr>
          <a:xfrm>
            <a:off x="1956816" y="107899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E75B6"/>
                </a:solidFill>
              </a:rPr>
              <a:t>imsi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935224" y="1078992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Text 24"/>
          <p:cNvSpPr/>
          <p:nvPr/>
        </p:nvSpPr>
        <p:spPr>
          <a:xfrm>
            <a:off x="2962656" y="107899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941064" y="1078992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8" name="Text 26"/>
          <p:cNvSpPr/>
          <p:nvPr/>
        </p:nvSpPr>
        <p:spPr>
          <a:xfrm>
            <a:off x="3968496" y="1078992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ECC8C"/>
                </a:solidFill>
              </a:rPr>
              <a:t>1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599432" y="1078992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Text 28"/>
          <p:cNvSpPr/>
          <p:nvPr/>
        </p:nvSpPr>
        <p:spPr>
          <a:xfrm>
            <a:off x="4626864" y="1078992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pool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971032" y="1078992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2" name="Text 30"/>
          <p:cNvSpPr/>
          <p:nvPr/>
        </p:nvSpPr>
        <p:spPr>
          <a:xfrm>
            <a:off x="5998464" y="1078992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1 IP → imsi_apn_ips (apn=NULL)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64592" y="1408176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4" name="Text 32"/>
          <p:cNvSpPr/>
          <p:nvPr/>
        </p:nvSpPr>
        <p:spPr>
          <a:xfrm>
            <a:off x="192024" y="1408176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E2761"/>
                </a:solidFill>
              </a:rPr>
              <a:t>S2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12064" y="1408176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6" name="Text 34"/>
          <p:cNvSpPr/>
          <p:nvPr/>
        </p:nvSpPr>
        <p:spPr>
          <a:xfrm>
            <a:off x="539496" y="1408176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1929384" y="1408176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8" name="Text 36"/>
          <p:cNvSpPr/>
          <p:nvPr/>
        </p:nvSpPr>
        <p:spPr>
          <a:xfrm>
            <a:off x="1956816" y="140817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E75B6"/>
                </a:solidFill>
              </a:rPr>
              <a:t>imsi_apn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935224" y="1408176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0" name="Text 38"/>
          <p:cNvSpPr/>
          <p:nvPr/>
        </p:nvSpPr>
        <p:spPr>
          <a:xfrm>
            <a:off x="2962656" y="140817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941064" y="1408176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2" name="Text 40"/>
          <p:cNvSpPr/>
          <p:nvPr/>
        </p:nvSpPr>
        <p:spPr>
          <a:xfrm>
            <a:off x="3968496" y="1408176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ECC8C"/>
                </a:solidFill>
              </a:rPr>
              <a:t>N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99432" y="1408176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4" name="Text 42"/>
          <p:cNvSpPr/>
          <p:nvPr/>
        </p:nvSpPr>
        <p:spPr>
          <a:xfrm>
            <a:off x="4626864" y="1408176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apn-pools (×N)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971032" y="1408176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6" name="Text 44"/>
          <p:cNvSpPr/>
          <p:nvPr/>
        </p:nvSpPr>
        <p:spPr>
          <a:xfrm>
            <a:off x="5998464" y="1408176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N IPs → imsi_apn_ips per APN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164592" y="1737360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8" name="Text 46"/>
          <p:cNvSpPr/>
          <p:nvPr/>
        </p:nvSpPr>
        <p:spPr>
          <a:xfrm>
            <a:off x="192024" y="1737360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E2761"/>
                </a:solidFill>
              </a:rPr>
              <a:t>S3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12064" y="1737360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0" name="Text 48"/>
          <p:cNvSpPr/>
          <p:nvPr/>
        </p:nvSpPr>
        <p:spPr>
          <a:xfrm>
            <a:off x="539496" y="173736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1929384" y="1737360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2" name="Text 50"/>
          <p:cNvSpPr/>
          <p:nvPr/>
        </p:nvSpPr>
        <p:spPr>
          <a:xfrm>
            <a:off x="1956816" y="173736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E75B6"/>
                </a:solidFill>
              </a:rPr>
              <a:t>iccid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935224" y="1737360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4" name="Text 52"/>
          <p:cNvSpPr/>
          <p:nvPr/>
        </p:nvSpPr>
        <p:spPr>
          <a:xfrm>
            <a:off x="2962656" y="173736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941064" y="1737360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6" name="Text 54"/>
          <p:cNvSpPr/>
          <p:nvPr/>
        </p:nvSpPr>
        <p:spPr>
          <a:xfrm>
            <a:off x="3968496" y="1737360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ECC8C"/>
                </a:solidFill>
              </a:rPr>
              <a:t>1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599432" y="1737360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8" name="Text 56"/>
          <p:cNvSpPr/>
          <p:nvPr/>
        </p:nvSpPr>
        <p:spPr>
          <a:xfrm>
            <a:off x="4626864" y="1737360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pool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71032" y="1737360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0" name="Text 58"/>
          <p:cNvSpPr/>
          <p:nvPr/>
        </p:nvSpPr>
        <p:spPr>
          <a:xfrm>
            <a:off x="5998464" y="1737360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1 IP → sim_apn_ips (apn=NULL)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64592" y="2066544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2" name="Text 60"/>
          <p:cNvSpPr/>
          <p:nvPr/>
        </p:nvSpPr>
        <p:spPr>
          <a:xfrm>
            <a:off x="192024" y="2066544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E2761"/>
                </a:solidFill>
              </a:rPr>
              <a:t>S4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512064" y="2066544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4" name="Text 62"/>
          <p:cNvSpPr/>
          <p:nvPr/>
        </p:nvSpPr>
        <p:spPr>
          <a:xfrm>
            <a:off x="539496" y="20665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1929384" y="2066544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6" name="Text 64"/>
          <p:cNvSpPr/>
          <p:nvPr/>
        </p:nvSpPr>
        <p:spPr>
          <a:xfrm>
            <a:off x="1956816" y="2066544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E75B6"/>
                </a:solidFill>
              </a:rPr>
              <a:t>iccid_apn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2935224" y="2066544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8" name="Text 66"/>
          <p:cNvSpPr/>
          <p:nvPr/>
        </p:nvSpPr>
        <p:spPr>
          <a:xfrm>
            <a:off x="2962656" y="2066544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3941064" y="2066544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0" name="Text 68"/>
          <p:cNvSpPr/>
          <p:nvPr/>
        </p:nvSpPr>
        <p:spPr>
          <a:xfrm>
            <a:off x="3968496" y="2066544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ECC8C"/>
                </a:solidFill>
              </a:rPr>
              <a:t>N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599432" y="2066544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2" name="Text 70"/>
          <p:cNvSpPr/>
          <p:nvPr/>
        </p:nvSpPr>
        <p:spPr>
          <a:xfrm>
            <a:off x="4626864" y="2066544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apn-pools (×N)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5971032" y="2066544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4" name="Text 72"/>
          <p:cNvSpPr/>
          <p:nvPr/>
        </p:nvSpPr>
        <p:spPr>
          <a:xfrm>
            <a:off x="5998464" y="2066544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N IPs → sim_apn_ips per APN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164592" y="2395728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6" name="Text 74"/>
          <p:cNvSpPr/>
          <p:nvPr/>
        </p:nvSpPr>
        <p:spPr>
          <a:xfrm>
            <a:off x="192024" y="2395728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E2761"/>
                </a:solidFill>
              </a:rPr>
              <a:t>M1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12064" y="2395728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8" name="Text 76"/>
          <p:cNvSpPr/>
          <p:nvPr/>
        </p:nvSpPr>
        <p:spPr>
          <a:xfrm>
            <a:off x="539496" y="2395728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1929384" y="2395728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80" name="Text 78"/>
          <p:cNvSpPr/>
          <p:nvPr/>
        </p:nvSpPr>
        <p:spPr>
          <a:xfrm>
            <a:off x="1956816" y="239572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FC3F7"/>
                </a:solidFill>
              </a:rPr>
              <a:t>imsi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2935224" y="2395728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82" name="Text 80"/>
          <p:cNvSpPr/>
          <p:nvPr/>
        </p:nvSpPr>
        <p:spPr>
          <a:xfrm>
            <a:off x="2962656" y="239572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3941064" y="2395728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84" name="Text 82"/>
          <p:cNvSpPr/>
          <p:nvPr/>
        </p:nvSpPr>
        <p:spPr>
          <a:xfrm>
            <a:off x="3968496" y="2395728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ECC8C"/>
                </a:solidFill>
              </a:rPr>
              <a:t>M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4599432" y="2395728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86" name="Text 84"/>
          <p:cNvSpPr/>
          <p:nvPr/>
        </p:nvSpPr>
        <p:spPr>
          <a:xfrm>
            <a:off x="4626864" y="2395728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 (per-slot pools opt.)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5971032" y="2395728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88" name="Text 86"/>
          <p:cNvSpPr/>
          <p:nvPr/>
        </p:nvSpPr>
        <p:spPr>
          <a:xfrm>
            <a:off x="5998464" y="239572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M IPs — 1 per slot, all in 1 COMMIT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164592" y="2724912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0" name="Text 88"/>
          <p:cNvSpPr/>
          <p:nvPr/>
        </p:nvSpPr>
        <p:spPr>
          <a:xfrm>
            <a:off x="192024" y="272491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E2761"/>
                </a:solidFill>
              </a:rPr>
              <a:t>M2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512064" y="2724912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2" name="Text 90"/>
          <p:cNvSpPr/>
          <p:nvPr/>
        </p:nvSpPr>
        <p:spPr>
          <a:xfrm>
            <a:off x="539496" y="2724912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1929384" y="2724912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4" name="Text 92"/>
          <p:cNvSpPr/>
          <p:nvPr/>
        </p:nvSpPr>
        <p:spPr>
          <a:xfrm>
            <a:off x="1956816" y="272491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FC3F7"/>
                </a:solidFill>
              </a:rPr>
              <a:t>imsi_apn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2935224" y="2724912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6" name="Text 94"/>
          <p:cNvSpPr/>
          <p:nvPr/>
        </p:nvSpPr>
        <p:spPr>
          <a:xfrm>
            <a:off x="2962656" y="272491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3941064" y="2724912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8" name="Text 96"/>
          <p:cNvSpPr/>
          <p:nvPr/>
        </p:nvSpPr>
        <p:spPr>
          <a:xfrm>
            <a:off x="3968496" y="2724912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ECC8C"/>
                </a:solidFill>
              </a:rPr>
              <a:t>M×N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4599432" y="2724912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0" name="Text 98"/>
          <p:cNvSpPr/>
          <p:nvPr/>
        </p:nvSpPr>
        <p:spPr>
          <a:xfrm>
            <a:off x="4626864" y="2724912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 + apn-pools on each slot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5971032" y="2724912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2" name="Text 100"/>
          <p:cNvSpPr/>
          <p:nvPr/>
        </p:nvSpPr>
        <p:spPr>
          <a:xfrm>
            <a:off x="5998464" y="2724912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M×N IPs — per-slot per-APN, 1 COMMIT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164592" y="3054096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4" name="Text 102"/>
          <p:cNvSpPr/>
          <p:nvPr/>
        </p:nvSpPr>
        <p:spPr>
          <a:xfrm>
            <a:off x="192024" y="3054096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E2761"/>
                </a:solidFill>
              </a:rPr>
              <a:t>M3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512064" y="3054096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6" name="Text 104"/>
          <p:cNvSpPr/>
          <p:nvPr/>
        </p:nvSpPr>
        <p:spPr>
          <a:xfrm>
            <a:off x="539496" y="3054096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1929384" y="3054096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8" name="Text 106"/>
          <p:cNvSpPr/>
          <p:nvPr/>
        </p:nvSpPr>
        <p:spPr>
          <a:xfrm>
            <a:off x="1956816" y="305409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FC3F7"/>
                </a:solidFill>
              </a:rPr>
              <a:t>iccid</a:t>
            </a:r>
            <a:endParaRPr lang="en-US" sz="850" dirty="0"/>
          </a:p>
        </p:txBody>
      </p:sp>
      <p:sp>
        <p:nvSpPr>
          <p:cNvPr id="109" name="Shape 107"/>
          <p:cNvSpPr/>
          <p:nvPr/>
        </p:nvSpPr>
        <p:spPr>
          <a:xfrm>
            <a:off x="2935224" y="3054096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0" name="Text 108"/>
          <p:cNvSpPr/>
          <p:nvPr/>
        </p:nvSpPr>
        <p:spPr>
          <a:xfrm>
            <a:off x="2962656" y="305409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3941064" y="3054096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2" name="Text 110"/>
          <p:cNvSpPr/>
          <p:nvPr/>
        </p:nvSpPr>
        <p:spPr>
          <a:xfrm>
            <a:off x="3968496" y="3054096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ECC8C"/>
                </a:solidFill>
              </a:rPr>
              <a:t>1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4599432" y="3054096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4" name="Text 112"/>
          <p:cNvSpPr/>
          <p:nvPr/>
        </p:nvSpPr>
        <p:spPr>
          <a:xfrm>
            <a:off x="4626864" y="3054096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5971032" y="3054096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6" name="Text 114"/>
          <p:cNvSpPr/>
          <p:nvPr/>
        </p:nvSpPr>
        <p:spPr>
          <a:xfrm>
            <a:off x="5998464" y="3054096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1 IP shared — all slots, 1 COMMIT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164592" y="3383280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8" name="Text 116"/>
          <p:cNvSpPr/>
          <p:nvPr/>
        </p:nvSpPr>
        <p:spPr>
          <a:xfrm>
            <a:off x="192024" y="3383280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E2761"/>
                </a:solidFill>
              </a:rPr>
              <a:t>M4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512064" y="3383280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0" name="Text 118"/>
          <p:cNvSpPr/>
          <p:nvPr/>
        </p:nvSpPr>
        <p:spPr>
          <a:xfrm>
            <a:off x="539496" y="33832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1929384" y="3383280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2" name="Text 120"/>
          <p:cNvSpPr/>
          <p:nvPr/>
        </p:nvSpPr>
        <p:spPr>
          <a:xfrm>
            <a:off x="1956816" y="338328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FC3F7"/>
                </a:solidFill>
              </a:rPr>
              <a:t>iccid_apn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2935224" y="3383280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4" name="Text 122"/>
          <p:cNvSpPr/>
          <p:nvPr/>
        </p:nvSpPr>
        <p:spPr>
          <a:xfrm>
            <a:off x="2962656" y="338328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125" name="Shape 123"/>
          <p:cNvSpPr/>
          <p:nvPr/>
        </p:nvSpPr>
        <p:spPr>
          <a:xfrm>
            <a:off x="3941064" y="3383280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6" name="Text 124"/>
          <p:cNvSpPr/>
          <p:nvPr/>
        </p:nvSpPr>
        <p:spPr>
          <a:xfrm>
            <a:off x="3968496" y="3383280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ECC8C"/>
                </a:solidFill>
              </a:rPr>
              <a:t>N</a:t>
            </a:r>
            <a:endParaRPr lang="en-US" sz="850" dirty="0"/>
          </a:p>
        </p:txBody>
      </p:sp>
      <p:sp>
        <p:nvSpPr>
          <p:cNvPr id="127" name="Shape 125"/>
          <p:cNvSpPr/>
          <p:nvPr/>
        </p:nvSpPr>
        <p:spPr>
          <a:xfrm>
            <a:off x="4599432" y="3383280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8" name="Text 126"/>
          <p:cNvSpPr/>
          <p:nvPr/>
        </p:nvSpPr>
        <p:spPr>
          <a:xfrm>
            <a:off x="4626864" y="3383280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 + apn-pools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5971032" y="3383280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0" name="Text 128"/>
          <p:cNvSpPr/>
          <p:nvPr/>
        </p:nvSpPr>
        <p:spPr>
          <a:xfrm>
            <a:off x="5998464" y="3383280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N IPs shared card-level, 1 COMMIT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164592" y="3785616"/>
            <a:ext cx="8814816" cy="713232"/>
          </a:xfrm>
          <a:prstGeom prst="rect">
            <a:avLst/>
          </a:prstGeom>
          <a:solidFill>
            <a:srgbClr val="EEF3FB"/>
          </a:solidFill>
          <a:ln w="762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2" name="Text 130"/>
          <p:cNvSpPr/>
          <p:nvPr/>
        </p:nvSpPr>
        <p:spPr>
          <a:xfrm>
            <a:off x="256032" y="3803904"/>
            <a:ext cx="8631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N = APN entries in range_config_apn_pools  ·  M = active IMSI slots  ·  All scenarios are idempotent — repeat calls return existing IP with single read, no allocation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Pool resolution: APN override (range_config_apn_pools) → slot pool (imsi_range_configs) → parent pool (iccid_range_configs)  ·  M2 example: 2 slots × 2 APNs = 4 IPs per SIM in one COMMIT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Bulk provisioning: all 8 scenarios supported via POST /v1/profiles/bulk — supply static_ip/pool_id per IP entry for pre-provisioned, or omit for auto-allocation via range config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1148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402336" y="108813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Real-Time Performance Guaranteed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2336" y="146304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EA8E8"/>
                </a:solidFill>
              </a:rPr>
              <a:t>Separated read/write paths ensure RADIUS authentication always stays below 15ms p99 — even as the subscriber base grows.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09160" y="96012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2ECC8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Shape 7"/>
          <p:cNvSpPr/>
          <p:nvPr/>
        </p:nvSpPr>
        <p:spPr>
          <a:xfrm>
            <a:off x="4709160" y="960120"/>
            <a:ext cx="4114800" cy="54864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4837176" y="108813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Zero-Touch First-Connection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37176" y="146304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EA8E8"/>
                </a:solidFill>
              </a:rPr>
              <a:t>Unknown IMSIs are detected and auto-provisioned on first RADIUS attach. Multi-IMSI SIM cards get all slots provisioned atomically in a single transaction.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74320" y="288036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7EA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Shape 11"/>
          <p:cNvSpPr/>
          <p:nvPr/>
        </p:nvSpPr>
        <p:spPr>
          <a:xfrm>
            <a:off x="274320" y="2880360"/>
            <a:ext cx="4114800" cy="54864"/>
          </a:xfrm>
          <a:prstGeom prst="rect">
            <a:avLst/>
          </a:prstGeom>
          <a:solidFill>
            <a:srgbClr val="7EA8E8"/>
          </a:solidFill>
          <a:ln w="12700">
            <a:solidFill>
              <a:srgbClr val="7EA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402336" y="30083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Cloud-Native from the Ground Up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2336" y="338328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EA8E8"/>
                </a:solidFill>
              </a:rPr>
              <a:t>Kubernetes-native with Helm charts, CloudNativePG, PgBouncer, Prometheus, and Grafana. Scales independently per-region, per-service.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09160" y="288036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Shape 15"/>
          <p:cNvSpPr/>
          <p:nvPr/>
        </p:nvSpPr>
        <p:spPr>
          <a:xfrm>
            <a:off x="4709160" y="2880360"/>
            <a:ext cx="411480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8" name="Text 16"/>
          <p:cNvSpPr/>
          <p:nvPr/>
        </p:nvSpPr>
        <p:spPr>
          <a:xfrm>
            <a:off x="4837176" y="30083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Enterprise-Scale Operations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37176" y="338328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EA8E8"/>
                </a:solidFill>
              </a:rPr>
              <a:t>Bulk provisioning of 100K profiles per job, async processing, per-row error accumulation, and full audit trail for compliance.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74320" y="4773168"/>
            <a:ext cx="8595360" cy="0"/>
          </a:xfrm>
          <a:prstGeom prst="line">
            <a:avLst/>
          </a:prstGeom>
          <a:noFill/>
          <a:ln w="6350">
            <a:solidFill>
              <a:srgbClr val="3C4D6B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Text 19"/>
          <p:cNvSpPr/>
          <p:nvPr/>
        </p:nvSpPr>
        <p:spPr>
          <a:xfrm>
            <a:off x="274320" y="4809744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1BD"/>
                </a:solidFill>
              </a:rPr>
              <a:t>aaa-cloud-native  |  Platform Engineering  |  March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3143</Words>
  <Application>Microsoft Office PowerPoint</Application>
  <PresentationFormat>On-screen Show (16:9)</PresentationFormat>
  <Paragraphs>609</Paragraphs>
  <Slides>19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AAA Cloud-Native Platform</dc:title>
  <dc:subject>PptxGenJS Presentation</dc:subject>
  <dc:creator>Platform Engineering</dc:creator>
  <cp:lastModifiedBy>Rony Idan</cp:lastModifiedBy>
  <cp:revision>6</cp:revision>
  <dcterms:created xsi:type="dcterms:W3CDTF">2026-03-25T05:14:18Z</dcterms:created>
  <dcterms:modified xsi:type="dcterms:W3CDTF">2026-05-04T07:36:25Z</dcterms:modified>
</cp:coreProperties>
</file>