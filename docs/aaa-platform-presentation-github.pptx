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2" r:id="rId3"/>
    <p:sldId id="271" r:id="rId4"/>
    <p:sldId id="273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15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Platform Capabilities</a:t>
            </a:r>
          </a:p>
        </p:txBody>
      </p:sp>
      <p:sp>
        <p:nvSpPr>
          <p:cNvPr id="4" name="Divider"/>
          <p:cNvSpPr/>
          <p:nvPr/>
        </p:nvSpPr>
        <p:spPr>
          <a:xfrm>
            <a:off x="4520000" y="620000"/>
            <a:ext cx="0" cy="492000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Item1"/>
          <p:cNvSpPr/>
          <p:nvPr/>
        </p:nvSpPr>
        <p:spPr>
          <a:xfrm>
            <a:off x="160000" y="62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01  </a:t>
            </a:r>
            <a:r>
              <a:rPr lang="en-US" sz="1100" b="1" dirty="0">
                <a:solidFill>
                  <a:srgbClr val="1E2761"/>
                </a:solidFill>
              </a:rPr>
              <a:t>One Platform for All Donors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Single system manages all subscriber profiles across all donors and networks</a:t>
            </a:r>
          </a:p>
        </p:txBody>
      </p:sp>
      <p:sp>
        <p:nvSpPr>
          <p:cNvPr id="6" name="Item2"/>
          <p:cNvSpPr/>
          <p:nvPr/>
        </p:nvSpPr>
        <p:spPr>
          <a:xfrm>
            <a:off x="160000" y="121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02  </a:t>
            </a:r>
            <a:r>
              <a:rPr lang="en-US" sz="1100" b="1" dirty="0">
                <a:solidFill>
                  <a:srgbClr val="1E2761"/>
                </a:solidFill>
              </a:rPr>
              <a:t>Horizontal Scale-Out Capabilities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Add Lookup / API replicas with zero config changes; scales to millions of daily requests</a:t>
            </a:r>
          </a:p>
        </p:txBody>
      </p:sp>
      <p:sp>
        <p:nvSpPr>
          <p:cNvPr id="7" name="Item3"/>
          <p:cNvSpPr/>
          <p:nvPr/>
        </p:nvSpPr>
        <p:spPr>
          <a:xfrm>
            <a:off x="160000" y="180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03  </a:t>
            </a:r>
            <a:r>
              <a:rPr lang="en-US" sz="1100" b="1" dirty="0">
                <a:solidFill>
                  <a:srgbClr val="1E2761"/>
                </a:solidFill>
              </a:rPr>
              <a:t>One UI for All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Unified management portal for subscriber, pool, range-config, and bulk-job management</a:t>
            </a:r>
          </a:p>
        </p:txBody>
      </p:sp>
      <p:sp>
        <p:nvSpPr>
          <p:cNvPr id="8" name="Item4"/>
          <p:cNvSpPr/>
          <p:nvPr/>
        </p:nvSpPr>
        <p:spPr>
          <a:xfrm>
            <a:off x="160000" y="239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04  </a:t>
            </a:r>
            <a:r>
              <a:rPr lang="en-US" sz="1100" b="1" dirty="0">
                <a:solidFill>
                  <a:srgbClr val="1E2761"/>
                </a:solidFill>
              </a:rPr>
              <a:t>Deployable on OCI or On-Premises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Helm-based; runs on OCI Kubernetes, on-premises clusters, or local k3d/k8s</a:t>
            </a:r>
          </a:p>
        </p:txBody>
      </p:sp>
      <p:sp>
        <p:nvSpPr>
          <p:cNvPr id="9" name="Item5"/>
          <p:cNvSpPr/>
          <p:nvPr/>
        </p:nvSpPr>
        <p:spPr>
          <a:xfrm>
            <a:off x="160000" y="2980000"/>
            <a:ext cx="4280000" cy="86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05  </a:t>
            </a:r>
            <a:r>
              <a:rPr lang="en-US" sz="1100" b="1" dirty="0">
                <a:solidFill>
                  <a:srgbClr val="1E2761"/>
                </a:solidFill>
              </a:rPr>
              <a:t>~300 Regression Tests on K8s</a:t>
            </a:r>
          </a:p>
          <a:p>
            <a:pPr marL="457200" indent="0">
              <a:buNone/>
            </a:pPr>
            <a:r>
              <a:rPr lang="en-US" sz="900" dirty="0">
                <a:solidFill>
                  <a:srgbClr val="3C4D6B"/>
                </a:solidFill>
              </a:rPr>
              <a:t>a)  Runs on K8s CI; deployable as dedicated pod on pre-production environment</a:t>
            </a:r>
          </a:p>
          <a:p>
            <a:pPr marL="457200" indent="0">
              <a:buNone/>
            </a:pPr>
            <a:r>
              <a:rPr lang="en-US" sz="900" dirty="0">
                <a:solidFill>
                  <a:srgbClr val="3C4D6B"/>
                </a:solidFill>
              </a:rPr>
              <a:t>b)  CPU &amp; RAM requirements documented per container image</a:t>
            </a:r>
          </a:p>
        </p:txBody>
      </p:sp>
      <p:sp>
        <p:nvSpPr>
          <p:cNvPr id="10" name="Item6"/>
          <p:cNvSpPr/>
          <p:nvPr/>
        </p:nvSpPr>
        <p:spPr>
          <a:xfrm>
            <a:off x="160000" y="385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06  </a:t>
            </a:r>
            <a:r>
              <a:rPr lang="en-US" sz="1100" b="1" dirty="0">
                <a:solidFill>
                  <a:srgbClr val="1E2761"/>
                </a:solidFill>
              </a:rPr>
              <a:t>Dedicated Load-Test Pod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Isolated performance-testing workload with configurable concurrency and traffic targets</a:t>
            </a:r>
          </a:p>
        </p:txBody>
      </p:sp>
      <p:sp>
        <p:nvSpPr>
          <p:cNvPr id="11" name="Item7"/>
          <p:cNvSpPr/>
          <p:nvPr/>
        </p:nvSpPr>
        <p:spPr>
          <a:xfrm>
            <a:off x="4700000" y="62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07  </a:t>
            </a:r>
            <a:r>
              <a:rPr lang="en-US" sz="1100" b="1" dirty="0">
                <a:solidFill>
                  <a:srgbClr val="1E2761"/>
                </a:solidFill>
              </a:rPr>
              <a:t>IP Pool Management by Routing Domain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Per-APN and per-domain pools with race-safe SKIP LOCKED allocation</a:t>
            </a:r>
          </a:p>
        </p:txBody>
      </p:sp>
      <p:sp>
        <p:nvSpPr>
          <p:cNvPr id="12" name="Item8"/>
          <p:cNvSpPr/>
          <p:nvPr/>
        </p:nvSpPr>
        <p:spPr>
          <a:xfrm>
            <a:off x="4700000" y="131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08  </a:t>
            </a:r>
            <a:r>
              <a:rPr lang="en-US" sz="1100" b="1" dirty="0">
                <a:solidFill>
                  <a:srgbClr val="1E2761"/>
                </a:solidFill>
              </a:rPr>
              <a:t>Native Prometheus Integration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Metrics scraped natively from all services; no adapters or sidecars required</a:t>
            </a:r>
          </a:p>
        </p:txBody>
      </p:sp>
      <p:sp>
        <p:nvSpPr>
          <p:cNvPr id="13" name="Item9"/>
          <p:cNvSpPr/>
          <p:nvPr/>
        </p:nvSpPr>
        <p:spPr>
          <a:xfrm>
            <a:off x="4700000" y="200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09  </a:t>
            </a:r>
            <a:r>
              <a:rPr lang="en-US" sz="1100" b="1" dirty="0">
                <a:solidFill>
                  <a:srgbClr val="1E2761"/>
                </a:solidFill>
              </a:rPr>
              <a:t>Out-of-the-Box Prometheus Alerting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Pre-built alert rules for p99 SLA breach, pool exhaustion, and DB health</a:t>
            </a:r>
          </a:p>
        </p:txBody>
      </p:sp>
      <p:sp>
        <p:nvSpPr>
          <p:cNvPr id="14" name="Item10"/>
          <p:cNvSpPr/>
          <p:nvPr/>
        </p:nvSpPr>
        <p:spPr>
          <a:xfrm>
            <a:off x="4700000" y="269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10  </a:t>
            </a:r>
            <a:r>
              <a:rPr lang="en-US" sz="1100" b="1" dirty="0">
                <a:solidFill>
                  <a:srgbClr val="1E2761"/>
                </a:solidFill>
              </a:rPr>
              <a:t>Out-of-the-Box Grafana Dashboards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Pre-built charts for lookup latency, request throughput, and pool utilization</a:t>
            </a:r>
          </a:p>
        </p:txBody>
      </p:sp>
      <p:sp>
        <p:nvSpPr>
          <p:cNvPr id="15" name="Item11"/>
          <p:cNvSpPr/>
          <p:nvPr/>
        </p:nvSpPr>
        <p:spPr>
          <a:xfrm>
            <a:off x="4700000" y="338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11  </a:t>
            </a:r>
            <a:r>
              <a:rPr lang="en-US" sz="1100" b="1" dirty="0">
                <a:solidFill>
                  <a:srgbClr val="1E2761"/>
                </a:solidFill>
              </a:rPr>
              <a:t>Auto Static-IP for All SIM Types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Supports imsi / imsi_apn / iccid / iccid_apn modes with full auto-configuration</a:t>
            </a:r>
          </a:p>
        </p:txBody>
      </p:sp>
      <p:sp>
        <p:nvSpPr>
          <p:cNvPr id="16" name="Item12"/>
          <p:cNvSpPr/>
          <p:nvPr/>
        </p:nvSpPr>
        <p:spPr>
          <a:xfrm>
            <a:off x="4700000" y="4070000"/>
            <a:ext cx="430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12  </a:t>
            </a:r>
            <a:r>
              <a:rPr lang="en-US" sz="1100" b="1" dirty="0">
                <a:solidFill>
                  <a:srgbClr val="1E2761"/>
                </a:solidFill>
              </a:rPr>
              <a:t>Helm Charts for Kubernetes Deployment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CPU &amp; RAM requests and limits defined per container; reproducible k8s deployments</a:t>
            </a:r>
          </a:p>
        </p:txBody>
      </p:sp>
      <p:sp>
        <p:nvSpPr>
          <p:cNvPr id="17" name="Item13"/>
          <p:cNvSpPr/>
          <p:nvPr/>
        </p:nvSpPr>
        <p:spPr>
          <a:xfrm>
            <a:off x="160000" y="4440000"/>
            <a:ext cx="4280000" cy="5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</a:rPr>
              <a:t>13  </a:t>
            </a:r>
            <a:r>
              <a:rPr lang="en-US" sz="1100" b="1" dirty="0">
                <a:solidFill>
                  <a:srgbClr val="1E2761"/>
                </a:solidFill>
              </a:rPr>
              <a:t>Multi-Region &amp; Multi-AZ Support</a:t>
            </a:r>
          </a:p>
          <a:p>
            <a:pPr marL="45720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Scales independently per-region and per-availability-zone; survives zone failures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0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Pod Architecture — Deployment Topology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560000"/>
            <a:ext cx="841248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</a:rPr>
              <a:t>Request path: SMF → Radius-to-Rest → Lookup Service ↔ 1st Connection &amp; Provisioning ↔ PostgreSQL (HA cluster)</a:t>
            </a:r>
          </a:p>
        </p:txBody>
      </p:sp>
      <p:sp>
        <p:nvSpPr>
          <p:cNvPr id="5" name="DB1"/>
          <p:cNvSpPr/>
          <p:nvPr/>
        </p:nvSpPr>
        <p:spPr>
          <a:xfrm>
            <a:off x="550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 (Read)</a:t>
            </a:r>
          </a:p>
        </p:txBody>
      </p:sp>
      <p:sp>
        <p:nvSpPr>
          <p:cNvPr id="6" name="DB2"/>
          <p:cNvSpPr/>
          <p:nvPr/>
        </p:nvSpPr>
        <p:spPr>
          <a:xfrm>
            <a:off x="3622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PostgreSQL (Read)</a:t>
            </a:r>
          </a:p>
        </p:txBody>
      </p:sp>
      <p:sp>
        <p:nvSpPr>
          <p:cNvPr id="7" name="DB3"/>
          <p:cNvSpPr/>
          <p:nvPr/>
        </p:nvSpPr>
        <p:spPr>
          <a:xfrm>
            <a:off x="6694000" y="870000"/>
            <a:ext cx="19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2E75B6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PostgreSQL (Read/Write)</a:t>
            </a:r>
          </a:p>
        </p:txBody>
      </p:sp>
      <p:sp>
        <p:nvSpPr>
          <p:cNvPr id="8" name="DBLine1"/>
          <p:cNvSpPr/>
          <p:nvPr/>
        </p:nvSpPr>
        <p:spPr>
          <a:xfrm>
            <a:off x="2450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9" name="DBLine2"/>
          <p:cNvSpPr/>
          <p:nvPr/>
        </p:nvSpPr>
        <p:spPr>
          <a:xfrm>
            <a:off x="5522000" y="1060000"/>
            <a:ext cx="1172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VArr_DB1"/>
          <p:cNvSpPr/>
          <p:nvPr/>
        </p:nvSpPr>
        <p:spPr>
          <a:xfrm>
            <a:off x="1499999" y="1250000"/>
            <a:ext cx="229979" cy="115132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VArr_DB3"/>
          <p:cNvSpPr/>
          <p:nvPr/>
        </p:nvSpPr>
        <p:spPr>
          <a:xfrm flipH="1">
            <a:off x="7392537" y="1249999"/>
            <a:ext cx="251463" cy="319493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LookupMain"/>
          <p:cNvSpPr/>
          <p:nvPr/>
        </p:nvSpPr>
        <p:spPr>
          <a:xfrm>
            <a:off x="4010000" y="2401322"/>
            <a:ext cx="3200000" cy="51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 (FRA)</a:t>
            </a:r>
          </a:p>
        </p:txBody>
      </p:sp>
      <p:sp>
        <p:nvSpPr>
          <p:cNvPr id="16" name="1stConnMain"/>
          <p:cNvSpPr/>
          <p:nvPr/>
        </p:nvSpPr>
        <p:spPr>
          <a:xfrm>
            <a:off x="4850000" y="1530000"/>
            <a:ext cx="3100000" cy="51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1st Connection &amp; Provisioning</a:t>
            </a:r>
          </a:p>
        </p:txBody>
      </p:sp>
      <p:sp>
        <p:nvSpPr>
          <p:cNvPr id="17" name="ArrowUI"/>
          <p:cNvSpPr/>
          <p:nvPr/>
        </p:nvSpPr>
        <p:spPr>
          <a:xfrm flipH="1" flipV="1">
            <a:off x="7950000" y="1784998"/>
            <a:ext cx="200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UIMain"/>
          <p:cNvSpPr/>
          <p:nvPr/>
        </p:nvSpPr>
        <p:spPr>
          <a:xfrm>
            <a:off x="8150000" y="1640000"/>
            <a:ext cx="850000" cy="39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9" name="VArr_R2R1"/>
          <p:cNvSpPr/>
          <p:nvPr/>
        </p:nvSpPr>
        <p:spPr>
          <a:xfrm flipH="1">
            <a:off x="974999" y="2892644"/>
            <a:ext cx="458015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VArr_R2R2"/>
          <p:cNvSpPr/>
          <p:nvPr/>
        </p:nvSpPr>
        <p:spPr>
          <a:xfrm>
            <a:off x="2625000" y="2892644"/>
            <a:ext cx="125000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VArr_R2R3"/>
          <p:cNvSpPr/>
          <p:nvPr/>
        </p:nvSpPr>
        <p:spPr>
          <a:xfrm flipV="1">
            <a:off x="2850000" y="1901321"/>
            <a:ext cx="2139999" cy="500001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2" name="VArr_R2R4"/>
          <p:cNvSpPr/>
          <p:nvPr/>
        </p:nvSpPr>
        <p:spPr>
          <a:xfrm flipH="1">
            <a:off x="6375000" y="2030000"/>
            <a:ext cx="55000" cy="39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R2R1Shadow"/>
          <p:cNvSpPr/>
          <p:nvPr/>
        </p:nvSpPr>
        <p:spPr>
          <a:xfrm>
            <a:off x="21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R2R1Main"/>
          <p:cNvSpPr/>
          <p:nvPr/>
        </p:nvSpPr>
        <p:spPr>
          <a:xfrm>
            <a:off x="15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5" name="R2R2Shadow"/>
          <p:cNvSpPr/>
          <p:nvPr/>
        </p:nvSpPr>
        <p:spPr>
          <a:xfrm>
            <a:off x="206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2R2Main"/>
          <p:cNvSpPr/>
          <p:nvPr/>
        </p:nvSpPr>
        <p:spPr>
          <a:xfrm>
            <a:off x="200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7" name="R2R3Shadow"/>
          <p:cNvSpPr/>
          <p:nvPr/>
        </p:nvSpPr>
        <p:spPr>
          <a:xfrm>
            <a:off x="386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2R3Main"/>
          <p:cNvSpPr/>
          <p:nvPr/>
        </p:nvSpPr>
        <p:spPr>
          <a:xfrm>
            <a:off x="380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29" name="R2R4Shadow"/>
          <p:cNvSpPr/>
          <p:nvPr/>
        </p:nvSpPr>
        <p:spPr>
          <a:xfrm>
            <a:off x="5610000" y="3372644"/>
            <a:ext cx="1650000" cy="43000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2R4Main"/>
          <p:cNvSpPr/>
          <p:nvPr/>
        </p:nvSpPr>
        <p:spPr>
          <a:xfrm>
            <a:off x="5550000" y="3322644"/>
            <a:ext cx="1650000" cy="43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31" name="VArr_SMF1"/>
          <p:cNvSpPr/>
          <p:nvPr/>
        </p:nvSpPr>
        <p:spPr>
          <a:xfrm>
            <a:off x="97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VArr_SMF2"/>
          <p:cNvSpPr/>
          <p:nvPr/>
        </p:nvSpPr>
        <p:spPr>
          <a:xfrm>
            <a:off x="282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VArr_SMF3"/>
          <p:cNvSpPr/>
          <p:nvPr/>
        </p:nvSpPr>
        <p:spPr>
          <a:xfrm>
            <a:off x="462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VArr_SMF4"/>
          <p:cNvSpPr/>
          <p:nvPr/>
        </p:nvSpPr>
        <p:spPr>
          <a:xfrm>
            <a:off x="6375000" y="3752644"/>
            <a:ext cx="0" cy="25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MF01"/>
          <p:cNvSpPr/>
          <p:nvPr/>
        </p:nvSpPr>
        <p:spPr>
          <a:xfrm>
            <a:off x="22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6" name="SMF02"/>
          <p:cNvSpPr/>
          <p:nvPr/>
        </p:nvSpPr>
        <p:spPr>
          <a:xfrm>
            <a:off x="61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MF03"/>
          <p:cNvSpPr/>
          <p:nvPr/>
        </p:nvSpPr>
        <p:spPr>
          <a:xfrm>
            <a:off x="100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8" name="SMF04"/>
          <p:cNvSpPr/>
          <p:nvPr/>
        </p:nvSpPr>
        <p:spPr>
          <a:xfrm>
            <a:off x="139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39" name="SMF05"/>
          <p:cNvSpPr/>
          <p:nvPr/>
        </p:nvSpPr>
        <p:spPr>
          <a:xfrm>
            <a:off x="207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0" name="SMF06"/>
          <p:cNvSpPr/>
          <p:nvPr/>
        </p:nvSpPr>
        <p:spPr>
          <a:xfrm>
            <a:off x="246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1" name="SMF07"/>
          <p:cNvSpPr/>
          <p:nvPr/>
        </p:nvSpPr>
        <p:spPr>
          <a:xfrm>
            <a:off x="285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2" name="SMF08"/>
          <p:cNvSpPr/>
          <p:nvPr/>
        </p:nvSpPr>
        <p:spPr>
          <a:xfrm>
            <a:off x="324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3" name="SMF09"/>
          <p:cNvSpPr/>
          <p:nvPr/>
        </p:nvSpPr>
        <p:spPr>
          <a:xfrm>
            <a:off x="387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4" name="SMF10"/>
          <p:cNvSpPr/>
          <p:nvPr/>
        </p:nvSpPr>
        <p:spPr>
          <a:xfrm>
            <a:off x="426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5" name="SMF11"/>
          <p:cNvSpPr/>
          <p:nvPr/>
        </p:nvSpPr>
        <p:spPr>
          <a:xfrm>
            <a:off x="465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6" name="SMF12"/>
          <p:cNvSpPr/>
          <p:nvPr/>
        </p:nvSpPr>
        <p:spPr>
          <a:xfrm>
            <a:off x="504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7" name="SMF13"/>
          <p:cNvSpPr/>
          <p:nvPr/>
        </p:nvSpPr>
        <p:spPr>
          <a:xfrm>
            <a:off x="570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8" name="SMF14"/>
          <p:cNvSpPr/>
          <p:nvPr/>
        </p:nvSpPr>
        <p:spPr>
          <a:xfrm>
            <a:off x="609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49" name="SMF15"/>
          <p:cNvSpPr/>
          <p:nvPr/>
        </p:nvSpPr>
        <p:spPr>
          <a:xfrm>
            <a:off x="6480000" y="4052644"/>
            <a:ext cx="340000" cy="380000"/>
          </a:xfrm>
          <a:prstGeom prst="rect">
            <a:avLst/>
          </a:prstGeom>
          <a:solidFill>
            <a:srgbClr val="2E75B6"/>
          </a:solidFill>
          <a:ln w="12700">
            <a:solidFill>
              <a:srgbClr val="CADCF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50" name="QAAutomation"/>
          <p:cNvSpPr/>
          <p:nvPr/>
        </p:nvSpPr>
        <p:spPr>
          <a:xfrm>
            <a:off x="6794000" y="4583500"/>
            <a:ext cx="998872" cy="380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QA Automation</a:t>
            </a:r>
          </a:p>
        </p:txBody>
      </p:sp>
      <p:sp>
        <p:nvSpPr>
          <p:cNvPr id="51" name="LookupMain">
            <a:extLst>
              <a:ext uri="{FF2B5EF4-FFF2-40B4-BE49-F238E27FC236}">
                <a16:creationId xmlns:a16="http://schemas.microsoft.com/office/drawing/2014/main" id="{D0AC557F-9803-EEC1-8633-2F6193EBD442}"/>
              </a:ext>
            </a:extLst>
          </p:cNvPr>
          <p:cNvSpPr/>
          <p:nvPr/>
        </p:nvSpPr>
        <p:spPr>
          <a:xfrm>
            <a:off x="660000" y="2401322"/>
            <a:ext cx="3200000" cy="510000"/>
          </a:xfrm>
          <a:prstGeom prst="ellipse">
            <a:avLst/>
          </a:prstGeom>
          <a:solidFill>
            <a:srgbClr val="FFC000"/>
          </a:solidFill>
          <a:ln w="25400">
            <a:solidFill>
              <a:srgbClr val="CADCFC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 (SOF)</a:t>
            </a:r>
          </a:p>
        </p:txBody>
      </p:sp>
      <p:sp>
        <p:nvSpPr>
          <p:cNvPr id="52" name="VArr_R2R2">
            <a:extLst>
              <a:ext uri="{FF2B5EF4-FFF2-40B4-BE49-F238E27FC236}">
                <a16:creationId xmlns:a16="http://schemas.microsoft.com/office/drawing/2014/main" id="{1D63D2E2-DB0C-482C-98E8-AF01DBEDF52D}"/>
              </a:ext>
            </a:extLst>
          </p:cNvPr>
          <p:cNvSpPr/>
          <p:nvPr/>
        </p:nvSpPr>
        <p:spPr>
          <a:xfrm flipH="1">
            <a:off x="4684998" y="2892644"/>
            <a:ext cx="156987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VArr_R2R2">
            <a:extLst>
              <a:ext uri="{FF2B5EF4-FFF2-40B4-BE49-F238E27FC236}">
                <a16:creationId xmlns:a16="http://schemas.microsoft.com/office/drawing/2014/main" id="{6670ABF9-823B-92FA-FBDC-EC0783D57E2B}"/>
              </a:ext>
            </a:extLst>
          </p:cNvPr>
          <p:cNvSpPr/>
          <p:nvPr/>
        </p:nvSpPr>
        <p:spPr>
          <a:xfrm>
            <a:off x="6223379" y="2892644"/>
            <a:ext cx="51620" cy="43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VArr_DB1">
            <a:extLst>
              <a:ext uri="{FF2B5EF4-FFF2-40B4-BE49-F238E27FC236}">
                <a16:creationId xmlns:a16="http://schemas.microsoft.com/office/drawing/2014/main" id="{D6C4533A-D9AA-0FDF-52DF-DCEA9615402C}"/>
              </a:ext>
            </a:extLst>
          </p:cNvPr>
          <p:cNvSpPr/>
          <p:nvPr/>
        </p:nvSpPr>
        <p:spPr>
          <a:xfrm>
            <a:off x="3999998" y="1250000"/>
            <a:ext cx="516989" cy="1206597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VArr_SMF4">
            <a:extLst>
              <a:ext uri="{FF2B5EF4-FFF2-40B4-BE49-F238E27FC236}">
                <a16:creationId xmlns:a16="http://schemas.microsoft.com/office/drawing/2014/main" id="{C3ABD02D-6032-19E1-53BB-AE91E0598BEA}"/>
              </a:ext>
            </a:extLst>
          </p:cNvPr>
          <p:cNvSpPr/>
          <p:nvPr/>
        </p:nvSpPr>
        <p:spPr>
          <a:xfrm>
            <a:off x="6860000" y="3752643"/>
            <a:ext cx="340000" cy="830857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56" name="QAAutomation">
            <a:extLst>
              <a:ext uri="{FF2B5EF4-FFF2-40B4-BE49-F238E27FC236}">
                <a16:creationId xmlns:a16="http://schemas.microsoft.com/office/drawing/2014/main" id="{BD2C4931-5342-4594-78EB-06C478C15BE2}"/>
              </a:ext>
            </a:extLst>
          </p:cNvPr>
          <p:cNvSpPr/>
          <p:nvPr/>
        </p:nvSpPr>
        <p:spPr>
          <a:xfrm>
            <a:off x="7922705" y="4583500"/>
            <a:ext cx="998872" cy="380000"/>
          </a:xfrm>
          <a:prstGeom prst="rect">
            <a:avLst/>
          </a:prstGeom>
          <a:solidFill>
            <a:srgbClr val="00B050"/>
          </a:solidFill>
          <a:ln w="19050">
            <a:solidFill>
              <a:srgbClr val="FFFFFF"/>
            </a:solidFill>
            <a:prstDash val="solid"/>
          </a:ln>
        </p:spPr>
        <p:txBody>
          <a:bodyPr wrap="square" lIns="45720" tIns="0" rIns="4572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QA Load test</a:t>
            </a:r>
          </a:p>
        </p:txBody>
      </p:sp>
      <p:sp>
        <p:nvSpPr>
          <p:cNvPr id="57" name="VArr_SMF4">
            <a:extLst>
              <a:ext uri="{FF2B5EF4-FFF2-40B4-BE49-F238E27FC236}">
                <a16:creationId xmlns:a16="http://schemas.microsoft.com/office/drawing/2014/main" id="{D6A318F1-B0D0-CE54-87A0-7A04D791723F}"/>
              </a:ext>
            </a:extLst>
          </p:cNvPr>
          <p:cNvSpPr/>
          <p:nvPr/>
        </p:nvSpPr>
        <p:spPr>
          <a:xfrm>
            <a:off x="7074000" y="3712192"/>
            <a:ext cx="1066000" cy="87130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58" name="VArr_SMF1">
            <a:extLst>
              <a:ext uri="{FF2B5EF4-FFF2-40B4-BE49-F238E27FC236}">
                <a16:creationId xmlns:a16="http://schemas.microsoft.com/office/drawing/2014/main" id="{77656D84-4140-D40C-8D87-529B11A0DC7A}"/>
              </a:ext>
            </a:extLst>
          </p:cNvPr>
          <p:cNvSpPr/>
          <p:nvPr/>
        </p:nvSpPr>
        <p:spPr>
          <a:xfrm flipH="1">
            <a:off x="365760" y="3782644"/>
            <a:ext cx="269239" cy="27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VArr_SMF1">
            <a:extLst>
              <a:ext uri="{FF2B5EF4-FFF2-40B4-BE49-F238E27FC236}">
                <a16:creationId xmlns:a16="http://schemas.microsoft.com/office/drawing/2014/main" id="{52749F85-1002-BC46-280B-906C7A6055D1}"/>
              </a:ext>
            </a:extLst>
          </p:cNvPr>
          <p:cNvSpPr/>
          <p:nvPr/>
        </p:nvSpPr>
        <p:spPr>
          <a:xfrm flipH="1">
            <a:off x="1173998" y="3813966"/>
            <a:ext cx="70997" cy="24867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VArr_R2R1">
            <a:extLst>
              <a:ext uri="{FF2B5EF4-FFF2-40B4-BE49-F238E27FC236}">
                <a16:creationId xmlns:a16="http://schemas.microsoft.com/office/drawing/2014/main" id="{DC38368C-2512-12E1-EF71-FAD2AB6C5DE1}"/>
              </a:ext>
            </a:extLst>
          </p:cNvPr>
          <p:cNvSpPr/>
          <p:nvPr/>
        </p:nvSpPr>
        <p:spPr>
          <a:xfrm flipH="1">
            <a:off x="1499998" y="2812644"/>
            <a:ext cx="2827398" cy="548678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VArr_R2R2">
            <a:extLst>
              <a:ext uri="{FF2B5EF4-FFF2-40B4-BE49-F238E27FC236}">
                <a16:creationId xmlns:a16="http://schemas.microsoft.com/office/drawing/2014/main" id="{1235CF28-E9C5-1D68-B8F8-794CEEA59004}"/>
              </a:ext>
            </a:extLst>
          </p:cNvPr>
          <p:cNvSpPr/>
          <p:nvPr/>
        </p:nvSpPr>
        <p:spPr>
          <a:xfrm>
            <a:off x="3423379" y="2862644"/>
            <a:ext cx="794224" cy="46000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VArr_SMF4">
            <a:extLst>
              <a:ext uri="{FF2B5EF4-FFF2-40B4-BE49-F238E27FC236}">
                <a16:creationId xmlns:a16="http://schemas.microsoft.com/office/drawing/2014/main" id="{C3385D6B-CB56-B14B-1780-C8C86A4C223C}"/>
              </a:ext>
            </a:extLst>
          </p:cNvPr>
          <p:cNvSpPr/>
          <p:nvPr/>
        </p:nvSpPr>
        <p:spPr>
          <a:xfrm flipH="1">
            <a:off x="7489999" y="1942531"/>
            <a:ext cx="43012" cy="2640969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  <p:sp>
        <p:nvSpPr>
          <p:cNvPr id="64" name="UIMain">
            <a:extLst>
              <a:ext uri="{FF2B5EF4-FFF2-40B4-BE49-F238E27FC236}">
                <a16:creationId xmlns:a16="http://schemas.microsoft.com/office/drawing/2014/main" id="{DB87E8AB-0DCA-08BB-075C-FD1214FC0972}"/>
              </a:ext>
            </a:extLst>
          </p:cNvPr>
          <p:cNvSpPr/>
          <p:nvPr/>
        </p:nvSpPr>
        <p:spPr>
          <a:xfrm>
            <a:off x="8179999" y="1896096"/>
            <a:ext cx="850000" cy="39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rgbClr val="CADCFC"/>
            </a:solidFill>
            <a:prstDash val="solid"/>
          </a:ln>
        </p:spPr>
        <p:txBody>
          <a:bodyPr wrap="square" lIns="45720" tIns="45720" rIns="45720" bIns="4572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65" name="VArr_SMF4">
            <a:extLst>
              <a:ext uri="{FF2B5EF4-FFF2-40B4-BE49-F238E27FC236}">
                <a16:creationId xmlns:a16="http://schemas.microsoft.com/office/drawing/2014/main" id="{CCA8D513-69F1-3C16-9764-0A9CC09D827C}"/>
              </a:ext>
            </a:extLst>
          </p:cNvPr>
          <p:cNvSpPr/>
          <p:nvPr/>
        </p:nvSpPr>
        <p:spPr>
          <a:xfrm>
            <a:off x="7744998" y="1896096"/>
            <a:ext cx="680002" cy="2687401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 w="sm" len="sm"/>
            <a:tailEnd type="arrow" w="sm" len="sm"/>
          </a:ln>
        </p:spPr>
        <p:txBody>
          <a:bodyPr/>
          <a:lstStyle/>
          <a:p>
            <a:endParaRPr lang="LID40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ainer Re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endParaRPr/>
          </a:p>
        </p:txBody>
      </p:sp>
      <p:sp>
        <p:nvSpPr>
          <p:cNvPr id="3" name="sp3"/>
          <p:cNvSpPr>
            <a:spLocks noGrp="1"/>
          </p:cNvSpPr>
          <p:nvPr/>
        </p:nvSpPr>
        <p:spPr>
          <a:xfrm>
            <a:off x="0" y="0"/>
            <a:ext cx="9144000" cy="49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228600" tIns="45720" rIns="228600" bIns="45720" anchor="ctr"/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Calibri"/>
              </a:rPr>
              <a:t>Container Resource Requirements — CPU, RAM, Storage, Replicas &amp; Throughput</a:t>
            </a:r>
          </a:p>
        </p:txBody>
      </p:sp>
      <p:sp>
        <p:nvSpPr>
          <p:cNvPr id="4" name="sp4"/>
          <p:cNvSpPr>
            <a:spLocks noGrp="1"/>
          </p:cNvSpPr>
          <p:nvPr/>
        </p:nvSpPr>
        <p:spPr>
          <a:xfrm>
            <a:off x="150000" y="510000"/>
            <a:ext cx="6050000" cy="21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l"/>
            <a:r>
              <a:rPr lang="en-US" sz="800" b="0" i="1" dirty="0">
                <a:solidFill>
                  <a:srgbClr val="2E75B6"/>
                </a:solidFill>
                <a:latin typeface="Calibri"/>
              </a:rPr>
              <a:t>Sized for 2,000 Access-Requests/sec  |  99.9% fast path (subscriber profile exists in DB)  |  0.1% first-connection</a:t>
            </a:r>
          </a:p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6300000" y="510000"/>
            <a:ext cx="2694000" cy="21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lIns="91440" tIns="45720" rIns="91440" bIns="4572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Fast path: 1,998 rps  |  Slow path: 2 rps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150000" y="760000"/>
            <a:ext cx="1800000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l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Container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95000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95628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CPU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96257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968855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RAM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975140" y="760000"/>
            <a:ext cx="1006285" cy="400000"/>
          </a:xfrm>
          <a:prstGeom prst="rect">
            <a:avLst/>
          </a:prstGeom>
          <a:solidFill>
            <a:srgbClr val="1E2761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Storage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6981425" y="760000"/>
            <a:ext cx="1006285" cy="400000"/>
          </a:xfrm>
          <a:prstGeom prst="rect">
            <a:avLst/>
          </a:prstGeom>
          <a:solidFill>
            <a:srgbClr val="C45000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Replicas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@ 2k rps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7987710" y="760000"/>
            <a:ext cx="1006290" cy="400000"/>
          </a:xfrm>
          <a:prstGeom prst="rect">
            <a:avLst/>
          </a:prstGeom>
          <a:solidFill>
            <a:srgbClr val="025F6B"/>
          </a:solidFill>
          <a:ln>
            <a:solidFill>
              <a:srgbClr val="9EB3D8"/>
            </a:solidFill>
          </a:ln>
        </p:spPr>
        <p:txBody>
          <a:bodyPr lIns="45720" tIns="30480" rIns="45720" bIns="30480" anchor="ctr"/>
          <a:lstStyle/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Max RPS</a:t>
            </a:r>
          </a:p>
          <a:p>
            <a:pPr algn="ctr"/>
            <a:r>
              <a:rPr lang="en-US" sz="800" b="1" i="0" dirty="0">
                <a:solidFill>
                  <a:srgbClr val="FFFFFF"/>
                </a:solidFill>
                <a:latin typeface="Calibri"/>
              </a:rPr>
              <a:t>per Pod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50000" y="1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aaa-lookup-service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95000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295628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96257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968855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5975140" y="1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981425" y="11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3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7987710" y="116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~600 rps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50000" y="15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subscriber-profile-api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195000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95628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96257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968855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975140" y="15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6981425" y="15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7987710" y="153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~50 rps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150000" y="19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Radius-to-Rest pod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195000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295628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1,000m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96257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968855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5975140" y="19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6981425" y="19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4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7987710" y="1910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~500 rps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150000" y="22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(primary)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195000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295628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962570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4968855" y="22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5975140" y="2285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981425" y="228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7987710" y="2285000"/>
            <a:ext cx="1006290" cy="375000"/>
          </a:xfrm>
          <a:prstGeom prst="rect">
            <a:avLst/>
          </a:prstGeom>
          <a:solidFill>
            <a:srgbClr val="D0EEF2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014F5A"/>
                </a:solidFill>
                <a:latin typeface="Calibri"/>
              </a:rPr>
              <a:t>~2,000 qps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150000" y="26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PostgreSQL (replica)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195000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295628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3962570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4968855" y="26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2,048 Mi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5975140" y="2660000"/>
            <a:ext cx="1006285" cy="375000"/>
          </a:xfrm>
          <a:prstGeom prst="rect">
            <a:avLst/>
          </a:prstGeom>
          <a:solidFill>
            <a:srgbClr val="FFF3CD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7B4F00"/>
                </a:solidFill>
                <a:latin typeface="Calibri"/>
              </a:rPr>
              <a:t>20 Gi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6981425" y="266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7987710" y="2660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~5,000 qps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150000" y="303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PgBouncer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195000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295628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396257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64 Mi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4968855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5975140" y="303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6981425" y="3035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2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7987710" y="3035000"/>
            <a:ext cx="1006290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&gt;10,000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150000" y="341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UI pod</a:t>
            </a:r>
          </a:p>
        </p:txBody>
      </p:sp>
      <p:sp>
        <p:nvSpPr>
          <p:cNvPr id="63" name="sp63"/>
          <p:cNvSpPr>
            <a:spLocks noGrp="1"/>
          </p:cNvSpPr>
          <p:nvPr/>
        </p:nvSpPr>
        <p:spPr>
          <a:xfrm>
            <a:off x="195000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100m</a:t>
            </a:r>
          </a:p>
        </p:txBody>
      </p:sp>
      <p:sp>
        <p:nvSpPr>
          <p:cNvPr id="64" name="sp64"/>
          <p:cNvSpPr>
            <a:spLocks noGrp="1"/>
          </p:cNvSpPr>
          <p:nvPr/>
        </p:nvSpPr>
        <p:spPr>
          <a:xfrm>
            <a:off x="295628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65" name="sp65"/>
          <p:cNvSpPr>
            <a:spLocks noGrp="1"/>
          </p:cNvSpPr>
          <p:nvPr/>
        </p:nvSpPr>
        <p:spPr>
          <a:xfrm>
            <a:off x="396257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128 Mi</a:t>
            </a:r>
          </a:p>
        </p:txBody>
      </p:sp>
      <p:sp>
        <p:nvSpPr>
          <p:cNvPr id="66" name="sp66"/>
          <p:cNvSpPr>
            <a:spLocks noGrp="1"/>
          </p:cNvSpPr>
          <p:nvPr/>
        </p:nvSpPr>
        <p:spPr>
          <a:xfrm>
            <a:off x="4968855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67" name="sp67"/>
          <p:cNvSpPr>
            <a:spLocks noGrp="1"/>
          </p:cNvSpPr>
          <p:nvPr/>
        </p:nvSpPr>
        <p:spPr>
          <a:xfrm>
            <a:off x="5975140" y="341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68" name="sp68"/>
          <p:cNvSpPr>
            <a:spLocks noGrp="1"/>
          </p:cNvSpPr>
          <p:nvPr/>
        </p:nvSpPr>
        <p:spPr>
          <a:xfrm>
            <a:off x="6981425" y="3410000"/>
            <a:ext cx="1006285" cy="375000"/>
          </a:xfrm>
          <a:prstGeom prst="rect">
            <a:avLst/>
          </a:prstGeom>
          <a:solidFill>
            <a:srgbClr val="D6EAD6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1" i="0" dirty="0">
                <a:solidFill>
                  <a:srgbClr val="1A5C1A"/>
                </a:solidFill>
                <a:latin typeface="Calibri"/>
              </a:rPr>
              <a:t>1</a:t>
            </a:r>
          </a:p>
        </p:txBody>
      </p:sp>
      <p:sp>
        <p:nvSpPr>
          <p:cNvPr id="69" name="sp69"/>
          <p:cNvSpPr>
            <a:spLocks noGrp="1"/>
          </p:cNvSpPr>
          <p:nvPr/>
        </p:nvSpPr>
        <p:spPr>
          <a:xfrm>
            <a:off x="7987710" y="341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~200 rps</a:t>
            </a:r>
          </a:p>
        </p:txBody>
      </p:sp>
      <p:sp>
        <p:nvSpPr>
          <p:cNvPr id="70" name="sp70"/>
          <p:cNvSpPr>
            <a:spLocks noGrp="1"/>
          </p:cNvSpPr>
          <p:nvPr/>
        </p:nvSpPr>
        <p:spPr>
          <a:xfrm>
            <a:off x="150000" y="3785000"/>
            <a:ext cx="180000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aaa-regression-tester</a:t>
            </a:r>
          </a:p>
        </p:txBody>
      </p:sp>
      <p:sp>
        <p:nvSpPr>
          <p:cNvPr id="71" name="sp71"/>
          <p:cNvSpPr>
            <a:spLocks noGrp="1"/>
          </p:cNvSpPr>
          <p:nvPr/>
        </p:nvSpPr>
        <p:spPr>
          <a:xfrm>
            <a:off x="195000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250m</a:t>
            </a:r>
          </a:p>
        </p:txBody>
      </p:sp>
      <p:sp>
        <p:nvSpPr>
          <p:cNvPr id="72" name="sp72"/>
          <p:cNvSpPr>
            <a:spLocks noGrp="1"/>
          </p:cNvSpPr>
          <p:nvPr/>
        </p:nvSpPr>
        <p:spPr>
          <a:xfrm>
            <a:off x="295628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73" name="sp73"/>
          <p:cNvSpPr>
            <a:spLocks noGrp="1"/>
          </p:cNvSpPr>
          <p:nvPr/>
        </p:nvSpPr>
        <p:spPr>
          <a:xfrm>
            <a:off x="396257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74" name="sp74"/>
          <p:cNvSpPr>
            <a:spLocks noGrp="1"/>
          </p:cNvSpPr>
          <p:nvPr/>
        </p:nvSpPr>
        <p:spPr>
          <a:xfrm>
            <a:off x="496885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512 Mi</a:t>
            </a:r>
          </a:p>
        </p:txBody>
      </p:sp>
      <p:sp>
        <p:nvSpPr>
          <p:cNvPr id="75" name="sp75"/>
          <p:cNvSpPr>
            <a:spLocks noGrp="1"/>
          </p:cNvSpPr>
          <p:nvPr/>
        </p:nvSpPr>
        <p:spPr>
          <a:xfrm>
            <a:off x="5975140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76" name="sp76"/>
          <p:cNvSpPr>
            <a:spLocks noGrp="1"/>
          </p:cNvSpPr>
          <p:nvPr/>
        </p:nvSpPr>
        <p:spPr>
          <a:xfrm>
            <a:off x="6981425" y="3785000"/>
            <a:ext cx="1006285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77" name="sp77"/>
          <p:cNvSpPr>
            <a:spLocks noGrp="1"/>
          </p:cNvSpPr>
          <p:nvPr/>
        </p:nvSpPr>
        <p:spPr>
          <a:xfrm>
            <a:off x="7987710" y="3785000"/>
            <a:ext cx="1006290" cy="375000"/>
          </a:xfrm>
          <a:prstGeom prst="rect">
            <a:avLst/>
          </a:prstGeom>
          <a:solidFill>
            <a:srgbClr val="FFFFFF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</a:t>
            </a:r>
          </a:p>
        </p:txBody>
      </p:sp>
      <p:sp>
        <p:nvSpPr>
          <p:cNvPr id="78" name="sp78"/>
          <p:cNvSpPr>
            <a:spLocks noGrp="1"/>
          </p:cNvSpPr>
          <p:nvPr/>
        </p:nvSpPr>
        <p:spPr>
          <a:xfrm>
            <a:off x="150000" y="4160000"/>
            <a:ext cx="180000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l"/>
            <a:r>
              <a:rPr lang="en-US" sz="820" b="1" i="0" dirty="0">
                <a:solidFill>
                  <a:srgbClr val="1E2761"/>
                </a:solidFill>
                <a:latin typeface="Calibri"/>
              </a:rPr>
              <a:t>Load-test pod</a:t>
            </a:r>
          </a:p>
        </p:txBody>
      </p:sp>
      <p:sp>
        <p:nvSpPr>
          <p:cNvPr id="79" name="sp79"/>
          <p:cNvSpPr>
            <a:spLocks noGrp="1"/>
          </p:cNvSpPr>
          <p:nvPr/>
        </p:nvSpPr>
        <p:spPr>
          <a:xfrm>
            <a:off x="195000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500m</a:t>
            </a:r>
          </a:p>
        </p:txBody>
      </p:sp>
      <p:sp>
        <p:nvSpPr>
          <p:cNvPr id="80" name="sp80"/>
          <p:cNvSpPr>
            <a:spLocks noGrp="1"/>
          </p:cNvSpPr>
          <p:nvPr/>
        </p:nvSpPr>
        <p:spPr>
          <a:xfrm>
            <a:off x="295628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2,000m</a:t>
            </a:r>
          </a:p>
        </p:txBody>
      </p:sp>
      <p:sp>
        <p:nvSpPr>
          <p:cNvPr id="81" name="sp81"/>
          <p:cNvSpPr>
            <a:spLocks noGrp="1"/>
          </p:cNvSpPr>
          <p:nvPr/>
        </p:nvSpPr>
        <p:spPr>
          <a:xfrm>
            <a:off x="396257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256 Mi</a:t>
            </a:r>
          </a:p>
        </p:txBody>
      </p:sp>
      <p:sp>
        <p:nvSpPr>
          <p:cNvPr id="82" name="sp82"/>
          <p:cNvSpPr>
            <a:spLocks noGrp="1"/>
          </p:cNvSpPr>
          <p:nvPr/>
        </p:nvSpPr>
        <p:spPr>
          <a:xfrm>
            <a:off x="496885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1,024 Mi</a:t>
            </a:r>
          </a:p>
        </p:txBody>
      </p:sp>
      <p:sp>
        <p:nvSpPr>
          <p:cNvPr id="83" name="sp83"/>
          <p:cNvSpPr>
            <a:spLocks noGrp="1"/>
          </p:cNvSpPr>
          <p:nvPr/>
        </p:nvSpPr>
        <p:spPr>
          <a:xfrm>
            <a:off x="5975140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84" name="sp84"/>
          <p:cNvSpPr>
            <a:spLocks noGrp="1"/>
          </p:cNvSpPr>
          <p:nvPr/>
        </p:nvSpPr>
        <p:spPr>
          <a:xfrm>
            <a:off x="6981425" y="4160000"/>
            <a:ext cx="1006285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1 *</a:t>
            </a:r>
          </a:p>
        </p:txBody>
      </p:sp>
      <p:sp>
        <p:nvSpPr>
          <p:cNvPr id="85" name="sp85"/>
          <p:cNvSpPr>
            <a:spLocks noGrp="1"/>
          </p:cNvSpPr>
          <p:nvPr/>
        </p:nvSpPr>
        <p:spPr>
          <a:xfrm>
            <a:off x="7987710" y="4160000"/>
            <a:ext cx="1006290" cy="375000"/>
          </a:xfrm>
          <a:prstGeom prst="rect">
            <a:avLst/>
          </a:prstGeom>
          <a:solidFill>
            <a:srgbClr val="CADCFC"/>
          </a:solidFill>
          <a:ln>
            <a:solidFill>
              <a:srgbClr val="9EB3D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820" b="0" i="0" dirty="0">
                <a:solidFill>
                  <a:srgbClr val="888888"/>
                </a:solidFill>
                <a:latin typeface="Calibri"/>
              </a:rPr>
              <a:t>N/A (gen.)</a:t>
            </a:r>
          </a:p>
        </p:txBody>
      </p:sp>
      <p:sp>
        <p:nvSpPr>
          <p:cNvPr id="86" name="sp86"/>
          <p:cNvSpPr>
            <a:spLocks noGrp="1"/>
          </p:cNvSpPr>
          <p:nvPr/>
        </p:nvSpPr>
        <p:spPr>
          <a:xfrm>
            <a:off x="150000" y="4710000"/>
            <a:ext cx="8844000" cy="260000"/>
          </a:xfrm>
          <a:prstGeom prst="rect">
            <a:avLst/>
          </a:prstGeom>
          <a:solidFill>
            <a:srgbClr val="EEF3FB"/>
          </a:solidFill>
          <a:ln>
            <a:noFill/>
          </a:ln>
        </p:spPr>
        <p:txBody>
          <a:bodyPr lIns="91440" tIns="45720" rIns="91440" bIns="45720" anchor="ctr"/>
          <a:lstStyle/>
          <a:p>
            <a:pPr algn="l"/>
            <a:r>
              <a:rPr lang="en-US" sz="700" b="0" i="1" dirty="0">
                <a:solidFill>
                  <a:srgbClr val="6B7280"/>
                </a:solidFill>
                <a:latin typeface="Calibri"/>
              </a:rPr>
              <a:t>* On-demand job pod  |  RPS figures are for fast-path requests only (subscriber profile exists in DB)  |  1 SQL query per IMSI lookup → ~2,000 qps at 2k rps  |  PVC size configurable (20 Gi = baseline)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aaa-lookup-service orchestrates first-connection — radius-server routes all Access-Requests to lookup only, which calls subscriber-profile-api on DB miss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Forwards all Access-Requests to lookup-service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2E75B6"/>
                </a:solidFill>
              </a:rPr>
              <a:t>Every Access-Request → GET /lookup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A623"/>
                </a:solidFill>
              </a:rPr>
              <a:t>POST /first-connection (called by lookup pod internally, on DB miss)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On DB miss: calls POST /first-connection on subscriber-profile-api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E75B6"/>
                </a:solidFill>
              </a:rPr>
              <a:t>FIRST-CONNECTION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Called by lookup-service on 404: allocates IP + creates profile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imsi2sim.imsi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(no range 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imsi2sim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aaa-lookup-service calls POST /first-connection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aaa-lookup-service: POST /v1/first-connection {imsi, apn, imei}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UPDATE SKIP LOCKED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5B6"/>
                </a:solidFill>
              </a:rPr>
              <a:t>First-Connection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sim_id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aaa-lookup-service returns 200 to aaa-radius-server. Access-Accept issued.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Same sim_id &amp; IP returned.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DB miss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 calls /first-connection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- 278770...000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first-conn never called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sim_id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imsi2sim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sim_id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First-connection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sim_apn_ips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sim_apn_ips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3103</Words>
  <Application>Microsoft Office PowerPoint</Application>
  <PresentationFormat>On-screen Show (16:9)</PresentationFormat>
  <Paragraphs>600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Rony Idan</cp:lastModifiedBy>
  <cp:revision>2</cp:revision>
  <dcterms:created xsi:type="dcterms:W3CDTF">2026-03-25T05:14:18Z</dcterms:created>
  <dcterms:modified xsi:type="dcterms:W3CDTF">2026-03-29T17:09:19Z</dcterms:modified>
</cp:coreProperties>
</file>