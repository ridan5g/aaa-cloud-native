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Cloud-Native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Subscriber Provisioning &amp; Real-Time RADIUS Authentication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560320" cy="10058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218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&lt;15ms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p99 Lookup SLA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154680"/>
            <a:ext cx="2560320" cy="10058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3218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443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Regression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154680"/>
            <a:ext cx="2560320" cy="10058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218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Subscriber Profiles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3154680"/>
            <a:ext cx="2560320" cy="10058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52560" y="3218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5256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IP Resolution Modes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572000"/>
            <a:ext cx="12161520" cy="411480"/>
          </a:xfrm>
          <a:prstGeom prst="rect">
            <a:avLst/>
          </a:prstGeom>
          <a:solidFill>
            <a:srgbClr val="13193A"/>
          </a:solidFill>
          <a:ln w="12700">
            <a:solidFill>
              <a:srgbClr val="131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C++20 / Drogon   |   Python / FastAPI   |   PostgreSQL 15   |   Helm 3   |   Prometheus / Grafana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63093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92A4"/>
                </a:solidFill>
              </a:rPr>
              <a:t>TELECOM  |  AAA  |  KUBERNETES-NATIVE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Platform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0292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" y="960120"/>
            <a:ext cx="3607308" cy="475488"/>
          </a:xfrm>
          <a:prstGeom prst="rect">
            <a:avLst/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1498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0149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Cloud-Native AAA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" y="1527048"/>
            <a:ext cx="3456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Telecom subscriber provisioning &amp; RADIUS authentication platform built for Kubernetes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9601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960120"/>
            <a:ext cx="50292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6532" y="960120"/>
            <a:ext cx="3607308" cy="475488"/>
          </a:xfrm>
          <a:prstGeom prst="rect">
            <a:avLst/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101498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0149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Static IP Assignment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34256" y="1527048"/>
            <a:ext cx="3456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Assigns static IPs to SIM cards via RADIUS. Supports IMSI-level, card-level, and APN-aware modes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96012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2440" y="960120"/>
            <a:ext cx="50292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42732" y="960120"/>
            <a:ext cx="3607308" cy="475488"/>
          </a:xfrm>
          <a:prstGeom prst="rect">
            <a:avLst/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101498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10149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8M+ Subscribers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0456" y="1527048"/>
            <a:ext cx="3456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Migration path from 7 regional MariaDB/Galera clusters. Supports 300K-row bulk imports per job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91840"/>
            <a:ext cx="50292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" y="3291840"/>
            <a:ext cx="3607308" cy="475488"/>
          </a:xfrm>
          <a:prstGeom prst="rect">
            <a:avLst/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34670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34670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443 Regression Tests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056" y="3858768"/>
            <a:ext cx="3456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Full pytest suite: REST endpoints, IP allocation, bulk ops, first-connection, RADIUS, Grafana metrics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06240" y="32918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3291840"/>
            <a:ext cx="50292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6532" y="3291840"/>
            <a:ext cx="3607308" cy="475488"/>
          </a:xfrm>
          <a:prstGeom prst="rect">
            <a:avLst/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88536" y="334670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334670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Multi-Region Ready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34256" y="3858768"/>
            <a:ext cx="3456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Read replicas per region, cross-region first-connection writes. EU/US replica failover supported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92440" y="32918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92440" y="3291840"/>
            <a:ext cx="50292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42732" y="3291840"/>
            <a:ext cx="3607308" cy="475488"/>
          </a:xfrm>
          <a:prstGeom prst="rect">
            <a:avLst/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334670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41080" y="334670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Full Observability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0456" y="3858768"/>
            <a:ext cx="3456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Prometheus metrics, Grafana dashboards, pre-built alerts for p99 SLA, pool exhaustion &amp; DB health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669280" cy="23774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05840"/>
            <a:ext cx="5449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Speed vs. 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" y="1408176"/>
            <a:ext cx="54498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RADIUS must authenticate subscribers in &lt;15ms while serving millions of requests per day — but provisioning writes are slower and less frequent.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914400"/>
            <a:ext cx="5669280" cy="23774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914400"/>
            <a:ext cx="64008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8544" y="1005840"/>
            <a:ext cx="5449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Unknown IMSIs at First Attach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38544" y="1408176"/>
            <a:ext cx="54498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Network equipment cannot predict when a new SIM activates. Operators need dynamic, zero-touch provisioning on first connection — no manual intervention.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5669280" cy="23774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74720"/>
            <a:ext cx="64008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566160"/>
            <a:ext cx="5449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Multi-IMSI SIM Complexity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" y="3968496"/>
            <a:ext cx="54498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 single physical SIM card can carry up to 10 distinct IMSIs. Provisioning one slot must automatically provision all sibling slots in a single atomic step.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474720"/>
            <a:ext cx="5669280" cy="2377440"/>
          </a:xfrm>
          <a:prstGeom prst="rect">
            <a:avLst/>
          </a:prstGeom>
          <a:solidFill>
            <a:srgbClr val="172055"/>
          </a:solidFill>
          <a:ln w="9525">
            <a:solidFill>
              <a:srgbClr val="3182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474720"/>
            <a:ext cx="64008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3566160"/>
            <a:ext cx="5449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IP Pool Race Conditions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8544" y="3968496"/>
            <a:ext cx="54498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Concurrent first-connection events can race to claim the same IP address. A safe, lock-free allocation mechanism is critical for correctness at scale.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61520" cy="320040"/>
          </a:xfrm>
          <a:prstGeom prst="rect">
            <a:avLst/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182CE"/>
                </a:solidFill>
              </a:rPr>
              <a:t>Request path: SMF → Radius-to-Rest → Lookup Service ↔ 1st Connection &amp; Provisioning ↔ PostgreSQL (HA cluster)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194560" cy="777240"/>
          </a:xfrm>
          <a:prstGeom prst="rect">
            <a:avLst/>
          </a:prstGeom>
          <a:solidFill>
            <a:srgbClr val="223060"/>
          </a:solidFill>
          <a:ln w="12700">
            <a:solidFill>
              <a:srgbClr val="22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105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SMF / PGW / GGSN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19456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Access Node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560320" cy="77724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3736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81051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aaa-radius-server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73552" y="21945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C++20  UDP/1812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1737360"/>
            <a:ext cx="2651760" cy="77724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73736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81051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aaa-lookup-service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56832" y="21945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C++20/Drogon  :8081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0" y="1737360"/>
            <a:ext cx="1965960" cy="777240"/>
          </a:xfrm>
          <a:prstGeom prst="rect">
            <a:avLst/>
          </a:prstGeom>
          <a:solidFill>
            <a:srgbClr val="2C3E70"/>
          </a:solidFill>
          <a:ln w="12700">
            <a:solidFill>
              <a:srgbClr val="2C3E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0" y="1737360"/>
            <a:ext cx="19659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31552" y="181051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 Replica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131552" y="219456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Read-only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68880" y="2125980"/>
            <a:ext cx="731520" cy="0"/>
          </a:xfrm>
          <a:prstGeom prst="line">
            <a:avLst/>
          </a:prstGeom>
          <a:noFill/>
          <a:ln w="1905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81528" y="2043684"/>
            <a:ext cx="118872" cy="164592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18699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82CE"/>
                </a:solidFill>
              </a:rPr>
              <a:t>RADIUS UDP/1812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2125980"/>
            <a:ext cx="822960" cy="0"/>
          </a:xfrm>
          <a:prstGeom prst="line">
            <a:avLst/>
          </a:prstGeom>
          <a:noFill/>
          <a:ln w="19050">
            <a:solidFill>
              <a:srgbClr val="3182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2043684"/>
            <a:ext cx="118872" cy="164592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18699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82CE"/>
                </a:solidFill>
              </a:rPr>
              <a:t>GET /lookup?imsi=&amp;apn=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35440" y="212598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9528" y="2043684"/>
            <a:ext cx="118872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2235708"/>
            <a:ext cx="2651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162556"/>
            <a:ext cx="118872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0" y="2514600"/>
            <a:ext cx="0" cy="100584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001000" y="2560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DB miss 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01000" y="2770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POST /first-connection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2560320" cy="7772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2044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59359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aaa-management-ui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7472" y="397764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React/TypeScript  :80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3520440"/>
            <a:ext cx="3063240" cy="77724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520440"/>
            <a:ext cx="3063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359359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subscriber-profile-api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91072" y="397764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Python/FastAPI  :8080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058400" y="3520440"/>
            <a:ext cx="1965960" cy="777240"/>
          </a:xfrm>
          <a:prstGeom prst="rect">
            <a:avLst/>
          </a:prstGeom>
          <a:solidFill>
            <a:srgbClr val="2C3E70"/>
          </a:solidFill>
          <a:ln w="12700">
            <a:solidFill>
              <a:srgbClr val="2C3E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058400" y="3520440"/>
            <a:ext cx="19659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31552" y="359359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 Primary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131552" y="397764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Read/Write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281160" y="3909060"/>
            <a:ext cx="777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39528" y="3826764"/>
            <a:ext cx="118872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4018788"/>
            <a:ext cx="777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81160" y="3945636"/>
            <a:ext cx="118872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41380" y="2514600"/>
            <a:ext cx="0" cy="1005840"/>
          </a:xfrm>
          <a:prstGeom prst="line">
            <a:avLst/>
          </a:prstGeom>
          <a:noFill/>
          <a:ln w="12700">
            <a:solidFill>
              <a:srgbClr val="8892A4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0" y="5989320"/>
            <a:ext cx="12161520" cy="594360"/>
          </a:xfrm>
          <a:prstGeom prst="rect">
            <a:avLst/>
          </a:prstGeom>
          <a:solidFill>
            <a:srgbClr val="EAECF5"/>
          </a:solidFill>
          <a:ln w="12700">
            <a:solidFill>
              <a:srgbClr val="C8CC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6016752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PostgreSQL streaming replication → read replicas per region (EU/US)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First-connection writes cross-region once per IMSI lifetime (~50–100ms — acceptable)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Platform Services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743200" cy="91440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aaa-radius-server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89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C++20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UDP / 1812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901952"/>
            <a:ext cx="24871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RADIUS protocol termination (RFC 2865)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Single GET /lookup call per Access-Request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3GPP VSA mapping: IMSI, IMEISV, Charging-Characteristics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Thread pool: 16 workers → ~1600 RPS at 5ms p50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Optional: remove if access nodes speak REST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9144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914400"/>
            <a:ext cx="2743200" cy="91440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5264" y="91440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aaa-lookup-service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46704" y="1389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C++20 / Drogon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HTTP / 8081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901952"/>
            <a:ext cx="24871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Hot-path: GET /v1/lookup?imsi=&amp;apn= — single endpoint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SLA: p99 &lt; 15ms on DB hit (3–6 replicas per region)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DB miss → calls subscriber-profile-api internally (transparent)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4 IP resolution modes: iccid | iccid_apn | imsi | imsi_apn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Read-only PostgreSQL replica — no writes ever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63056" y="9144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914400"/>
            <a:ext cx="2743200" cy="91440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91440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subscriber-profile-api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389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Python / FastAPI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HTTP / 8080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1901952"/>
            <a:ext cx="24871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Full CRUD: SIM profiles, IMSI ranges, IP pools, bulk jobs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First-connection IP allocation with per-APN pool routing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Multi-IMSI SIM pre-provisioning (atomic per-slot allocation)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Async bulk jobs (batch 500, thread pool)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Routing domains for IP uniqueness scoping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70848" y="9144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70848" y="914400"/>
            <a:ext cx="2743200" cy="91440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0848" y="91440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aaa-management-ui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62288" y="1389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React 18 / TypeScript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62288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HTTP / 80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98864" y="1901952"/>
            <a:ext cx="24871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Operator web console: SIMs, Pools, Range Configs, Bulk Jobs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OAuth 2.0 / OIDC authentication (JWT in memory only)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Live metrics panel with Grafana embed links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Bulk import wizard with per-row error display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212848" cy="1325880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21284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&lt; 15ms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p99 Lookup Latency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88336" y="914400"/>
            <a:ext cx="2212848" cy="1325880"/>
          </a:xfrm>
          <a:prstGeom prst="rect">
            <a:avLst/>
          </a:prstGeom>
          <a:solidFill>
            <a:srgbClr val="1A4491"/>
          </a:solidFill>
          <a:ln w="12700">
            <a:solidFill>
              <a:srgbClr val="1A44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88336" y="914400"/>
            <a:ext cx="221284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1–3ms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88336" y="16642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p50 Typical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10912" y="914400"/>
            <a:ext cx="2212848" cy="1325880"/>
          </a:xfrm>
          <a:prstGeom prst="rect">
            <a:avLst/>
          </a:prstGeom>
          <a:solidFill>
            <a:srgbClr val="163A7A"/>
          </a:solidFill>
          <a:ln w="12700">
            <a:solidFill>
              <a:srgbClr val="163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10912" y="914400"/>
            <a:ext cx="221284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10912" y="16642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Profiles per Bulk Job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33488" y="914400"/>
            <a:ext cx="2212848" cy="1325880"/>
          </a:xfrm>
          <a:prstGeom prst="rect">
            <a:avLst/>
          </a:prstGeom>
          <a:solidFill>
            <a:srgbClr val="122F64"/>
          </a:solidFill>
          <a:ln w="12700">
            <a:solidFill>
              <a:srgbClr val="122F6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33488" y="914400"/>
            <a:ext cx="221284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253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33488" y="16642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IPs per /24 Pool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56064" y="914400"/>
            <a:ext cx="2212848" cy="1325880"/>
          </a:xfrm>
          <a:prstGeom prst="rect">
            <a:avLst/>
          </a:prstGeom>
          <a:solidFill>
            <a:srgbClr val="0E244E"/>
          </a:solidFill>
          <a:ln w="12700">
            <a:solidFill>
              <a:srgbClr val="0E24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56064" y="914400"/>
            <a:ext cx="221284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56064" y="1005840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56064" y="16642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Max IMSIs per SIM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46888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How we achieve &lt; 15ms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2926080"/>
            <a:ext cx="5577840" cy="960120"/>
          </a:xfrm>
          <a:prstGeom prst="rect">
            <a:avLst/>
          </a:prstGeom>
          <a:solidFill>
            <a:srgbClr val="172055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99923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Index-only B-tree seek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" y="3310128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imsi2sim.imsi is a PK — single-page lookup, no full-table scan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926080"/>
            <a:ext cx="5577840" cy="960120"/>
          </a:xfrm>
          <a:prstGeom prst="rect">
            <a:avLst/>
          </a:prstGeom>
          <a:solidFill>
            <a:srgbClr val="172055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299923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Near 100% cache hit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8816" y="3310128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~80MB index fits entirely in PostgreSQL shared_buffers at steady state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5577840" cy="960120"/>
          </a:xfrm>
          <a:prstGeom prst="rect">
            <a:avLst/>
          </a:prstGeom>
          <a:solidFill>
            <a:srgbClr val="172055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409651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Async C++ / Drogon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" y="4407408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Non-blocking I/O with coroutines; zero context-switching overhead per request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4023360"/>
            <a:ext cx="5577840" cy="960120"/>
          </a:xfrm>
          <a:prstGeom prst="rect">
            <a:avLst/>
          </a:prstGeom>
          <a:solidFill>
            <a:srgbClr val="172055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409651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replica isolation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28816" y="4407408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Lookup never competes with write transactions on the primary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IP Resolution Modes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61520" cy="320040"/>
          </a:xfrm>
          <a:prstGeom prst="rect">
            <a:avLst/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182CE"/>
                </a:solidFill>
              </a:rPr>
              <a:t>Configured per IMSI range; controls how the lookup service resolves a Framed-IP-Address for each subscriber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" y="1143000"/>
            <a:ext cx="265176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4340" y="1143000"/>
            <a:ext cx="2651760" cy="64008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" y="1207008"/>
            <a:ext cx="2651760" cy="132588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" y="1856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57300" y="1856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Card-level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" y="21122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7300" y="21122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Ignored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" y="23682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IPs: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57300" y="23682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/ SIM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" y="2651760"/>
            <a:ext cx="239572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One static IP per SIM card regardless of IMSI or APN. Both IMSIs on a dual-SIM card get the same IP.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4700" y="1143000"/>
            <a:ext cx="265176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4700" y="1143000"/>
            <a:ext cx="2651760" cy="64008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1207008"/>
            <a:ext cx="2651760" cy="132588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6140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iccid_apn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24428" y="1856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37660" y="1856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Card-level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4428" y="21122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37660" y="21122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Per-APN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4428" y="23682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IPs: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37660" y="23682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/ SIM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42716" y="2651760"/>
            <a:ext cx="239572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One IP per APN per SIM card. Both IMSIs share the same card-level APN-keyed IPs.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95060" y="1143000"/>
            <a:ext cx="265176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5060" y="1143000"/>
            <a:ext cx="2651760" cy="64008"/>
          </a:xfrm>
          <a:prstGeom prst="rect">
            <a:avLst/>
          </a:prstGeom>
          <a:solidFill>
            <a:srgbClr val="7048D8"/>
          </a:solidFill>
          <a:ln w="12700">
            <a:solidFill>
              <a:srgbClr val="704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5060" y="1207008"/>
            <a:ext cx="2651760" cy="1325880"/>
          </a:xfrm>
          <a:prstGeom prst="rect">
            <a:avLst/>
          </a:prstGeom>
          <a:solidFill>
            <a:srgbClr val="7048D8"/>
          </a:solidFill>
          <a:ln w="12700">
            <a:solidFill>
              <a:srgbClr val="704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6500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04788" y="1856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18020" y="1856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IMSI-level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4788" y="21122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APN: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18020" y="21122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Ignored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4788" y="23682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IPs: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18020" y="23682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/ IMSI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23076" y="2651760"/>
            <a:ext cx="239572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One IP per IMSI. Two IMSIs on the same card get independent IPs. APN in request is ignored.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075420" y="1143000"/>
            <a:ext cx="265176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75420" y="1143000"/>
            <a:ext cx="2651760" cy="6400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75420" y="1207008"/>
            <a:ext cx="2651760" cy="132588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6860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185148" y="1856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98380" y="18562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IMSI-level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85148" y="21122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APN: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898380" y="21122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Per-APN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85148" y="23682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IPs: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98380" y="23682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/ IMSI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203436" y="2651760"/>
            <a:ext cx="239572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One IP per APN per IMSI. Finest granularity. A dual-SIM card with 3 APNs yields 6 distinct IPs.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First-Connection Auto-Provisioning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61520" cy="320040"/>
          </a:xfrm>
          <a:prstGeom prst="rect">
            <a:avLst/>
          </a:prstGeom>
          <a:solidFill>
            <a:srgbClr val="F0F3FA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182CE"/>
                </a:solidFill>
              </a:rPr>
              <a:t>Triggered on DB miss — once per IMSI lifetime, transparent to the network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234440"/>
            <a:ext cx="384048" cy="384048"/>
          </a:xfrm>
          <a:prstGeom prst="ellipse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1615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RADIUS Access-Request arrives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164592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NAS/SMF sends IMSI + APN to aaa-radius-server (UDP/1812)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14300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14300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2816" y="1234440"/>
            <a:ext cx="384048" cy="384048"/>
          </a:xfrm>
          <a:prstGeom prst="ellipse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21615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Lookup queries read replica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42816" y="164592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GET /lookup?imsi=&amp;apn= — fast B-tree lookup, typically &lt;5ms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114300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0" y="114300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1234440"/>
            <a:ext cx="384048" cy="384048"/>
          </a:xfrm>
          <a:prstGeom prst="ellipse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185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121615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DB miss detected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91856" y="164592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IMSI not in imsi2sim → first-connection path triggered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60604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60604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2697480"/>
            <a:ext cx="384048" cy="384048"/>
          </a:xfrm>
          <a:prstGeom prst="ellipse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267919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POST /first-connection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" y="310896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subscriber-profile-api finds matching range config, allocates IP with SKIP LOCKED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0" y="260604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0" y="260604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42816" y="2697480"/>
            <a:ext cx="384048" cy="384048"/>
          </a:xfrm>
          <a:prstGeom prst="ellipse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281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267919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IP returned to lookup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42816" y="310896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Fresh IP stored in DB; returned to aaa-lookup-service in response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260604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63840" y="260604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91856" y="2697480"/>
            <a:ext cx="384048" cy="384048"/>
          </a:xfrm>
          <a:prstGeom prst="ellipse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9185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267919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Access-Accept sent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91856" y="310896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aaa-radius-server responds with Framed-IP-Address — transparent to NAS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251960"/>
            <a:ext cx="11430000" cy="2148840"/>
          </a:xfrm>
          <a:prstGeom prst="rect">
            <a:avLst/>
          </a:prstGeom>
          <a:solidFill>
            <a:srgbClr val="EAECF5"/>
          </a:solidFill>
          <a:ln w="9525">
            <a:solidFill>
              <a:srgbClr val="C8CC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251960"/>
            <a:ext cx="64008" cy="214884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315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Key Properties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</a:rPr>
              <a:t>Frequency: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331720" y="4663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Once per IMSI lifetime (never repeats)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</a:rPr>
              <a:t>Latency: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331720" y="4983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~50–500ms (adds to first RADIUS round-trip)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" y="5303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</a:rPr>
              <a:t>Steady-state: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31720" y="5303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All subsequent lookups: p99 &lt; 15ms (DB hit)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5623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</a:rPr>
              <a:t>Atomicity: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331720" y="5623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Multi-IMSI SIM: all slots allocated in 1 COMMIT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4360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</a:rPr>
              <a:t>SKIP LOCKED: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31720" y="59436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Race-safe pool allocation — no duplicate IPs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SIM Profile Types — 8 Provisioning Scenarios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98755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60120"/>
            <a:ext cx="118872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9875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SIM 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960120"/>
            <a:ext cx="118872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98755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114300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87552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APN Catalog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960120"/>
            <a:ext cx="114300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987552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IPs/SIM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960120"/>
            <a:ext cx="246888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68696" y="9875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 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01000" y="960120"/>
            <a:ext cx="4206240" cy="420624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7576" y="98755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First-Connection Result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380744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140817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1380744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140817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Single-IMSI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57400" y="1380744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93976" y="140817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1380744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140817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1380744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140817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1380744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140817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range-config + pool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01000" y="1380744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7576" y="1408176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IP → imsi_apn_ips (apn=NULL)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1801368"/>
            <a:ext cx="5486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" y="182880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8680" y="1801368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" y="18288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Single-IMSI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57400" y="1801368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93976" y="18288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1801368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182880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89120" y="1801368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182880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32120" y="1801368"/>
            <a:ext cx="246888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68696" y="18288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range-config + apn-pools (×N)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1000" y="1801368"/>
            <a:ext cx="42062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37576" y="182880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IPs → imsi_apn_ips per APN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2221992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224942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68680" y="2221992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" y="224942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Single-IMSI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57400" y="2221992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93976" y="224942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46120" y="2221992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82696" y="22494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2221992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22494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32120" y="2221992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68696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range-config + pool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01000" y="2221992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37576" y="2249424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IP → sim_apn_ips (apn=NULL)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2642616"/>
            <a:ext cx="5486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26700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68680" y="2642616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5256" y="267004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Single-IMSI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057400" y="2642616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93976" y="267004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iccid_apn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46120" y="2642616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82696" y="2670048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APNs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389120" y="2642616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25696" y="2670048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32120" y="2642616"/>
            <a:ext cx="246888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68696" y="26700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range-config + apn-pools (×N)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001000" y="2642616"/>
            <a:ext cx="42062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37576" y="2670048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IPs → sim_apn_ips per APN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20040" y="3063240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6616" y="3090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68680" y="3063240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5256" y="309067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Multi-IMSI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057400" y="3063240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93976" y="3090672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246120" y="3063240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82696" y="3090672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389120" y="3063240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25696" y="3090672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slots × 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532120" y="3063240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68696" y="30906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iccid-range + slots + pool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01000" y="3063240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37576" y="309067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IP per slot → imsi_apn_ips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20040" y="3483864"/>
            <a:ext cx="5486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6616" y="351129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68680" y="3483864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05256" y="351129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Multi-IMSI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057400" y="3483864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93976" y="351129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246120" y="3483864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82696" y="351129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APNs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389120" y="3483864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25696" y="351129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slots × N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532120" y="3483864"/>
            <a:ext cx="246888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68696" y="351129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iccid-range + slots + apn-pools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001000" y="3483864"/>
            <a:ext cx="42062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37576" y="3511296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IPs per slot per APN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20040" y="3904488"/>
            <a:ext cx="548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6616" y="393192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68680" y="3904488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05256" y="3931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Multi-IMSI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057400" y="3904488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93976" y="3931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246120" y="3904488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82696" y="393192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389120" y="3904488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25696" y="393192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(shared)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5532120" y="3904488"/>
            <a:ext cx="2468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568696" y="39319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iccid-range + slots + pool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001000" y="390448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037576" y="393192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IP → sim_apn_ips (shared)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20040" y="4325112"/>
            <a:ext cx="5486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56616" y="435254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68680" y="4325112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05256" y="435254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Multi-IMSI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2057400" y="4325112"/>
            <a:ext cx="118872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093976" y="4352544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iccid_apn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3246120" y="4325112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82696" y="435254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APNs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389120" y="4325112"/>
            <a:ext cx="114300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5696" y="435254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(shared/APN)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5532120" y="4325112"/>
            <a:ext cx="246888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568696" y="435254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iccid-range + slots + apn-pools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8001000" y="4325112"/>
            <a:ext cx="4206240" cy="420624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037576" y="4352544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IPs → sim_apn_ips per APN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320040" y="5943600"/>
            <a:ext cx="1152144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02920" y="5989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</a:rPr>
              <a:t>Key: All siblings provisioned in ONE transaction (thundering herd protection). imsi mode → IP per slot. iccid mode → 1 shared IP per card.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Provisioning API — Complete Endpoint Reference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5780" y="960120"/>
            <a:ext cx="53492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960120"/>
            <a:ext cx="5349240" cy="38404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" y="9601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 Profiles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" y="1417320"/>
            <a:ext cx="512978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/profiles — Create profile (201)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/profiles — Paginated list with filters (iccid, imsi, status, pool_id, ip…)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/profiles/{id} — Full profile by UUID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/profiles/{id} — Replace full profile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/profiles/{id} — Partial update (JSON Merge Patch)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/profiles/{id} — Soft-delete (sets terminated, hard-deletes IPs)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/profiles/export — Export in bulk-import format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/profiles/bulk — Async bulk upsert job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86500" y="960120"/>
            <a:ext cx="53492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6500" y="960120"/>
            <a:ext cx="5349240" cy="384048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6228" y="9601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IMSI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4516" y="1417320"/>
            <a:ext cx="512978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/profiles/{id}/imsis — List all IMSIs on SIM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/profiles/{id}/imsis — Add IMSI + apn_ips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/profiles/{id}/imsis/{imsi} — Update IMSI status or priority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/profiles/{id}/imsis/{imsi} — Remove IMSI, return IPs to pool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/profiles/{id}/release-ips — Return all pool IPs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" y="5623560"/>
            <a:ext cx="53492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5780" y="5623560"/>
            <a:ext cx="5349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" y="562356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IP Pools &amp; Routing Domains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" y="6080760"/>
            <a:ext cx="512978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POST/GET/PATCH/DELETE /pools — Pool CRUD + overlap validation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/pools/{id}/stats — total / allocated / available counts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POST/GET/PATCH/DELETE /routing-domains — Domain CRUD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/routing-domains/{id}/suggest-cidr?size=N — Free CIDR finder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86500" y="5623560"/>
            <a:ext cx="53492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6500" y="5623560"/>
            <a:ext cx="534924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6228" y="562356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Range Configs &amp; APN Pools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4516" y="6080760"/>
            <a:ext cx="512978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POST/GET/PATCH/DELETE /range-configs — IMSI range CRUD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GET/POST/DELETE /range-configs/{id}/apn-pools — Per-APN pool overrides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POST/GET/PATCH/DELETE /iccid-range-configs — Multi-IMSI SIM ranges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GET/POST/DELETE /iccid-range-configs/{id}/imsi-slots — IMSI slot management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/first-connection — Internal; called by aaa-lookup-service on DB miss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PostgreSQL Schema — 9 Tables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3429000" cy="329184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32688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SUBSCRIBER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53312"/>
            <a:ext cx="54864" cy="91440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408176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sim_profiles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1700784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82CE"/>
                </a:solidFill>
              </a:rPr>
              <a:t>PK: id (UUID)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1920240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Core SIM record: iccid, status, ip_resolution, account_name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340864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40864"/>
            <a:ext cx="54864" cy="91440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39572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imsi2sim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" y="26883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182CE"/>
                </a:solidFill>
              </a:rPr>
              <a:t>PK: imsi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2907792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IMSI ↔ SIM mapping. Supports multiple IMSIs per SIM (dual-SIM)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0" y="932688"/>
            <a:ext cx="3429000" cy="329184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96512" y="932688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IP POOLS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1353312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1353312"/>
            <a:ext cx="54864" cy="9144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1376" y="1408176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51376" y="1700784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A678"/>
                </a:solidFill>
              </a:rPr>
              <a:t>PK: 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51376" y="1920240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Pool definition: subnet, start_ip, end_ip, routing_domain_id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23360" y="2340864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23360" y="2340864"/>
            <a:ext cx="54864" cy="9144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1376" y="239572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ip_pool_available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51376" y="26883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A678"/>
                </a:solidFill>
              </a:rPr>
              <a:t>PK: ip, pool_id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51376" y="2907792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Available IP slots. SKIP LOCKED ensures race-safe allocation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3328416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0" y="3328416"/>
            <a:ext cx="54864" cy="9144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1376" y="338328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imsi_apn_ips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51376" y="367588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A678"/>
                </a:solidFill>
              </a:rPr>
              <a:t>PK: imsi, apn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51376" y="3895344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IMSI-level allocated IPs with optional APN key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23360" y="4315968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23360" y="4315968"/>
            <a:ext cx="54864" cy="9144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51376" y="4370832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sim_apn_ips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51376" y="4663440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A678"/>
                </a:solidFill>
              </a:rPr>
              <a:t>PK: iccid, apn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51376" y="4882896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Card-level allocated IPs with optional APN key (iccid modes)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26680" y="932688"/>
            <a:ext cx="411480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9832" y="93268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RANGE CONFIGS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1353312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726680" y="1353312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54696" y="140817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iccid_range_configs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54696" y="170078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PK: id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54696" y="1920240"/>
            <a:ext cx="3913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ICCID-based SIM ranges with IMSI slot definitions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2340864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726680" y="2340864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54696" y="239572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imsi_range_configs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54696" y="26883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PK: id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54696" y="2907792"/>
            <a:ext cx="3913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IMSI range configs with pool_id and provisioning_mode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26680" y="3328416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26680" y="3328416"/>
            <a:ext cx="5486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54696" y="33832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range_config_apn_pools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54696" y="367588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PK: range_config_id, apn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854696" y="3895344"/>
            <a:ext cx="3913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Per-APN pool routing overrides for any range config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6080760"/>
            <a:ext cx="1152144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10819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340"/>
                </a:solidFill>
              </a:rPr>
              <a:t>Hot-path p99 &lt; 15ms via B-tree index on imsi2sim.imsi  |  SKIP LOCKED prevents duplicate IP allocation  |  Pool resolution: APN override → slot pool → parent pool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Observability — Prometheus, Grafana &amp; SLA Alerts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914400" cy="402336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9669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960120"/>
            <a:ext cx="3840480" cy="402336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99669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960120"/>
            <a:ext cx="4572000" cy="402336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9784" y="996696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62456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139903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34440" y="1362456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139903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aaa_lookup_requests_total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1362456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1399032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lookups by result (resolved|suspended|not_found)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1764792"/>
            <a:ext cx="9144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18013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34440" y="1764792"/>
            <a:ext cx="384048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9304" y="180136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aaa_lookup_duration_seconds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74920" y="1764792"/>
            <a:ext cx="45720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1801368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histogram p50/p95/p99 — SLA target p99 &lt; 15ms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167128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220370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234440" y="2167128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203704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first_connection_requests_total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2167128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2203704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miss rate — triggers Stage-2 allocation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569464"/>
            <a:ext cx="9144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606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34440" y="2569464"/>
            <a:ext cx="384048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9304" y="260604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pool_exhausted_total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74920" y="2569464"/>
            <a:ext cx="45720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9784" y="26060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pool exhaustion events — any value is critical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2971800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30083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234440" y="2971800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9304" y="300837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radius_access_requests_total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74920" y="2971800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9784" y="3008376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Access-Request packets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374136"/>
            <a:ext cx="9144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341071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234440" y="3374136"/>
            <a:ext cx="384048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9304" y="341071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radius_request_duration_ms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74920" y="3374136"/>
            <a:ext cx="45720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9784" y="3410712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RADIUS latency histogram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776472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" y="381304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234440" y="3776472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9304" y="381304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radius_responses_total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74920" y="3776472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9784" y="3813048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labelled by result (accept|reject)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4178808"/>
            <a:ext cx="9144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" y="421538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234440" y="4178808"/>
            <a:ext cx="384048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9304" y="4215384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bulk_job_duration_seconds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74920" y="4178808"/>
            <a:ext cx="4572000" cy="402336"/>
          </a:xfrm>
          <a:prstGeom prst="rect">
            <a:avLst/>
          </a:prstGeom>
          <a:solidFill>
            <a:srgbClr val="F3F5FB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9784" y="4215384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job processing time percentiles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20040" y="4581144"/>
            <a:ext cx="914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" y="461772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234440" y="4581144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89304" y="461772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pg_up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74920" y="4581144"/>
            <a:ext cx="4572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9784" y="461772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primary availability (0/1)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555480" y="960120"/>
            <a:ext cx="2423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555480" y="960120"/>
            <a:ext cx="242316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46920" y="960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Alerting Rules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646920" y="1453896"/>
            <a:ext cx="22402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20072" y="150876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SLABreach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720072" y="180136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Condition: p99 &gt; 15ms for 2m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646920" y="2295144"/>
            <a:ext cx="22402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20072" y="23500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PoolExhausted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720072" y="2642616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Condition: pool_exhausted_total &gt; 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646920" y="3136392"/>
            <a:ext cx="22402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20072" y="3191256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PrimaryDown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720072" y="3483864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Condition: pg_up == 0 for 1m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646920" y="3977640"/>
            <a:ext cx="22402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720072" y="40325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HighMissRate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720072" y="432511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Condition: first_conn_rate &gt; 5%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646920" y="4818888"/>
            <a:ext cx="2240280" cy="749808"/>
          </a:xfrm>
          <a:prstGeom prst="rect">
            <a:avLst/>
          </a:prstGeom>
          <a:solidFill>
            <a:srgbClr val="FFF5F5"/>
          </a:solidFill>
          <a:ln w="6350">
            <a:solidFill>
              <a:srgbClr val="FFD0D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720072" y="487375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BulkJobSlow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720072" y="516636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Condition: p99 &gt; 30min for job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Kubernetes Deployment — Helm Umbrella Chart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0292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029200" cy="402336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058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Helm Charts 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aaa-platform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" y="17739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Umbrella chart — deploys full stack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" y="2066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aaa-database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32257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CloudNativePG cluster + PgBouncer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aaa-lookup-service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28712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C++ hot-path service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6384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aaa-radius-server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341985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C++ RADIUS server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subscriber-profile-api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396849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Python/FastAPI provisioning 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384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aaa-management-ui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" y="451713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React web UI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" y="4809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aaa-regression-tester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" y="506577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pytest K8s Job (enabled via make test)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" y="5358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kube-prometheus-stack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" y="561441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Prometheus + Grafana + Alertmanager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10058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40"/>
                </a:solidFill>
              </a:rPr>
              <a:t>Environments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1444752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1444752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554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Dev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Docker Desktop or k3d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1762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 (≈10min)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1444752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0" y="1444752"/>
            <a:ext cx="1920240" cy="640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1554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CI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63840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k3d cluster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21762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bootstrap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75520" y="1444752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75520" y="1444752"/>
            <a:ext cx="192024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1554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40"/>
                </a:solidFill>
              </a:rPr>
              <a:t>Prod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66960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EKS / GKE / OCI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966960" y="21762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values.yaml (HA)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2926080"/>
            <a:ext cx="617220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2926080"/>
            <a:ext cx="73152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2980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Quick Start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52160" y="333756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and deploy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52160" y="352958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https://github.com/org/aaa-cloud-native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52160" y="372160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aaa-cloud-native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52160" y="410565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(k3d / Docker Desktop)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52160" y="429768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52160" y="468172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&amp; push images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52160" y="487375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build-all REGISTRY=myregistry TAG=v1.0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52160" y="52578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to Kubernetes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52160" y="54498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deploy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52160" y="583387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regression suite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0" y="602589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658368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669280" cy="2560320"/>
          </a:xfrm>
          <a:prstGeom prst="rect">
            <a:avLst/>
          </a:prstGeom>
          <a:solidFill>
            <a:srgbClr val="172055"/>
          </a:solidFill>
          <a:ln w="15240">
            <a:solidFill>
              <a:srgbClr val="3182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669280" cy="640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064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Real-Time Performance Guaranteed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618488"/>
            <a:ext cx="5394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Separated read/write paths ensure RADIUS authentication always stays below 15ms p99 — even as the subscriber base grows to 8M+.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5669280" cy="2560320"/>
          </a:xfrm>
          <a:prstGeom prst="rect">
            <a:avLst/>
          </a:prstGeom>
          <a:solidFill>
            <a:srgbClr val="172055"/>
          </a:solidFill>
          <a:ln w="15240">
            <a:solidFill>
              <a:srgbClr val="38A1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960120"/>
            <a:ext cx="566928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1064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Zero-Touch First-Connection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1618488"/>
            <a:ext cx="5394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Unknown IMSIs are auto-provisioned on first RADIUS attach. Multi-IMSI SIM cards get all slots provisioned atomically in a single transaction.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5669280" cy="2560320"/>
          </a:xfrm>
          <a:prstGeom prst="rect">
            <a:avLst/>
          </a:prstGeom>
          <a:solidFill>
            <a:srgbClr val="172055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03320"/>
            <a:ext cx="5669280" cy="640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8496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Cloud-Native from the Ground 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4361688"/>
            <a:ext cx="5394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Kubernetes-native with Helm charts, CloudNativePG, PgBouncer, Prometheus, and Grafana. Scales independently per-region, per-service.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703320"/>
            <a:ext cx="5669280" cy="2560320"/>
          </a:xfrm>
          <a:prstGeom prst="rect">
            <a:avLst/>
          </a:prstGeom>
          <a:solidFill>
            <a:srgbClr val="172055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703320"/>
            <a:ext cx="56692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8496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Enterprise-Scale Operations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6832" y="4361688"/>
            <a:ext cx="5394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443 regression tests, bulk provisioning of 100K profiles per job, per-row error accumulation, and full audit trail for compliance.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6492240"/>
            <a:ext cx="1143000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19672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aaa-cloud-native  |  Platform Engineering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Cloud-Native Platform</dc:title>
  <dc:subject>PptxGenJS Presentation</dc:subject>
  <dc:creator>Platform Engineering</dc:creator>
  <cp:lastModifiedBy>Platform Engineering</cp:lastModifiedBy>
  <cp:revision>1</cp:revision>
  <dcterms:created xsi:type="dcterms:W3CDTF">2026-04-12T14:14:24Z</dcterms:created>
  <dcterms:modified xsi:type="dcterms:W3CDTF">2026-04-12T14:14:24Z</dcterms:modified>
</cp:coreProperties>
</file>