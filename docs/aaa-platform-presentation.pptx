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1" r:id="rId22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274320"/>
            <a:ext cx="4114800" cy="5692140"/>
          </a:xfrm>
          <a:prstGeom prst="rect">
            <a:avLst/>
          </a:prstGeom>
          <a:solidFill>
            <a:srgbClr val="172055">
              <a:alpha val="60000"/>
            </a:srgbClr>
          </a:solidFill>
          <a:ln w="12700">
            <a:solidFill>
              <a:srgbClr val="17205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583680" y="-274320"/>
            <a:ext cx="3200400" cy="5692140"/>
          </a:xfrm>
          <a:prstGeom prst="rect">
            <a:avLst/>
          </a:prstGeom>
          <a:solidFill>
            <a:srgbClr val="0D1844">
              <a:alpha val="60000"/>
            </a:srgbClr>
          </a:solidFill>
          <a:ln w="12700">
            <a:solidFill>
              <a:srgbClr val="0D1844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365760"/>
            <a:ext cx="3200400" cy="237744"/>
          </a:xfrm>
          <a:prstGeom prst="roundRect">
            <a:avLst>
              <a:gd name="adj" fmla="val 50000"/>
            </a:avLst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74320" y="3657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ADCFC"/>
                </a:solidFill>
              </a:rPr>
              <a:t>TELECOM  |  AAA  |  CLOUD-NATIVE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100584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 Cloud-Native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7432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74320" y="265176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High-Performance Subscriber Provisioning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Real-Time RADIUS Authentication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7432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7432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&lt; 15ms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p99 Lookup SLA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9456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19456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19456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100K+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9456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Bulk Profiles/Job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11480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11480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Multi-IMSI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11480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Auto-Provisioning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0" y="914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C++17 / Drogon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75120" y="1074420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766560" y="14813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Python / FastAPI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75120" y="1641348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766560" y="20482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PostgreSQL 15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675120" y="2208276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766560" y="261518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Kubernetes / Helm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675120" y="2775204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766560" y="31821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Prometheus / Grafana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675120" y="3342132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Challenge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6576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9377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Speed vs. Scale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377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RADIUS must authenticate subscribers in &lt;15ms while serving millions of requests per day — but provisioning writes are slower and less frequent.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6576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377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Unknown IMSIs at First Attach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Network equipment cannot predict when a new SIM activates. Operators need dynamic, zero-touch provisioning on first connection — no manual intervention.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5488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75488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8289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Multi-IMSI SIM Complexity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8289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A single physical SIM card can carry up to 10 distinct IMSIs. Provisioning one slot must automatically provision all sibling slots in a single atomic step.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75488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8289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IP Pool Race Conditions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8289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Concurrent first-connection events can race to claim the same IP address. A safe, lock-free allocation mechanism is critical for correctness at scale.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Solution: Three-Service Architecture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468880" y="960120"/>
            <a:ext cx="420624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468880" y="960120"/>
            <a:ext cx="420624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468880" y="10149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aaa-radius-server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68880" y="1399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RADIUS Frontend  |  Receives Access-Requests from network equipment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1709928"/>
            <a:ext cx="0" cy="438912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737360" y="2148840"/>
            <a:ext cx="1143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6576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2E75B6"/>
                </a:solidFill>
              </a:rPr>
              <a:t>Stage 1: GET /lookup (every request)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263640" y="1709928"/>
            <a:ext cx="0" cy="438912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63640" y="2148840"/>
            <a:ext cx="1143000" cy="0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0" y="1920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5A623"/>
                </a:solidFill>
              </a:rPr>
              <a:t>Stage 2: POST /first-connection (on 404 only)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0" y="2194560"/>
            <a:ext cx="0" cy="2674620"/>
          </a:xfrm>
          <a:prstGeom prst="line">
            <a:avLst/>
          </a:prstGeom>
          <a:noFill/>
          <a:ln w="12700">
            <a:solidFill>
              <a:srgbClr val="CADCFC"/>
            </a:solidFill>
            <a:prstDash val="dash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6576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75B6"/>
                </a:solidFill>
              </a:rPr>
              <a:t>READ PATH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</a:rPr>
              <a:t>aaa-lookup-service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6576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5B6"/>
                </a:solidFill>
              </a:rPr>
              <a:t>C++17 / Drogon — Port 8081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Sub-15ms p99 hot-path (called on every Access-Request)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Reads from local read-replica only (no writes)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Single-query IMSI lookup, index-only seek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JWT RS256 verification with caching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Returns 404 to trigger first-connection flow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75B6"/>
                </a:solidFill>
              </a:rPr>
              <a:t>WRITE PATH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subscriber-profile-api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5488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5B6"/>
                </a:solidFill>
              </a:rPr>
              <a:t>Python 3.11 / FastAPI — Port 8080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5488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First-connection: allocates IP + creates profile on 404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Full subscriber lifecycle CRUD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Multi-IMSI atomic provisioning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Race-safe IP pool claiming (FOR UPDATE SKIP LOCKED)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Async bulk operations up to 100K profiles/job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aaa-radius-server orchestrates two independent backend services optimized for their workloads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Performance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1600200" cy="1234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20040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&lt; 15ms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p99 Lookup Latency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39112" y="868680"/>
            <a:ext cx="1600200" cy="123444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039112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39112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1-3ms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039112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p50 Typical Latency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758184" y="868680"/>
            <a:ext cx="1600200" cy="12344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758184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758184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100K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758184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Profiles per Bulk Job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77256" y="868680"/>
            <a:ext cx="1600200" cy="1234440"/>
          </a:xfrm>
          <a:prstGeom prst="rect">
            <a:avLst/>
          </a:prstGeom>
          <a:solidFill>
            <a:srgbClr val="114C75"/>
          </a:solidFill>
          <a:ln w="12700">
            <a:solidFill>
              <a:srgbClr val="114C7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77256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77256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10,000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77256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Access request per sec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196328" y="868680"/>
            <a:ext cx="1600200" cy="12344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196328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196328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196328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Max IMSIs per SIM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65760" y="2331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F7"/>
                </a:solidFill>
              </a:rPr>
              <a:t>How we achieve &lt; 15ms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9377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Index-only B-tree seek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imsi2device.imsi is a PK — single-page lookup, no full-table scan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5488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88289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Near 100% cache hit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8289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~80MB index fits entirely in PostgreSQL shared_buffers at steady state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9377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Async C++ Drogon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377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Non-blocking I/O with coroutines; zero context-switching overhead per request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5488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88289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Read replica isolation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8289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Lookup never competes with write transactions on the primary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RADIUS Hot-Path Flow (Happy Path)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aaa-radius-server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7442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aaa-lookup-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service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(C++, port 8081)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1470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Read Replica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(PostgreSQL)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5498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74420" y="192024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186684" y="179222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0140" y="162763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GET /lookup?imsi=278773000002002&amp;apn=internet.op.com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14700" y="242316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26964" y="22951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60420" y="21305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SELECT ... WHERE imsi = $1  (index seek)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14700" y="28803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259836" y="27523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60420" y="25877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75B6"/>
                </a:solidFill>
              </a:rPr>
              <a:t>Row: static_ip = 100.65.120.5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74420" y="33375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19556" y="32095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0140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75B6"/>
                </a:solidFill>
              </a:rPr>
              <a:t>200 OK  {"static_ip": "100.65.120.5"}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Possible Outcomes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0" y="1280160"/>
            <a:ext cx="2286000" cy="5486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583680" y="12801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086600" y="12801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Access-Accept + Framed-IP-Address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0" y="1938528"/>
            <a:ext cx="2286000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583680" y="19385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86600" y="19385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Access-Reject (suspended)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83680" y="2596896"/>
            <a:ext cx="2286000" cy="54864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583680" y="259689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086600" y="25968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Triggers Stage 2 first-connection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solidFill>
            <a:srgbClr val="EEF3FB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Steady-state: every Access-Request handled entirely by aaa-lookup-service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Two-Stage First-Connection Allocation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023360" cy="1600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65760" y="100584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10058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2984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aaa-lookup-service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62763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/lookup?imsi={imsi}&amp;apn={apn}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Queries READ REPLICA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IMSI not found in imsi2device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404 {"error": "not_found"}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26334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A623"/>
                </a:solidFill>
              </a:rPr>
              <a:t>▼  aaa-radius-server falls through to Stage 2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944368"/>
            <a:ext cx="4023360" cy="1920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65760" y="2990088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65760" y="2990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32826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subscriber-profile-api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6118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/v1/first-connection {imsi, apn, imei}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Idempotency check: IMSI already exists?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Match range config (f_imsi &lt;= $imsi &lt;= t_imsi)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Claim IP:  DELETE FROM ip_pool_available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FOR UPDATE SKIP LOCKED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INSERT profile + IMSI + IP  (atomic COMMIT)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663440" y="9601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Stage 2 Outcomes  (subscriber-profile-api)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261872"/>
            <a:ext cx="4114800" cy="868680"/>
          </a:xfrm>
          <a:prstGeom prst="rect">
            <a:avLst/>
          </a:prstGeom>
          <a:solidFill>
            <a:srgbClr val="E8F5E9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663440" y="1261872"/>
            <a:ext cx="54864" cy="86868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73168" y="130759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IP Allocated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773168" y="156362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subscriber-profile-api creates device_id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(gen_random_uuid). static_ip returned.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aaa-radius-server issues Access-Accept.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2221992"/>
            <a:ext cx="4114800" cy="868680"/>
          </a:xfrm>
          <a:prstGeom prst="rect">
            <a:avLst/>
          </a:prstGeom>
          <a:solidFill>
            <a:srgbClr val="E3F2FD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663440" y="2221992"/>
            <a:ext cx="54864" cy="8686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73168" y="226771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Idempotent Return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73168" y="252374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IMSI already existed in DB.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Same device_id &amp; IP returned.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Safe to retry — no duplicates.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182112"/>
            <a:ext cx="411480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663440" y="3182112"/>
            <a:ext cx="54864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773168" y="32278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404 — No Range Config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773168" y="348386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IMSI not in any active range config.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aaa-radius-server issues Access-Reject.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4142232"/>
            <a:ext cx="4114800" cy="868680"/>
          </a:xfrm>
          <a:prstGeom prst="rect">
            <a:avLst/>
          </a:prstGeom>
          <a:solidFill>
            <a:srgbClr val="FFEBEE"/>
          </a:solidFill>
          <a:ln w="12700">
            <a:solidFill>
              <a:srgbClr val="E05C5C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663440" y="4142232"/>
            <a:ext cx="54864" cy="86868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773168" y="41879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503 — Pool Exhausted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773168" y="444398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No available IPs remaining.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Create a new pool.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Alert fires automatically.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Unknown IMSI → auto-provisioned in a single atomic transaction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Multi-IMSI SIM: Zero-Touch Provisioning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286000" cy="3200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417320"/>
            <a:ext cx="1828800" cy="36576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7432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SIM Card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Slot 1: IMSI 278770...042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Slot 2: IMSI 278771...042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3657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EA8E8"/>
                </a:solidFill>
              </a:rPr>
              <a:t>ICCID: 8944...042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34640" y="1051560"/>
            <a:ext cx="1097280" cy="3200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24612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24612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8950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1 First Attach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8950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404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/first-connection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{imsi: "278770...042"}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069080" y="1051560"/>
            <a:ext cx="1097280" cy="320040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8056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8056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5C9E"/>
                </a:solidFill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2394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Compute Offset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2394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offset = 278770...042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- 278770...000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03520" y="1051560"/>
            <a:ext cx="1097280" cy="3200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71500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71500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5A8A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5838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Derive ICCID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5838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8944...000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+ 42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8944...042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537960" y="1051560"/>
            <a:ext cx="1097280" cy="320040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94944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94944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9282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Atomic Transaction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9282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per slot (imsi mode)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1 IP card (iccid mode)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slots INSERTed, 1 COMMIT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772400" y="1051560"/>
            <a:ext cx="1097280" cy="3200400"/>
          </a:xfrm>
          <a:prstGeom prst="rect">
            <a:avLst/>
          </a:prstGeom>
          <a:solidFill>
            <a:srgbClr val="28A870"/>
          </a:solidFill>
          <a:ln w="12700">
            <a:solidFill>
              <a:srgbClr val="28A87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818388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18388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870"/>
                </a:solidFill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82726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2 Connects Later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82726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200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(pre-provisioned!)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2 never runs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4434840"/>
            <a:ext cx="859536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57200" y="44348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Key: All siblings provisioned in ONE transaction (thundering herd protection). imsi mode → IP per slot. iccid mode → 1 shared IP per card.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274320" y="4434840"/>
            <a:ext cx="54864" cy="47548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All sibling slots pre-provisioned atomically — each from its own per-slot pool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 Model: 9 PostgreSQL Tables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SUBSCRIBER DATA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84048" y="1389888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device_profiles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627632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device_id (UUID)  |  One row per SIM card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011680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84048" y="2048256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imsi2device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2286000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imsi (15 digits)  |  One row per IMSI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670048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84048" y="2706624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imsi_apn_ips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944368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IMSI-level IP assignments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328416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84048" y="336499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device_apn_ips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" y="3602736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Card-level IP assignments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IP POOLS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3756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44728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4728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pool_id (UUID)  |  Pool definition (CIDR, bounds)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3756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44728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ip_pool_available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(pool_id, ip)  |  Available IP work-queue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RANGE CONFIGS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32764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imsi_range_configs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2764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 ranges for auto-prov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32764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iccid_range_configs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2764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Multi-IMSI SIM parent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670048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327648" y="270662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range_config_apn_pools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27648" y="2944368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Per-APN pool overrides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3328416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327648" y="3364992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bulk_jobs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27648" y="360273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job_id (UUID)  |  Async bulk job tracking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4023360"/>
            <a:ext cx="8595360" cy="86868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57200" y="4069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ip_resolution modes: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82880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182880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2880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IMSI, all APNs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1188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361188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61188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 per APN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39496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539496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39496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card, all APNs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04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717804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iccid_apn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7804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 per APN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Three logical groups — subscriber data, IP pools, and range configurations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subscriber-profile-api: REST API Surface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Subscriber Profiles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576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576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576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/v1/profiles?iccid={}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6576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/v1/profiles/{id}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65760" y="27614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/v1/profiles/{id}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IMSI Operations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29184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/v1/profiles/{id}/imsis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29184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/v1/profiles/{id}/imsis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29184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.../imsis/{imsi}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29184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.../imsis/{imsi}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IP Pools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2648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21792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/v1/pools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2648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21792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/v1/pools/{id}/stats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2648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21792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/v1/pools/{id}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2648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1792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/v1/pools/{id}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Range Configs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7432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6576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/v1/range-configs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7432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6576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GET/POST/DELETE .../apn-pools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7432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36576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/v1/iccid-range-configs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7432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36576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.../imsi-slots (multi-IMSI)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First-Connection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20040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329184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/v1/first-connection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20040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329184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Idempotent allocation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20040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329184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device_id + IP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329184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503 if pool exhausted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Bulk &amp; Jobs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12648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621792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(JSON)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12648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621792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(CSV)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12648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621792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/v1/jobs/{job_id}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12648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621792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queued / processing / done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Full lifecycle management with JWT authentication (OAuth 2.0 Bearer)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Bulk Provisioning: Async Job Processing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920240" cy="19202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Submit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POST /v1/profiles/bulk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JSON array or CSV file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(up to 100K profiles)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19456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377440" y="1005840"/>
            <a:ext cx="1920240" cy="19202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20040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20040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5A8A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5059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202 Accepted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5059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Returns job_id immediately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No waiting — fully async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status_url provided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29768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480560" y="1005840"/>
            <a:ext cx="1920240" cy="19202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30352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30352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3D60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5371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Thread Pool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371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BULK_WORKER_THREADS (default 2)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Processes in batches of 1,000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INSERT ON CONFLICT (upsert)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0" y="1005840"/>
            <a:ext cx="1920240" cy="19202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40664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40664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5683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Poll Status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5683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GET /v1/jobs/{job_id}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queued → processing → completed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processed + failed + errors[]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3127248"/>
            <a:ext cx="4114800" cy="169164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274320" y="3127248"/>
            <a:ext cx="54864" cy="1691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02336" y="32004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Error Handling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2336" y="3520440"/>
            <a:ext cx="3886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Failed rows do not abort the job — errors are accumulated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Each error contains: row number, field, message, bad value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Job completes with processed=N, failed=M, errors=[...]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3127248"/>
            <a:ext cx="4297680" cy="16916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663440" y="32004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A8E8"/>
                </a:solidFill>
              </a:rPr>
              <a:t>Example response (GET /v1/jobs/{id})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663440" y="35112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{"job_id": "abc123",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663440" y="36941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"status": "completed",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38770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"processed": 4997,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663440" y="405993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"failed": 3,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663440" y="424281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"errors": [{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663440" y="44256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"row": 42, "field": "imsi",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63440" y="46085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"message": "Must be 15 digits"}]}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Up to 100,000 profiles per job — JSON or CSV, never blocks the API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Observability &amp; Monitoring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Key Prometheus Metrics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2194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 Name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lookup_latency_ms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p50/p95/p99 per result label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lookup_result_total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 / not_found / suspended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first_connection_total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allocated / reused / pool_exhausted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pool_exhausted_total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pool_id — alert if rate &gt;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bulk_job_duration_seconds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End-to-end bulk job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api_request_duration_ms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endpoints by method+path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217920" y="9601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Alerting Rules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17920" y="128016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8686800" y="128016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309360" y="13167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p99 Latency High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9360" y="1572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15ms for 2+ min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17920" y="205740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8686800" y="205740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309360" y="20939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Pool Exhausted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rate &gt; 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17920" y="283464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686800" y="283464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309360" y="287121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Not-Found Spike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5x baseline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17920" y="361188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8686800" y="361188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309360" y="36484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DB Primary Down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309360" y="3904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connection lost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274320" y="3703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Structured JSON Logging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74320" y="4023360"/>
            <a:ext cx="8595360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411480" y="4114800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"ts":"2026-03-13T14:00:00Z", "imsi_hash":"278773..", "apn":"internet.op.com", "result":"resolved", "latency_ms":2.4, "ip_resolution":"imsi" }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11480" y="46634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A623"/>
                </a:solidFill>
              </a:rPr>
              <a:t>Note: Raw IMSI is NEVER logged — SHA-256(imsi)[0:8] is used instead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Prometheus metrics, structured JSON logs, Grafana dashboards, auto-alerting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Kubernetes Deployment Architecture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3794760"/>
          </a:xfrm>
          <a:prstGeom prst="rect">
            <a:avLst/>
          </a:prstGeom>
          <a:solidFill>
            <a:srgbClr val="F8FAFF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1480" y="1005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E75B6"/>
                </a:solidFill>
              </a:rPr>
              <a:t>aaa-platform  (Kubernetes Namespace)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89888"/>
            <a:ext cx="1920240" cy="914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aaa-lookup-service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(C++, 3-6 replicas)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8081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60320" y="1389888"/>
            <a:ext cx="1920240" cy="914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6032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subscriber-profile-api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(Python, 2-4 replicas)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6032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63440" y="1389888"/>
            <a:ext cx="1920240" cy="91440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6344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aaa-management-ui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(React, 1-2 replicas)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6344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766560" y="1389888"/>
            <a:ext cx="1920240" cy="914400"/>
          </a:xfrm>
          <a:prstGeom prst="rect">
            <a:avLst/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76656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Prometheus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+ Grafana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9090/3000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41732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52044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7200" y="2670048"/>
            <a:ext cx="5029200" cy="914400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PostgreSQL Primary (CNPG)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RW (pooler)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RO (pooler)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Read Replica(s)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794760"/>
            <a:ext cx="5029200" cy="640080"/>
          </a:xfrm>
          <a:prstGeom prst="rect">
            <a:avLst/>
          </a:prstGeom>
          <a:solidFill>
            <a:srgbClr val="EEF3FB"/>
          </a:solidFill>
          <a:ln w="6350">
            <a:solidFill>
              <a:srgbClr val="B0C4D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02920" y="37947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nginx-ingress  |  lookup.aaa.localhost → :8081  |  provisioning.aaa.localhost → :8080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760720" y="1389888"/>
            <a:ext cx="3017520" cy="1600200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852160" y="1444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Helm Charts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52160" y="17647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aaa-platform (umbrella)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52160" y="19933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aaa-database (CNPG)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52160" y="22219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aaa-lookup-service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52160" y="24505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subscriber-profile-api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52160" y="26791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aaa-management-ui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760720" y="3090672"/>
            <a:ext cx="3017520" cy="1344168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852160" y="31455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Storage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852160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Dev: local-path (k3d) (5 Gi)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52160" y="37856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Prod: gp3-encrypted (EBS) (100 Gi)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8521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Prometheus: local-path / gp3 (5-50 Gi)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Helm umbrella chart — all components in aaa-platform namespace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Developer Workflow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Bootstrap (first time):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133502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bootstrap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13350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cluster-up + hosts + build-all + push-all + deploy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5760" y="18379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status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94560" y="18379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Show all pod statuses in aaa-platform namespace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30428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65760" y="23408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94560" y="234086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Run 11-module regression suite as K8s Job (~15 min)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" y="2852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Port-Forward (local dev):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00400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84048" y="322783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port-forward-api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78608" y="322783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localhost:8080 (subscriber-profile-api)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630168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84048" y="36576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port-forward-lookup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78608" y="3657600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localhost:8081 (aaa-lookup-service)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4059936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84048" y="40873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port-forward-db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78608" y="4087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localhost:5432 (psql, DBeaver)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4489704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84048" y="451713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port-forward-grafana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78608" y="451713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localhost:3000 (admin/dev-grafana)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0" y="960120"/>
            <a:ext cx="3749040" cy="388620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120640" y="960120"/>
            <a:ext cx="3749040" cy="32918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166360" y="960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Regression Test Suite (11 Modules)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230368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test_01_pools.py — IP pool CRUD &amp; exhaustion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0368" y="171907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230368" y="17556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test_02_range_configs.py — IMSI range CRUD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230368" y="210312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230368" y="21396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test_03/04/05 — Profiles A / B / C modes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230368" y="248716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230368" y="25237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test_06_imsi_ops.py — IMSI add/remove/update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30368" y="287121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23036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test_07_dynamic_alloc.py — Two-stage flow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30368" y="3255264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230368" y="32918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test_08_bulk.py — JSON + CSV bulk upsert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230368" y="363931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230368" y="36758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test_09_migration.py — MariaDB → PostgreSQL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230368" y="402336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230368" y="405993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test_10_errors.py — Validation &amp; conflicts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230368" y="440740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5230368" y="444398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test_11_performance.py — Latency &amp; stress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230368" y="479145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Makefile-driven local development with k3d + hot-reload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Auto-Allocation Scenarios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766560" y="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A8E8"/>
                </a:solidFill>
              </a:rPr>
              <a:t>POST /v1/first-connection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4592" y="749808"/>
            <a:ext cx="347472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" y="74980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#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12064" y="749808"/>
            <a:ext cx="141732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39496" y="74980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SIM type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2938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95681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Mode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3522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96265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APN catalog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1064" y="749808"/>
            <a:ext cx="658368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968496" y="74980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IPs / SIM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99432" y="749808"/>
            <a:ext cx="137160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26864" y="74980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Config steps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71032" y="749808"/>
            <a:ext cx="16916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98464" y="74980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First connect provisions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64592" y="1078992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92024" y="107899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S1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12064" y="1078992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39496" y="107899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92938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95681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3522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296265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941064" y="1078992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968496" y="107899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599432" y="1078992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626864" y="107899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971032" y="1078992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998464" y="107899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imsi_apn_ips (apn=NULL)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64592" y="1408176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92024" y="140817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S2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12064" y="1408176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539496" y="140817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92938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195681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imsi_apn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93522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296265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941064" y="1408176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968496" y="140817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99432" y="1408176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626864" y="140817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971032" y="1408176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5998464" y="140817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imsi_apn_ips per APN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64592" y="1737360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192024" y="173736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S3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12064" y="1737360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539496" y="17373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192938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195681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93522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296265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941064" y="1737360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3968496" y="173736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599432" y="1737360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4626864" y="173736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71032" y="1737360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5998464" y="173736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device_apn_ips (apn=NULL)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64592" y="2066544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192024" y="2066544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S4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512064" y="2066544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539496" y="20665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92938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195681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iccid_apn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293522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296265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3941064" y="2066544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3968496" y="2066544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599432" y="2066544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4626864" y="2066544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5971032" y="2066544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5998464" y="2066544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device_apn_ips per APN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64592" y="2395728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192024" y="239572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M1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12064" y="2395728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539496" y="239572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192938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0" name="Text 78"/>
          <p:cNvSpPr/>
          <p:nvPr/>
        </p:nvSpPr>
        <p:spPr>
          <a:xfrm>
            <a:off x="195681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293522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296265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3941064" y="2395728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3968496" y="239572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M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599432" y="2395728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6" name="Text 84"/>
          <p:cNvSpPr/>
          <p:nvPr/>
        </p:nvSpPr>
        <p:spPr>
          <a:xfrm>
            <a:off x="4626864" y="239572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(per-slot pools opt.)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5971032" y="2395728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8" name="Text 86"/>
          <p:cNvSpPr/>
          <p:nvPr/>
        </p:nvSpPr>
        <p:spPr>
          <a:xfrm>
            <a:off x="5998464" y="239572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 IPs — 1 per slot, all in 1 COMMIT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164592" y="2724912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92024" y="272491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M2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512064" y="2724912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2" name="Text 90"/>
          <p:cNvSpPr/>
          <p:nvPr/>
        </p:nvSpPr>
        <p:spPr>
          <a:xfrm>
            <a:off x="539496" y="272491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192938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195681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imsi_apn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293522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6" name="Text 94"/>
          <p:cNvSpPr/>
          <p:nvPr/>
        </p:nvSpPr>
        <p:spPr>
          <a:xfrm>
            <a:off x="296265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3941064" y="2724912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8" name="Text 96"/>
          <p:cNvSpPr/>
          <p:nvPr/>
        </p:nvSpPr>
        <p:spPr>
          <a:xfrm>
            <a:off x="3968496" y="272491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M×N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599432" y="2724912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0" name="Text 98"/>
          <p:cNvSpPr/>
          <p:nvPr/>
        </p:nvSpPr>
        <p:spPr>
          <a:xfrm>
            <a:off x="4626864" y="272491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 on each slot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971032" y="2724912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2" name="Text 100"/>
          <p:cNvSpPr/>
          <p:nvPr/>
        </p:nvSpPr>
        <p:spPr>
          <a:xfrm>
            <a:off x="5998464" y="272491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M×N IPs — per-slot per-APN, 1 COMMIT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164592" y="3054096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4" name="Text 102"/>
          <p:cNvSpPr/>
          <p:nvPr/>
        </p:nvSpPr>
        <p:spPr>
          <a:xfrm>
            <a:off x="192024" y="305409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M3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512064" y="3054096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6" name="Text 104"/>
          <p:cNvSpPr/>
          <p:nvPr/>
        </p:nvSpPr>
        <p:spPr>
          <a:xfrm>
            <a:off x="539496" y="305409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192938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8" name="Text 106"/>
          <p:cNvSpPr/>
          <p:nvPr/>
        </p:nvSpPr>
        <p:spPr>
          <a:xfrm>
            <a:off x="195681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293522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0" name="Text 108"/>
          <p:cNvSpPr/>
          <p:nvPr/>
        </p:nvSpPr>
        <p:spPr>
          <a:xfrm>
            <a:off x="296265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3941064" y="3054096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2" name="Text 110"/>
          <p:cNvSpPr/>
          <p:nvPr/>
        </p:nvSpPr>
        <p:spPr>
          <a:xfrm>
            <a:off x="3968496" y="305409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4599432" y="3054096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4" name="Text 112"/>
          <p:cNvSpPr/>
          <p:nvPr/>
        </p:nvSpPr>
        <p:spPr>
          <a:xfrm>
            <a:off x="4626864" y="305409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5971032" y="3054096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6" name="Text 114"/>
          <p:cNvSpPr/>
          <p:nvPr/>
        </p:nvSpPr>
        <p:spPr>
          <a:xfrm>
            <a:off x="5998464" y="305409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shared — all slots, 1 COMMIT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164592" y="3383280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8" name="Text 116"/>
          <p:cNvSpPr/>
          <p:nvPr/>
        </p:nvSpPr>
        <p:spPr>
          <a:xfrm>
            <a:off x="192024" y="338328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M4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512064" y="3383280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0" name="Text 118"/>
          <p:cNvSpPr/>
          <p:nvPr/>
        </p:nvSpPr>
        <p:spPr>
          <a:xfrm>
            <a:off x="539496" y="33832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192938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2" name="Text 120"/>
          <p:cNvSpPr/>
          <p:nvPr/>
        </p:nvSpPr>
        <p:spPr>
          <a:xfrm>
            <a:off x="195681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iccid_apn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293522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4" name="Text 122"/>
          <p:cNvSpPr/>
          <p:nvPr/>
        </p:nvSpPr>
        <p:spPr>
          <a:xfrm>
            <a:off x="296265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125" name="Shape 123"/>
          <p:cNvSpPr/>
          <p:nvPr/>
        </p:nvSpPr>
        <p:spPr>
          <a:xfrm>
            <a:off x="3941064" y="3383280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6" name="Text 124"/>
          <p:cNvSpPr/>
          <p:nvPr/>
        </p:nvSpPr>
        <p:spPr>
          <a:xfrm>
            <a:off x="3968496" y="338328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127" name="Shape 125"/>
          <p:cNvSpPr/>
          <p:nvPr/>
        </p:nvSpPr>
        <p:spPr>
          <a:xfrm>
            <a:off x="4599432" y="3383280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8" name="Text 126"/>
          <p:cNvSpPr/>
          <p:nvPr/>
        </p:nvSpPr>
        <p:spPr>
          <a:xfrm>
            <a:off x="4626864" y="338328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5971032" y="3383280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30" name="Text 128"/>
          <p:cNvSpPr/>
          <p:nvPr/>
        </p:nvSpPr>
        <p:spPr>
          <a:xfrm>
            <a:off x="5998464" y="338328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shared card-level, 1 COMMIT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164592" y="3785616"/>
            <a:ext cx="8814816" cy="713232"/>
          </a:xfrm>
          <a:prstGeom prst="rect">
            <a:avLst/>
          </a:prstGeom>
          <a:solidFill>
            <a:srgbClr val="EEF3FB"/>
          </a:solidFill>
          <a:ln w="762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32" name="Text 130"/>
          <p:cNvSpPr/>
          <p:nvPr/>
        </p:nvSpPr>
        <p:spPr>
          <a:xfrm>
            <a:off x="256032" y="3803904"/>
            <a:ext cx="8631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= APN entries in range_config_apn_pools  ·  M = active IMSI slots  ·  All scenarios are idempotent — repeat calls return existing IP with single read, no allocation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Pool resolution: APN override (range_config_apn_pools) → slot pool (imsi_range_configs) → parent pool (iccid_range_configs)  ·  M2 example: 2 slots × 2 APNs = 4 IPs per SIM in one COMMIT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Bulk provisioning: all 8 scenarios supported via POST /v1/profiles/bulk — supply static_ip/pool_id per IP entry for pre-provisioned, or omit for auto-allocation via range config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0233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Real-Time Performance Guaranteed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233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Separated read/write paths ensure RADIUS authentication always stays below 15ms p99 — even as the subscriber base grows.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709160" y="960120"/>
            <a:ext cx="4114800" cy="54864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83717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Zero-Touch First-Connection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3717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Unknown IMSIs are detected and auto-provisioned on first RADIUS attach. Multi-IMSI SIM cards get all slots provisioned atomically in a single transaction.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74320" y="2880360"/>
            <a:ext cx="4114800" cy="54864"/>
          </a:xfrm>
          <a:prstGeom prst="rect">
            <a:avLst/>
          </a:prstGeom>
          <a:solidFill>
            <a:srgbClr val="7EA8E8"/>
          </a:solidFill>
          <a:ln w="1270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0233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Cloud-Native from the Ground Up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Kubernetes-native with Helm charts, CloudNativePG, PgBouncer, Prometheus, and Grafana. Scales independently per-region, per-service.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709160" y="2880360"/>
            <a:ext cx="41148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3717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Enterprise-Scale Operations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3717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Bulk provisioning of 100K profiles per job, async processing, per-row error accumulation, and full audit trail for compliance.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74320" y="4773168"/>
            <a:ext cx="8595360" cy="0"/>
          </a:xfrm>
          <a:prstGeom prst="line">
            <a:avLst/>
          </a:prstGeom>
          <a:noFill/>
          <a:ln w="6350">
            <a:solidFill>
              <a:srgbClr val="3C4D6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74320" y="4809744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aaa-cloud-native  |  Platform Engineering  |  March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8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00"/>
          <a:lstStyle/>
          <a:p>
            <a:pPr algn="l"/>
            <a:r>
              <a:rPr sz="2200" b="1">
                <a:solidFill>
                  <a:srgbClr val="FFFFFF"/>
                </a:solidFill>
              </a:rPr>
              <a:t>Service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10000" y="767000"/>
            <a:ext cx="980000" cy="243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10000" y="915000"/>
            <a:ext cx="980000" cy="114000"/>
          </a:xfrm>
          <a:prstGeom prst="ellipse">
            <a:avLst/>
          </a:prstGeom>
          <a:solidFill>
            <a:srgbClr val="2E5EB8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10000" y="710000"/>
            <a:ext cx="980000" cy="114000"/>
          </a:xfrm>
          <a:prstGeom prst="ellipse">
            <a:avLst/>
          </a:prstGeom>
          <a:solidFill>
            <a:srgbClr val="9DB6E4"/>
          </a:solidFill>
          <a:ln w="9525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0000" y="767000"/>
            <a:ext cx="980000" cy="243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560000" y="915000"/>
            <a:ext cx="980000" cy="114000"/>
          </a:xfrm>
          <a:prstGeom prst="ellipse">
            <a:avLst/>
          </a:prstGeom>
          <a:solidFill>
            <a:srgbClr val="2E5EB8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560000" y="710000"/>
            <a:ext cx="980000" cy="114000"/>
          </a:xfrm>
          <a:prstGeom prst="ellipse">
            <a:avLst/>
          </a:prstGeom>
          <a:solidFill>
            <a:srgbClr val="9DB6E4"/>
          </a:solidFill>
          <a:ln w="9525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0000" y="767000"/>
            <a:ext cx="980000" cy="243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10000" y="915000"/>
            <a:ext cx="980000" cy="114000"/>
          </a:xfrm>
          <a:prstGeom prst="ellipse">
            <a:avLst/>
          </a:prstGeom>
          <a:solidFill>
            <a:srgbClr val="2E5EB8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410000" y="710000"/>
            <a:ext cx="980000" cy="114000"/>
          </a:xfrm>
          <a:prstGeom prst="ellipse">
            <a:avLst/>
          </a:prstGeom>
          <a:solidFill>
            <a:srgbClr val="9DB6E4"/>
          </a:solidFill>
          <a:ln w="9525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12" name="Oval 11"/>
          <p:cNvSpPr/>
          <p:nvPr/>
        </p:nvSpPr>
        <p:spPr>
          <a:xfrm>
            <a:off x="1405000" y="1590000"/>
            <a:ext cx="1650000" cy="36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Oval 12"/>
          <p:cNvSpPr/>
          <p:nvPr/>
        </p:nvSpPr>
        <p:spPr>
          <a:xfrm>
            <a:off x="1275000" y="1520000"/>
            <a:ext cx="1650000" cy="36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Lookup service</a:t>
            </a:r>
          </a:p>
        </p:txBody>
      </p:sp>
      <p:sp>
        <p:nvSpPr>
          <p:cNvPr id="14" name="Oval 13"/>
          <p:cNvSpPr/>
          <p:nvPr/>
        </p:nvSpPr>
        <p:spPr>
          <a:xfrm>
            <a:off x="3850000" y="1520000"/>
            <a:ext cx="2500000" cy="36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1st Connection &amp;
Provisioning</a:t>
            </a:r>
          </a:p>
        </p:txBody>
      </p:sp>
      <p:sp>
        <p:nvSpPr>
          <p:cNvPr id="15" name="Oval 14"/>
          <p:cNvSpPr/>
          <p:nvPr/>
        </p:nvSpPr>
        <p:spPr>
          <a:xfrm>
            <a:off x="7825000" y="1500000"/>
            <a:ext cx="750000" cy="40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UI</a:t>
            </a:r>
          </a:p>
        </p:txBody>
      </p:sp>
      <p:sp>
        <p:nvSpPr>
          <p:cNvPr id="16" name="Oval 15"/>
          <p:cNvSpPr/>
          <p:nvPr/>
        </p:nvSpPr>
        <p:spPr>
          <a:xfrm>
            <a:off x="810000" y="2630000"/>
            <a:ext cx="1380000" cy="30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17" name="Oval 16"/>
          <p:cNvSpPr/>
          <p:nvPr/>
        </p:nvSpPr>
        <p:spPr>
          <a:xfrm>
            <a:off x="3210000" y="2630000"/>
            <a:ext cx="1380000" cy="30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18" name="Oval 17"/>
          <p:cNvSpPr/>
          <p:nvPr/>
        </p:nvSpPr>
        <p:spPr>
          <a:xfrm>
            <a:off x="5610000" y="2630000"/>
            <a:ext cx="1380000" cy="30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5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5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1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1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1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6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70000" y="3735000"/>
            <a:ext cx="860000" cy="250000"/>
          </a:xfrm>
          <a:prstGeom prst="roundRect">
            <a:avLst/>
          </a:prstGeom>
          <a:solidFill>
            <a:srgbClr val="70AD47"/>
          </a:solidFill>
          <a:ln w="63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QA Automation</a:t>
            </a:r>
          </a:p>
        </p:txBody>
      </p:sp>
      <p:cxnSp>
        <p:nvCxnSpPr>
          <p:cNvPr id="101" name="arrow101"/>
          <p:cNvCxnSpPr/>
          <p:nvPr/>
        </p:nvCxnSpPr>
        <p:spPr>
          <a:xfrm flipH="1">
            <a:off x="2100000" y="1010000"/>
            <a:ext cx="10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2" name="arrow102"/>
          <p:cNvCxnSpPr/>
          <p:nvPr/>
        </p:nvCxnSpPr>
        <p:spPr>
          <a:xfrm>
            <a:off x="2200000" y="1010000"/>
            <a:ext cx="290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3" name="arrow103"/>
          <p:cNvCxnSpPr/>
          <p:nvPr/>
        </p:nvCxnSpPr>
        <p:spPr>
          <a:xfrm flipH="1">
            <a:off x="2100000" y="1010000"/>
            <a:ext cx="195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4" name="arrow104"/>
          <p:cNvCxnSpPr/>
          <p:nvPr/>
        </p:nvCxnSpPr>
        <p:spPr>
          <a:xfrm>
            <a:off x="4050000" y="1010000"/>
            <a:ext cx="105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5" name="arrow105"/>
          <p:cNvCxnSpPr/>
          <p:nvPr/>
        </p:nvCxnSpPr>
        <p:spPr>
          <a:xfrm flipH="1">
            <a:off x="2100000" y="1010000"/>
            <a:ext cx="380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6" name="arrow106"/>
          <p:cNvCxnSpPr/>
          <p:nvPr/>
        </p:nvCxnSpPr>
        <p:spPr>
          <a:xfrm flipH="1">
            <a:off x="5100000" y="1010000"/>
            <a:ext cx="80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7" name="arrow107"/>
          <p:cNvCxnSpPr/>
          <p:nvPr/>
        </p:nvCxnSpPr>
        <p:spPr>
          <a:xfrm flipH="1">
            <a:off x="1500000" y="1880000"/>
            <a:ext cx="6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8" name="arrow108"/>
          <p:cNvCxnSpPr/>
          <p:nvPr/>
        </p:nvCxnSpPr>
        <p:spPr>
          <a:xfrm>
            <a:off x="2100000" y="1880000"/>
            <a:ext cx="18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9" name="arrow109"/>
          <p:cNvCxnSpPr/>
          <p:nvPr/>
        </p:nvCxnSpPr>
        <p:spPr>
          <a:xfrm>
            <a:off x="2100000" y="1880000"/>
            <a:ext cx="42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0" name="arrow110"/>
          <p:cNvCxnSpPr/>
          <p:nvPr/>
        </p:nvCxnSpPr>
        <p:spPr>
          <a:xfrm flipH="1">
            <a:off x="1500000" y="1880000"/>
            <a:ext cx="36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1" name="arrow111"/>
          <p:cNvCxnSpPr/>
          <p:nvPr/>
        </p:nvCxnSpPr>
        <p:spPr>
          <a:xfrm flipH="1">
            <a:off x="3900000" y="1880000"/>
            <a:ext cx="12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2" name="arrow112"/>
          <p:cNvCxnSpPr/>
          <p:nvPr/>
        </p:nvCxnSpPr>
        <p:spPr>
          <a:xfrm>
            <a:off x="5100000" y="1880000"/>
            <a:ext cx="12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3" name="arrow113"/>
          <p:cNvCxnSpPr/>
          <p:nvPr/>
        </p:nvCxnSpPr>
        <p:spPr>
          <a:xfrm flipH="1">
            <a:off x="440000" y="2930000"/>
            <a:ext cx="106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4" name="arrow114"/>
          <p:cNvCxnSpPr/>
          <p:nvPr/>
        </p:nvCxnSpPr>
        <p:spPr>
          <a:xfrm flipH="1">
            <a:off x="1040000" y="2930000"/>
            <a:ext cx="46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5" name="arrow115"/>
          <p:cNvCxnSpPr/>
          <p:nvPr/>
        </p:nvCxnSpPr>
        <p:spPr>
          <a:xfrm>
            <a:off x="1500000" y="2930000"/>
            <a:ext cx="14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6" name="arrow116"/>
          <p:cNvCxnSpPr/>
          <p:nvPr/>
        </p:nvCxnSpPr>
        <p:spPr>
          <a:xfrm>
            <a:off x="1500000" y="2930000"/>
            <a:ext cx="74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7" name="arrow117"/>
          <p:cNvCxnSpPr/>
          <p:nvPr/>
        </p:nvCxnSpPr>
        <p:spPr>
          <a:xfrm flipH="1">
            <a:off x="3100000" y="2930000"/>
            <a:ext cx="8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8" name="arrow118"/>
          <p:cNvCxnSpPr/>
          <p:nvPr/>
        </p:nvCxnSpPr>
        <p:spPr>
          <a:xfrm flipH="1">
            <a:off x="3700000" y="2930000"/>
            <a:ext cx="2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9" name="arrow119"/>
          <p:cNvCxnSpPr/>
          <p:nvPr/>
        </p:nvCxnSpPr>
        <p:spPr>
          <a:xfrm>
            <a:off x="3900000" y="2930000"/>
            <a:ext cx="4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20" name="arrow120"/>
          <p:cNvCxnSpPr/>
          <p:nvPr/>
        </p:nvCxnSpPr>
        <p:spPr>
          <a:xfrm>
            <a:off x="3900000" y="2930000"/>
            <a:ext cx="10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21" name="arrow121"/>
          <p:cNvCxnSpPr/>
          <p:nvPr/>
        </p:nvCxnSpPr>
        <p:spPr>
          <a:xfrm flipH="1">
            <a:off x="5750000" y="2930000"/>
            <a:ext cx="55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22" name="arrow122"/>
          <p:cNvCxnSpPr/>
          <p:nvPr/>
        </p:nvCxnSpPr>
        <p:spPr>
          <a:xfrm>
            <a:off x="6300000" y="2930000"/>
            <a:ext cx="5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23" name="arrow123"/>
          <p:cNvCxnSpPr/>
          <p:nvPr/>
        </p:nvCxnSpPr>
        <p:spPr>
          <a:xfrm flipH="1">
            <a:off x="6350000" y="1700000"/>
            <a:ext cx="1670000" cy="1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501" name="arrow501"/>
          <p:cNvCxnSpPr/>
          <p:nvPr/>
        </p:nvCxnSpPr>
        <p:spPr>
          <a:xfrm flipH="1" flipV="1">
            <a:off x="6300000" y="2930000"/>
            <a:ext cx="12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502" name="arrow502"/>
          <p:cNvCxnSpPr/>
          <p:nvPr/>
        </p:nvCxnSpPr>
        <p:spPr>
          <a:xfrm flipH="1" flipV="1">
            <a:off x="3900000" y="2930000"/>
            <a:ext cx="36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AAA Cloud-Native Platform</dc:title>
  <dc:subject>PptxGenJS Presentation</dc:subject>
  <dc:creator>Platform Engineering</dc:creator>
  <cp:lastModifiedBy>Platform Engineering</cp:lastModifiedBy>
  <cp:revision>1</cp:revision>
  <dcterms:created xsi:type="dcterms:W3CDTF">2026-03-15T15:39:26Z</dcterms:created>
  <dcterms:modified xsi:type="dcterms:W3CDTF">2026-03-15T15:39:26Z</dcterms:modified>
</cp:coreProperties>
</file>