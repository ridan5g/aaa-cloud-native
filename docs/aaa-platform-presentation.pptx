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8037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74320"/>
            <a:ext cx="4114800" cy="5692140"/>
          </a:xfrm>
          <a:prstGeom prst="rect">
            <a:avLst/>
          </a:prstGeom>
          <a:solidFill>
            <a:srgbClr val="172055">
              <a:alpha val="60000"/>
            </a:srgbClr>
          </a:solidFill>
          <a:ln w="12700">
            <a:solidFill>
              <a:srgbClr val="1720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6583680" y="-274320"/>
            <a:ext cx="3200400" cy="5692140"/>
          </a:xfrm>
          <a:prstGeom prst="rect">
            <a:avLst/>
          </a:prstGeom>
          <a:solidFill>
            <a:srgbClr val="0D1844">
              <a:alpha val="60000"/>
            </a:srgbClr>
          </a:solidFill>
          <a:ln w="12700">
            <a:solidFill>
              <a:srgbClr val="0D18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274320" y="365760"/>
            <a:ext cx="3200400" cy="237744"/>
          </a:xfrm>
          <a:prstGeom prst="roundRect">
            <a:avLst>
              <a:gd name="adj" fmla="val 50000"/>
            </a:avLst>
          </a:prstGeom>
          <a:solidFill>
            <a:srgbClr val="3C4D6B"/>
          </a:solidFill>
          <a:ln w="12700">
            <a:solidFill>
              <a:srgbClr val="3C4D6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3657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ADCFC"/>
                </a:solidFill>
              </a:rPr>
              <a:t>TELECOM  |  AAA  |  CLOUD-NATIVE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Cloud-Native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74320" y="265176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E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Subscriber Provisioning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7E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Real-Time RADIUS Authentication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3657600"/>
            <a:ext cx="1737360" cy="822960"/>
          </a:xfrm>
          <a:prstGeom prst="rect">
            <a:avLst/>
          </a:prstGeom>
          <a:solidFill>
            <a:srgbClr val="14205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274320" y="3657600"/>
            <a:ext cx="17373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27432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&lt; 15ms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8E8"/>
                </a:solidFill>
              </a:rPr>
              <a:t>p99 Lookup SLA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94560" y="3657600"/>
            <a:ext cx="1737360" cy="822960"/>
          </a:xfrm>
          <a:prstGeom prst="rect">
            <a:avLst/>
          </a:prstGeom>
          <a:solidFill>
            <a:srgbClr val="14205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2194560" y="3657600"/>
            <a:ext cx="17373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219456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100K+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9456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8E8"/>
                </a:solidFill>
              </a:rPr>
              <a:t>Bulk Profiles/Job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3657600"/>
            <a:ext cx="1737360" cy="822960"/>
          </a:xfrm>
          <a:prstGeom prst="rect">
            <a:avLst/>
          </a:prstGeom>
          <a:solidFill>
            <a:srgbClr val="14205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4114800" y="3657600"/>
            <a:ext cx="17373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411480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Multi-IMSI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8E8"/>
                </a:solidFill>
              </a:rPr>
              <a:t>Auto-Provisioning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0" y="914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</a:rPr>
              <a:t>C++17 / Drogon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1074420"/>
            <a:ext cx="73152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676656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</a:rPr>
              <a:t>Python / FastAPI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0" y="1641348"/>
            <a:ext cx="73152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6766560" y="20482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</a:rPr>
              <a:t>PostgreSQL 15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0" y="2208276"/>
            <a:ext cx="73152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6766560" y="26151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</a:rPr>
              <a:t>Kubernetes / Helm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0" y="2775204"/>
            <a:ext cx="73152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6766560" y="3182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</a:rPr>
              <a:t>Prometheus / Grafana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0" y="3342132"/>
            <a:ext cx="73152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Challenge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1645920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4864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493776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Speed vs. Scale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" y="125272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EA8E8"/>
                </a:solidFill>
              </a:rPr>
              <a:t>RADIUS must authenticate subscribers in &lt;15ms while serving millions of requests per day — but provisioning writes are slower and less frequent.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4023360" cy="1645920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54864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493776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Unknown IMSIs at First Attach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" y="312724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EA8E8"/>
                </a:solidFill>
              </a:rPr>
              <a:t>Network equipment cannot predict when a new SIM activates. Operators need dynamic, zero-touch provisioning on first connection — no manual intervention.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4023360" cy="1645920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4754880" y="868680"/>
            <a:ext cx="54864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4882896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Multi-IMSI SIM Complexity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82896" y="125272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EA8E8"/>
                </a:solidFill>
              </a:rPr>
              <a:t>A single physical SIM card can carry up to 10 distinct IMSIs. Provisioning one slot must automatically provision all sibling slots in a single atomic step.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023360" cy="1645920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54864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882896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IP Pool Race Conditions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82896" y="312724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EA8E8"/>
                </a:solidFill>
              </a:rPr>
              <a:t>Concurrent first-connection events can race to claim the same IP address. A safe, lock-free allocation mechanism is critical for correctness at scale.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Solution: Three-Service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aaa-radius-server orchestrates two independent backend services optimized for their workloads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68880" y="960120"/>
            <a:ext cx="420624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2468880" y="960120"/>
            <a:ext cx="4206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2468880" y="10149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aaa-radius-server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1399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RADIUS Frontend  |  Receives Access-Requests from network equipment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0360" y="1709928"/>
            <a:ext cx="0" cy="438912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1737360" y="2148840"/>
            <a:ext cx="11430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E75B6"/>
                </a:solidFill>
              </a:rPr>
              <a:t>Stage 1: GET /lookup (every request)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1709928"/>
            <a:ext cx="0" cy="438912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6263640" y="2148840"/>
            <a:ext cx="11430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A623"/>
                </a:solidFill>
              </a:rPr>
              <a:t>POST /first-connection (called by lookup pod internally, on DB miss)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94560"/>
            <a:ext cx="0" cy="267462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365760" y="22402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5B6"/>
                </a:solidFill>
              </a:rPr>
              <a:t>READ PATH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5328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aaa-lookup-service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5760" y="28986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5B6"/>
                </a:solidFill>
              </a:rPr>
              <a:t>C++17 / Drogon — Port 8081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20040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Sub-15ms p99 hot-path (called on every Access-Request)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Reads from local read-replica only (no writes)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Single-query IMSI lookup, index-only seek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JWT RS256 verification with caching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Returns 404 to trigger first-connection flow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2402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5B6"/>
                </a:solidFill>
              </a:rPr>
              <a:t>WRITE PATH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5328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subscriber-profile-api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28986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5B6"/>
                </a:solidFill>
              </a:rPr>
              <a:t>Python 3.11 / FastAPI — Port 8080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20040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First-connection: allocates IP + creates profile on 404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Full subscriber lifecycle CRUD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Multi-IMSI atomic provisioning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Race-safe IP pool claiming (FOR UPDATE SKIP LOCKED)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Async bulk operations up to 100K profiles/job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600200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1600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&lt; 15ms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p99 Lookup Latency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39112" y="868680"/>
            <a:ext cx="1600200" cy="1234440"/>
          </a:xfrm>
          <a:prstGeom prst="rect">
            <a:avLst/>
          </a:prstGeom>
          <a:solidFill>
            <a:srgbClr val="1A5C9E"/>
          </a:solidFill>
          <a:ln w="12700">
            <a:solidFill>
              <a:srgbClr val="1A5C9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2039112" y="868680"/>
            <a:ext cx="1600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2039112" y="960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1-3ms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39112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p50 Typical Latency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58184" y="868680"/>
            <a:ext cx="1600200" cy="1234440"/>
          </a:xfrm>
          <a:prstGeom prst="rect">
            <a:avLst/>
          </a:prstGeom>
          <a:solidFill>
            <a:srgbClr val="155A8A"/>
          </a:solidFill>
          <a:ln w="12700">
            <a:solidFill>
              <a:srgbClr val="155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3758184" y="868680"/>
            <a:ext cx="1600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3758184" y="960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100K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758184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Profiles per Bulk Job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77256" y="868680"/>
            <a:ext cx="1600200" cy="1234440"/>
          </a:xfrm>
          <a:prstGeom prst="rect">
            <a:avLst/>
          </a:prstGeom>
          <a:solidFill>
            <a:srgbClr val="114C75"/>
          </a:solidFill>
          <a:ln w="12700">
            <a:solidFill>
              <a:srgbClr val="114C7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5477256" y="868680"/>
            <a:ext cx="1600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5477256" y="960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253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77256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IPs per /24 Pool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96328" y="868680"/>
            <a:ext cx="1600200" cy="1234440"/>
          </a:xfrm>
          <a:prstGeom prst="rect">
            <a:avLst/>
          </a:prstGeom>
          <a:solidFill>
            <a:srgbClr val="0D3D60"/>
          </a:solidFill>
          <a:ln w="12700">
            <a:solidFill>
              <a:srgbClr val="0D3D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7196328" y="868680"/>
            <a:ext cx="1600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7196328" y="960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96328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Max IMSIs per SIM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</a:rPr>
              <a:t>How we achieve &lt; 15ms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2743200"/>
            <a:ext cx="4023360" cy="804672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493776" y="2788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Index-only B-tree seek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" y="30449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A8E8"/>
                </a:solidFill>
              </a:rPr>
              <a:t>imsi2sim.imsi is a PK — single-page lookup, no full-table scan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743200"/>
            <a:ext cx="4023360" cy="804672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4882896" y="2788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Near 100% cache hit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82896" y="30449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A8E8"/>
                </a:solidFill>
              </a:rPr>
              <a:t>~80MB index fits entirely in PostgreSQL shared_buffers at steady state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703320"/>
            <a:ext cx="4023360" cy="804672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30"/>
          <p:cNvSpPr/>
          <p:nvPr/>
        </p:nvSpPr>
        <p:spPr>
          <a:xfrm>
            <a:off x="493776" y="3749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Async C++ Drogon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" y="40050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A8E8"/>
                </a:solidFill>
              </a:rPr>
              <a:t>Non-blocking I/O with coroutines; zero context-switching overhead per request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3703320"/>
            <a:ext cx="4023360" cy="804672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4882896" y="3749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 replica isolation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82896" y="40050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A8E8"/>
                </a:solidFill>
              </a:rPr>
              <a:t>Lookup never competes with write transactions on the primary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RADIUS Hot-Path Flow (Happy Path)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Steady-state: every Access-Request handled entirely by aaa-lookup-service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69164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aaa-radius-server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74420" y="1737360"/>
            <a:ext cx="0" cy="2926080"/>
          </a:xfrm>
          <a:prstGeom prst="line">
            <a:avLst/>
          </a:prstGeom>
          <a:noFill/>
          <a:ln w="63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69164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2468880" y="10058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aaa-lookup-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(C++, port 8081)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4700" y="1737360"/>
            <a:ext cx="0" cy="2926080"/>
          </a:xfrm>
          <a:prstGeom prst="line">
            <a:avLst/>
          </a:prstGeom>
          <a:noFill/>
          <a:ln w="63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169164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709160" y="10058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Read Replica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(PostgreSQL)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54980" y="1737360"/>
            <a:ext cx="0" cy="2926080"/>
          </a:xfrm>
          <a:prstGeom prst="line">
            <a:avLst/>
          </a:prstGeom>
          <a:noFill/>
          <a:ln w="63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1074420" y="1920240"/>
            <a:ext cx="224028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3186684" y="179222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5B6"/>
                </a:solidFill>
              </a:rPr>
              <a:t>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0140" y="16276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</a:rPr>
              <a:t>GET /lookup?imsi=278773000002002&amp;apn=internet.op.com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14700" y="2423160"/>
            <a:ext cx="224028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5426964" y="22951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5B6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60420" y="21305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</a:rPr>
              <a:t>SELECT ... WHERE imsi = $1  (index seek)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14700" y="2880360"/>
            <a:ext cx="2240280" cy="0"/>
          </a:xfrm>
          <a:prstGeom prst="line">
            <a:avLst/>
          </a:prstGeom>
          <a:noFill/>
          <a:ln w="19050">
            <a:solidFill>
              <a:srgbClr val="2ECC8C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3259836" y="27523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CC8C"/>
                </a:solidFill>
              </a:rPr>
              <a:t>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60420" y="25877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E75B6"/>
                </a:solidFill>
              </a:rPr>
              <a:t>Row: static_ip = 100.65.120.5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74420" y="3337560"/>
            <a:ext cx="2240280" cy="0"/>
          </a:xfrm>
          <a:prstGeom prst="line">
            <a:avLst/>
          </a:prstGeom>
          <a:noFill/>
          <a:ln w="19050">
            <a:solidFill>
              <a:srgbClr val="2ECC8C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1019556" y="32095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CC8C"/>
                </a:solidFill>
              </a:rPr>
              <a:t>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0140" y="30449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E75B6"/>
                </a:solidFill>
              </a:rPr>
              <a:t>200 OK  {"static_ip": "100.65.120.5"}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83680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Possible Outcomes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1280160"/>
            <a:ext cx="2286000" cy="548640"/>
          </a:xfrm>
          <a:prstGeom prst="rect">
            <a:avLst/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6583680" y="12801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200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86600" y="1280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Access-Accept + Framed-IP-Address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83680" y="1938528"/>
            <a:ext cx="228600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6583680" y="19385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403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86600" y="19385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Access-Reject (suspended)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83680" y="2596896"/>
            <a:ext cx="2286000" cy="54864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32"/>
          <p:cNvSpPr/>
          <p:nvPr/>
        </p:nvSpPr>
        <p:spPr>
          <a:xfrm>
            <a:off x="6583680" y="259689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86600" y="259689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Access-Reject (no range config)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583680" y="3310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</a:rPr>
              <a:t>SLA: p99 &lt; 15ms end-to-end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83680" y="3310128"/>
            <a:ext cx="2286000" cy="292608"/>
          </a:xfrm>
          <a:prstGeom prst="rect">
            <a:avLst/>
          </a:prstGeom>
          <a:solidFill>
            <a:srgbClr val="EE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Text 36"/>
          <p:cNvSpPr/>
          <p:nvPr/>
        </p:nvSpPr>
        <p:spPr>
          <a:xfrm>
            <a:off x="6583680" y="3310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</a:rPr>
              <a:t>SLA: p99 &lt; 15ms end-to-end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Two-Stage First-Connection Allocation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Unknown IMSI → auto-provisioned in a single atomic transaction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1600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aaa-lookup-service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/lookup?imsi={imsi}&amp;apn={apn}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Queries READ REPLICA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IMSI not found in imsi2sim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Returns 404 {"error": "not_found"}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633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A623"/>
                </a:solidFill>
              </a:rPr>
              <a:t>▼  aaa-lookup-service calls POST /first-connection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944368"/>
            <a:ext cx="402336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365760" y="2990088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65760" y="29900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3282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subscriber-profile-api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6118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aaa-lookup-service: POST /v1/first-connection {imsi, apn, imei}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Idempotency check: IMSI already exists?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Match range config (f_imsi &lt;= $imsi &lt;= t_imsi)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Claim IP:  DELETE FROM ip_pool_available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FOR UPDATE SKIP LOCKED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INSERT profile + IMSI + IP  (atomic COMMIT)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</a:rPr>
              <a:t>First-Connection Outcomes  (subscriber-profile-api)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261872"/>
            <a:ext cx="41148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4663440" y="1261872"/>
            <a:ext cx="54864" cy="868680"/>
          </a:xfrm>
          <a:prstGeom prst="rect">
            <a:avLst/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4773168" y="13075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200 OK — IP Allocated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73168" y="156362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subscriber-profile-api creates sim_id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(gen_random_uuid). static_ip returned.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aaa-lookup-service returns 200 to aaa-radius-server. Access-Accept issued.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221992"/>
            <a:ext cx="4114800" cy="868680"/>
          </a:xfrm>
          <a:prstGeom prst="rect">
            <a:avLst/>
          </a:prstGeom>
          <a:solidFill>
            <a:srgbClr val="E3F2F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>
            <a:off x="4663440" y="2221992"/>
            <a:ext cx="54864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4773168" y="22677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200 OK — Idempotent Return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73168" y="252374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IMSI already existed in DB.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Same sim_id &amp; IP returned.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Safe to retry — no duplicates.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182112"/>
            <a:ext cx="4114800" cy="868680"/>
          </a:xfrm>
          <a:prstGeom prst="rect">
            <a:avLst/>
          </a:prstGeom>
          <a:solidFill>
            <a:srgbClr val="FFF3E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Shape 24"/>
          <p:cNvSpPr/>
          <p:nvPr/>
        </p:nvSpPr>
        <p:spPr>
          <a:xfrm>
            <a:off x="4663440" y="3182112"/>
            <a:ext cx="54864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4773168" y="32278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404 — No Range Config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73168" y="348386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IMSI not in any active range config.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aaa-radius-server issues Access-Reject.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4142232"/>
            <a:ext cx="4114800" cy="868680"/>
          </a:xfrm>
          <a:prstGeom prst="rect">
            <a:avLst/>
          </a:prstGeom>
          <a:solidFill>
            <a:srgbClr val="FFEBEE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>
            <a:off x="4663440" y="4142232"/>
            <a:ext cx="54864" cy="86868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4773168" y="41879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503 — Pool Exhausted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73168" y="444398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No available IPs remaining.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Create a new pool.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Alert fires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Multi-IMSI SIM: Zero-Touch Provisioning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All sibling slots pre-provisioned atomically — each from its own per-slot pool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286000" cy="3200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828800" cy="3657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SIM Card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240280"/>
            <a:ext cx="2011680" cy="475488"/>
          </a:xfrm>
          <a:prstGeom prst="rect">
            <a:avLst/>
          </a:prstGeom>
          <a:solidFill>
            <a:srgbClr val="3C4D6B"/>
          </a:solidFill>
          <a:ln w="63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Slot 1: IMSI 278770...042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834640"/>
            <a:ext cx="2011680" cy="475488"/>
          </a:xfrm>
          <a:prstGeom prst="rect">
            <a:avLst/>
          </a:prstGeom>
          <a:solidFill>
            <a:srgbClr val="3C4D6B"/>
          </a:solidFill>
          <a:ln w="63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Slot 2: IMSI 278771...042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EA8E8"/>
                </a:solidFill>
              </a:rPr>
              <a:t>ICCID: 8944...042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34640" y="1051560"/>
            <a:ext cx="1097280" cy="3200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3246120" y="111556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324612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89504" y="14630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Slot 1 First Attach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89504" y="1975104"/>
            <a:ext cx="9875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/lookup → DB miss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 calls /first-connection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{imsi: "278770...042"}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069080" y="1051560"/>
            <a:ext cx="1097280" cy="3200400"/>
          </a:xfrm>
          <a:prstGeom prst="rect">
            <a:avLst/>
          </a:prstGeom>
          <a:solidFill>
            <a:srgbClr val="1A5C9E"/>
          </a:solidFill>
          <a:ln w="12700">
            <a:solidFill>
              <a:srgbClr val="1A5C9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4480560" y="111556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448056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C9E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23944" y="14630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Compute Offset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23944" y="1975104"/>
            <a:ext cx="9875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= 278770...042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- 278770...000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03520" y="1051560"/>
            <a:ext cx="1097280" cy="3200400"/>
          </a:xfrm>
          <a:prstGeom prst="rect">
            <a:avLst/>
          </a:prstGeom>
          <a:solidFill>
            <a:srgbClr val="155A8A"/>
          </a:solidFill>
          <a:ln w="12700">
            <a:solidFill>
              <a:srgbClr val="155A8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5715000" y="111556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57150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5A8A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58384" y="14630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Derive ICCID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58384" y="1975104"/>
            <a:ext cx="9875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8944...000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+ 42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8944...042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37960" y="1051560"/>
            <a:ext cx="1097280" cy="3200400"/>
          </a:xfrm>
          <a:prstGeom prst="rect">
            <a:avLst/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>
            <a:off x="6949440" y="111556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694944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8C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92824" y="14630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Atomic Transaction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92824" y="1975104"/>
            <a:ext cx="9875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per slot (imsi mode)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1 IP card (iccid mode)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slots INSERTed, 1 COMMIT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772400" y="1051560"/>
            <a:ext cx="1097280" cy="3200400"/>
          </a:xfrm>
          <a:prstGeom prst="rect">
            <a:avLst/>
          </a:prstGeom>
          <a:solidFill>
            <a:srgbClr val="28A870"/>
          </a:solidFill>
          <a:ln w="12700">
            <a:solidFill>
              <a:srgbClr val="28A87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4" name="Shape 32"/>
          <p:cNvSpPr/>
          <p:nvPr/>
        </p:nvSpPr>
        <p:spPr>
          <a:xfrm>
            <a:off x="8183880" y="111556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818388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A870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27264" y="14630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Slot 2 Connects Later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827264" y="1975104"/>
            <a:ext cx="9875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/lookup → 200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(pre-provisioned!)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first-conn never called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4434840"/>
            <a:ext cx="859536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457200" y="44348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Key: All siblings provisioned in ONE transaction (thundering herd protection). imsi mode → IP per slot. iccid mode → 1 shared IP per card.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74320" y="4434840"/>
            <a:ext cx="54864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Model: 9 PostgreSQL Tables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Three logical groups — subscriber data, IP pools, and range configurations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8346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SUBSCRIBER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384048" y="138988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sim_profiles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62763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sim_id (UUID)  |  One row per SIM card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2834640" cy="566928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84048" y="2048256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imsi2sim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28600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imsi (15 digits)  |  One row per IMSI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670048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384048" y="270662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imsi_apn_ips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9443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id (BIGINT)  |  IMSI-level IP assignments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328416"/>
            <a:ext cx="2834640" cy="566928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384048" y="336499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sim_apn_ips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60273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id (BIGINT)  |  Card-level IP assignments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005840"/>
            <a:ext cx="2651760" cy="292608"/>
          </a:xfrm>
          <a:prstGeom prst="rect">
            <a:avLst/>
          </a:prstGeom>
          <a:solidFill>
            <a:srgbClr val="155A8A"/>
          </a:solidFill>
          <a:ln w="12700">
            <a:solidFill>
              <a:srgbClr val="155A8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3337560" y="1005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IP POOLS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1353312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3447288" y="138988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ip_pools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47288" y="162763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pool_id (UUID)  |  Pool definition (CIDR, bounds)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37560" y="2011680"/>
            <a:ext cx="2651760" cy="566928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3447288" y="204825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ip_pool_available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47288" y="228600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(pool_id, ip)  |  Available IP work-queue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1005840"/>
            <a:ext cx="2651760" cy="292608"/>
          </a:xfrm>
          <a:prstGeom prst="rect">
            <a:avLst/>
          </a:prstGeom>
          <a:solidFill>
            <a:srgbClr val="0D3D60"/>
          </a:solidFill>
          <a:ln w="12700">
            <a:solidFill>
              <a:srgbClr val="0D3D6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6217920" y="1005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RANGE CONFIGS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1353312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6327648" y="138988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imsi_range_configs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27648" y="162763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id (BIGINT)  |  IMSI ranges for auto-prov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2011680"/>
            <a:ext cx="2651760" cy="566928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6327648" y="204825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iccid_range_configs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27648" y="228600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id (BIGINT)  |  Multi-IMSI SIM parent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2670048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Text 34"/>
          <p:cNvSpPr/>
          <p:nvPr/>
        </p:nvSpPr>
        <p:spPr>
          <a:xfrm>
            <a:off x="6327648" y="2706624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range_config_apn_pools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27648" y="294436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id (BIGINT)  |  Per-APN pool overrides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17920" y="3328416"/>
            <a:ext cx="2651760" cy="566928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6327648" y="3364992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bulk_jobs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27648" y="360273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job_id (UUID)  |  Async bulk job tracking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023360"/>
            <a:ext cx="8595360" cy="868680"/>
          </a:xfrm>
          <a:prstGeom prst="rect">
            <a:avLst/>
          </a:prstGeom>
          <a:solidFill>
            <a:srgbClr val="EEF3FB"/>
          </a:solidFill>
          <a:ln w="1016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Text 40"/>
          <p:cNvSpPr/>
          <p:nvPr/>
        </p:nvSpPr>
        <p:spPr>
          <a:xfrm>
            <a:off x="45720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ip_resolution modes: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28800" y="4069080"/>
            <a:ext cx="1645920" cy="749808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Text 42"/>
          <p:cNvSpPr/>
          <p:nvPr/>
        </p:nvSpPr>
        <p:spPr>
          <a:xfrm>
            <a:off x="1828800" y="40965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82880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IP per IMSI, all APNs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11880" y="4069080"/>
            <a:ext cx="1645920" cy="749808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7" name="Text 45"/>
          <p:cNvSpPr/>
          <p:nvPr/>
        </p:nvSpPr>
        <p:spPr>
          <a:xfrm>
            <a:off x="3611880" y="40965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imsi_apn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1188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IP per IMSI per APN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394960" y="4069080"/>
            <a:ext cx="1645920" cy="749808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0" name="Text 48"/>
          <p:cNvSpPr/>
          <p:nvPr/>
        </p:nvSpPr>
        <p:spPr>
          <a:xfrm>
            <a:off x="5394960" y="40965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iccid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39496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IP per card, all APNs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78040" y="4069080"/>
            <a:ext cx="1645920" cy="749808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3" name="Text 51"/>
          <p:cNvSpPr/>
          <p:nvPr/>
        </p:nvSpPr>
        <p:spPr>
          <a:xfrm>
            <a:off x="7178040" y="40965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iccid_apn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17804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IP per card per APN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subscriber-profile-api: REST API Surface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Full lifecycle management with JWT authentication (OAuth 2.0 Bearer)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Subscriber Profiles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/v1/profiles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700784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/v1/profiles/{id}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04825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365760" y="2066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/v1/profiles?iccid={}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395728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365760" y="2414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/v1/profiles/{id}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365760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/v1/profiles/{id}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1005840"/>
            <a:ext cx="2743200" cy="292608"/>
          </a:xfrm>
          <a:prstGeom prst="rect">
            <a:avLst/>
          </a:prstGeom>
          <a:solidFill>
            <a:srgbClr val="155A8A"/>
          </a:solidFill>
          <a:ln w="12700">
            <a:solidFill>
              <a:srgbClr val="155A8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320040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IMSI Operations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135331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329184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/v1/profiles/{id}/imsis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1700784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329184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/v1/profiles/{id}/imsis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0" y="204825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3291840" y="2066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.../imsis/{imsi}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395728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3291840" y="2414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.../imsis/{imsi}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1005840"/>
            <a:ext cx="2743200" cy="292608"/>
          </a:xfrm>
          <a:prstGeom prst="rect">
            <a:avLst/>
          </a:prstGeom>
          <a:solidFill>
            <a:srgbClr val="0D3D60"/>
          </a:solidFill>
          <a:ln w="12700">
            <a:solidFill>
              <a:srgbClr val="0D3D6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612648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IP Pools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135331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621792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/v1/pools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1700784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30"/>
          <p:cNvSpPr/>
          <p:nvPr/>
        </p:nvSpPr>
        <p:spPr>
          <a:xfrm>
            <a:off x="621792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/v1/pools/{id}/stats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204825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32"/>
          <p:cNvSpPr/>
          <p:nvPr/>
        </p:nvSpPr>
        <p:spPr>
          <a:xfrm>
            <a:off x="6217920" y="2066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/v1/pools/{id}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2395728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Text 34"/>
          <p:cNvSpPr/>
          <p:nvPr/>
        </p:nvSpPr>
        <p:spPr>
          <a:xfrm>
            <a:off x="6217920" y="2414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/v1/pools/{id}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2971800"/>
            <a:ext cx="2743200" cy="292608"/>
          </a:xfrm>
          <a:prstGeom prst="rect">
            <a:avLst/>
          </a:prstGeom>
          <a:solidFill>
            <a:srgbClr val="1A5C9E"/>
          </a:solidFill>
          <a:ln w="12700">
            <a:solidFill>
              <a:srgbClr val="1A5C9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Text 36"/>
          <p:cNvSpPr/>
          <p:nvPr/>
        </p:nvSpPr>
        <p:spPr>
          <a:xfrm>
            <a:off x="274320" y="2971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Range Configs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331927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Text 38"/>
          <p:cNvSpPr/>
          <p:nvPr/>
        </p:nvSpPr>
        <p:spPr>
          <a:xfrm>
            <a:off x="36576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/v1/range-configs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3666744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Text 40"/>
          <p:cNvSpPr/>
          <p:nvPr/>
        </p:nvSpPr>
        <p:spPr>
          <a:xfrm>
            <a:off x="365760" y="3685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GET/POST/DELETE .../apn-pools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01421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Text 42"/>
          <p:cNvSpPr/>
          <p:nvPr/>
        </p:nvSpPr>
        <p:spPr>
          <a:xfrm>
            <a:off x="365760" y="4032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/v1/iccid-range-configs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4361688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6" name="Text 44"/>
          <p:cNvSpPr/>
          <p:nvPr/>
        </p:nvSpPr>
        <p:spPr>
          <a:xfrm>
            <a:off x="365760" y="4379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.../imsi-slots (multi-IMSI)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0" y="2971800"/>
            <a:ext cx="2743200" cy="292608"/>
          </a:xfrm>
          <a:prstGeom prst="rect">
            <a:avLst/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8" name="Text 46"/>
          <p:cNvSpPr/>
          <p:nvPr/>
        </p:nvSpPr>
        <p:spPr>
          <a:xfrm>
            <a:off x="3200400" y="2971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First-Connection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00400" y="331927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0" name="Text 48"/>
          <p:cNvSpPr/>
          <p:nvPr/>
        </p:nvSpPr>
        <p:spPr>
          <a:xfrm>
            <a:off x="329184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/v1/first-connection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0" y="3666744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2" name="Text 50"/>
          <p:cNvSpPr/>
          <p:nvPr/>
        </p:nvSpPr>
        <p:spPr>
          <a:xfrm>
            <a:off x="3291840" y="3685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Idempotent allocation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00400" y="401421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4" name="Text 52"/>
          <p:cNvSpPr/>
          <p:nvPr/>
        </p:nvSpPr>
        <p:spPr>
          <a:xfrm>
            <a:off x="3291840" y="4032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Returns sim_id + IP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0" y="4361688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6" name="Text 54"/>
          <p:cNvSpPr/>
          <p:nvPr/>
        </p:nvSpPr>
        <p:spPr>
          <a:xfrm>
            <a:off x="3291840" y="4379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503 if pool exhausted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126480" y="2971800"/>
            <a:ext cx="274320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8" name="Text 56"/>
          <p:cNvSpPr/>
          <p:nvPr/>
        </p:nvSpPr>
        <p:spPr>
          <a:xfrm>
            <a:off x="6126480" y="2971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Bulk &amp; Jobs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126480" y="331927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0" name="Text 58"/>
          <p:cNvSpPr/>
          <p:nvPr/>
        </p:nvSpPr>
        <p:spPr>
          <a:xfrm>
            <a:off x="621792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/v1/profiles/bulk (JSON)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26480" y="3666744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2" name="Text 60"/>
          <p:cNvSpPr/>
          <p:nvPr/>
        </p:nvSpPr>
        <p:spPr>
          <a:xfrm>
            <a:off x="6217920" y="3685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/v1/profiles/bulk (CSV)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126480" y="401421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4" name="Text 62"/>
          <p:cNvSpPr/>
          <p:nvPr/>
        </p:nvSpPr>
        <p:spPr>
          <a:xfrm>
            <a:off x="6217920" y="4032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/v1/jobs/{job_id}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26480" y="4361688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6" name="Text 64"/>
          <p:cNvSpPr/>
          <p:nvPr/>
        </p:nvSpPr>
        <p:spPr>
          <a:xfrm>
            <a:off x="6217920" y="4379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queued / processing / done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Bulk Provisioning: Async Job Processing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Up to 100,000 profiles per job — JSON or CSV, never blocks the API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20240" cy="19202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1097280" y="107899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1097280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42646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Submit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755648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POST /v1/profiles/bulk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JSON array or CSV file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(up to 100K profiles)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94560" y="17830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77440" y="1005840"/>
            <a:ext cx="1920240" cy="1920240"/>
          </a:xfrm>
          <a:prstGeom prst="rect">
            <a:avLst/>
          </a:prstGeom>
          <a:solidFill>
            <a:srgbClr val="155A8A"/>
          </a:solidFill>
          <a:ln w="12700">
            <a:solidFill>
              <a:srgbClr val="155A8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3200400" y="107899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200400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5A8A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50592" y="142646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202 Accepted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50592" y="1755648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Returns job_id immediately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No waiting — fully async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status_url provided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17830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80560" y="1005840"/>
            <a:ext cx="1920240" cy="1920240"/>
          </a:xfrm>
          <a:prstGeom prst="rect">
            <a:avLst/>
          </a:prstGeom>
          <a:solidFill>
            <a:srgbClr val="0D3D60"/>
          </a:solidFill>
          <a:ln w="12700">
            <a:solidFill>
              <a:srgbClr val="0D3D6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5303520" y="107899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5303520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D60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3712" y="142646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Thread Pool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53712" y="1755648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BULK_WORKER_THREADS (default 2)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Processes in batches of 1,000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INSERT ON CONFLICT (upsert)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0" y="17830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0" y="1005840"/>
            <a:ext cx="1920240" cy="1920240"/>
          </a:xfrm>
          <a:prstGeom prst="rect">
            <a:avLst/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7406640" y="107899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7406640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8C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56832" y="142646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Poll Status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56832" y="1755648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GET /v1/jobs/{job_id}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queued → processing → completed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processed + failed + errors[]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127248"/>
            <a:ext cx="4114800" cy="1691640"/>
          </a:xfrm>
          <a:prstGeom prst="rect">
            <a:avLst/>
          </a:prstGeom>
          <a:solidFill>
            <a:srgbClr val="EEF3FB"/>
          </a:solidFill>
          <a:ln w="1016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>
            <a:off x="274320" y="3127248"/>
            <a:ext cx="54864" cy="1691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402336" y="3200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Error Handling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2336" y="352044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Failed rows do not abort the job — errors are accumulated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Each error contains: row number, field, message, bad value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Job completes with processed=N, failed=M, errors=[...]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3127248"/>
            <a:ext cx="429768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4663440" y="3200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A8E8"/>
                </a:solidFill>
              </a:rPr>
              <a:t>Example response (GET /v1/jobs/{id})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63440" y="35112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{"job_id": "abc123",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36941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"status": "completed",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38770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"processed": 4997,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63440" y="40599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"failed": 3,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63440" y="42428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"errors": [{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63440" y="44256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"row": 42, "field": "imsi",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46085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"message": "Must be 15 digits"}]}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Observability &amp; Monitoring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Prometheus metrics, structured JSON logs, Grafana dashboards, auto-alerting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Key Prometheus Metrics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585216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 Name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lookup_latency_ms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p50/p95/p99 per result label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lookup_result_total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 / not_found / suspended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first_connection_total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allocated / reused / pool_exhausted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pool_exhausted_total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pool_id — alert if rate &gt;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bulk_job_duration_seconds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bulk job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api_request_duration_ms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endpoints by method+path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960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Alerting Rules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280160"/>
            <a:ext cx="2651760" cy="685800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6"/>
          <p:cNvSpPr/>
          <p:nvPr/>
        </p:nvSpPr>
        <p:spPr>
          <a:xfrm>
            <a:off x="8686800" y="1280160"/>
            <a:ext cx="182880" cy="68580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6309360" y="13167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p99 Latency High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309360" y="1572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Condition: &gt; 15ms for 2+ min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6217920" y="2057400"/>
            <a:ext cx="2651760" cy="685800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0"/>
          <p:cNvSpPr/>
          <p:nvPr/>
        </p:nvSpPr>
        <p:spPr>
          <a:xfrm>
            <a:off x="8686800" y="2057400"/>
            <a:ext cx="182880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1"/>
          <p:cNvSpPr/>
          <p:nvPr/>
        </p:nvSpPr>
        <p:spPr>
          <a:xfrm>
            <a:off x="6309360" y="20939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Pool Exhausted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09360" y="2350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Condition: rate &gt; 0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217920" y="2834640"/>
            <a:ext cx="2651760" cy="685800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4"/>
          <p:cNvSpPr/>
          <p:nvPr/>
        </p:nvSpPr>
        <p:spPr>
          <a:xfrm>
            <a:off x="8686800" y="2834640"/>
            <a:ext cx="182880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5"/>
          <p:cNvSpPr/>
          <p:nvPr/>
        </p:nvSpPr>
        <p:spPr>
          <a:xfrm>
            <a:off x="6309360" y="28712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Not-Found Spike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309360" y="3127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Condition: &gt; 5x baseline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217920" y="3611880"/>
            <a:ext cx="2651760" cy="685800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8"/>
          <p:cNvSpPr/>
          <p:nvPr/>
        </p:nvSpPr>
        <p:spPr>
          <a:xfrm>
            <a:off x="8686800" y="3611880"/>
            <a:ext cx="182880" cy="68580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19"/>
          <p:cNvSpPr/>
          <p:nvPr/>
        </p:nvSpPr>
        <p:spPr>
          <a:xfrm>
            <a:off x="6309360" y="36484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DB Primary Down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309360" y="39044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Condition: connection lost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74320" y="3703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Structured JSON Logging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74320" y="4023360"/>
            <a:ext cx="859536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3"/>
          <p:cNvSpPr/>
          <p:nvPr/>
        </p:nvSpPr>
        <p:spPr>
          <a:xfrm>
            <a:off x="411480" y="411480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"ts":"2026-03-13T14:00:00Z", "imsi_hash":"278773..", "apn":"internet.op.com", "result":"resolved", "latency_ms":2.4, "ip_resolution":"imsi" }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11480" y="466344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A623"/>
                </a:solidFill>
              </a:rPr>
              <a:t>Note: Raw IMSI is NEVER logged — SHA-256(imsi)[0:8] is used instead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Kubernetes Deployment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Helm umbrella chart — all components in aaa-platform namespace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3794760"/>
          </a:xfrm>
          <a:prstGeom prst="rect">
            <a:avLst/>
          </a:prstGeom>
          <a:solidFill>
            <a:srgbClr val="F8FA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</a:rPr>
              <a:t>aaa-platform  (Kubernetes Namespace)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192024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aaa-lookup-service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(C++, 3-6 replicas)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</a:rPr>
              <a:t>port 8081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0" y="1389888"/>
            <a:ext cx="1920240" cy="914400"/>
          </a:xfrm>
          <a:prstGeom prst="rect">
            <a:avLst/>
          </a:prstGeom>
          <a:solidFill>
            <a:srgbClr val="155A8A"/>
          </a:solidFill>
          <a:ln w="12700">
            <a:solidFill>
              <a:srgbClr val="155A8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2560320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subscriber-profile-api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(Python, 2-4 replicas)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</a:rPr>
              <a:t>port 8080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389888"/>
            <a:ext cx="1920240" cy="914400"/>
          </a:xfrm>
          <a:prstGeom prst="rect">
            <a:avLst/>
          </a:prstGeom>
          <a:solidFill>
            <a:srgbClr val="0D3D60"/>
          </a:solidFill>
          <a:ln w="12700">
            <a:solidFill>
              <a:srgbClr val="0D3D6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4663440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aaa-management-ui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(React, 1-2 replicas)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</a:rPr>
              <a:t>port 80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66560" y="1389888"/>
            <a:ext cx="1920240" cy="914400"/>
          </a:xfrm>
          <a:prstGeom prst="rect">
            <a:avLst/>
          </a:prstGeom>
          <a:solidFill>
            <a:srgbClr val="3C4D6B"/>
          </a:solidFill>
          <a:ln w="12700">
            <a:solidFill>
              <a:srgbClr val="3C4D6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6766560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Prometheus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+ Grafana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6656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</a:rPr>
              <a:t>port 9090/3000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417320" y="2304288"/>
            <a:ext cx="0" cy="365760"/>
          </a:xfrm>
          <a:prstGeom prst="line">
            <a:avLst/>
          </a:prstGeom>
          <a:noFill/>
          <a:ln w="1270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3520440" y="2304288"/>
            <a:ext cx="0" cy="365760"/>
          </a:xfrm>
          <a:prstGeom prst="line">
            <a:avLst/>
          </a:prstGeom>
          <a:noFill/>
          <a:ln w="1270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457200" y="2670048"/>
            <a:ext cx="5029200" cy="914400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>
            <a:off x="548640" y="2743200"/>
            <a:ext cx="1143000" cy="685800"/>
          </a:xfrm>
          <a:prstGeom prst="rect">
            <a:avLst/>
          </a:prstGeom>
          <a:solidFill>
            <a:srgbClr val="1A3566"/>
          </a:solidFill>
          <a:ln w="6350">
            <a:solidFill>
              <a:srgbClr val="7EA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548640" y="27432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PostgreSQL Primary (CNPG)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783080" y="2743200"/>
            <a:ext cx="1143000" cy="685800"/>
          </a:xfrm>
          <a:prstGeom prst="rect">
            <a:avLst/>
          </a:prstGeom>
          <a:solidFill>
            <a:srgbClr val="1A3566"/>
          </a:solidFill>
          <a:ln w="6350">
            <a:solidFill>
              <a:srgbClr val="7EA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1783080" y="27432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PgBouncer RW (pooler)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017520" y="2743200"/>
            <a:ext cx="1143000" cy="685800"/>
          </a:xfrm>
          <a:prstGeom prst="rect">
            <a:avLst/>
          </a:prstGeom>
          <a:solidFill>
            <a:srgbClr val="1A3566"/>
          </a:solidFill>
          <a:ln w="6350">
            <a:solidFill>
              <a:srgbClr val="7EA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3017520" y="27432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PgBouncer RO (pooler)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51960" y="2743200"/>
            <a:ext cx="1143000" cy="685800"/>
          </a:xfrm>
          <a:prstGeom prst="rect">
            <a:avLst/>
          </a:prstGeom>
          <a:solidFill>
            <a:srgbClr val="1A3566"/>
          </a:solidFill>
          <a:ln w="6350">
            <a:solidFill>
              <a:srgbClr val="7EA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4251960" y="27432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Read Replica(s)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794760"/>
            <a:ext cx="5029200" cy="640080"/>
          </a:xfrm>
          <a:prstGeom prst="rect">
            <a:avLst/>
          </a:prstGeom>
          <a:solidFill>
            <a:srgbClr val="EEF3FB"/>
          </a:solidFill>
          <a:ln w="635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502920" y="3794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nginx-ingress  |  lookup.aaa.localhost → :8081  |  provisioning.aaa.localhost → :8080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60720" y="1389888"/>
            <a:ext cx="3017520" cy="1600200"/>
          </a:xfrm>
          <a:prstGeom prst="rect">
            <a:avLst/>
          </a:prstGeom>
          <a:solidFill>
            <a:srgbClr val="EEF3FB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5852160" y="1444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Helm Charts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52160" y="17647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aaa-platform (umbrella)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52160" y="19933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aaa-database (CNPG)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52160" y="22219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aaa-lookup-service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52160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subscriber-profile-api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52160" y="2679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aaa-management-ui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60720" y="3090672"/>
            <a:ext cx="3017520" cy="1344168"/>
          </a:xfrm>
          <a:prstGeom prst="rect">
            <a:avLst/>
          </a:prstGeom>
          <a:solidFill>
            <a:srgbClr val="EEF3FB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Text 38"/>
          <p:cNvSpPr/>
          <p:nvPr/>
        </p:nvSpPr>
        <p:spPr>
          <a:xfrm>
            <a:off x="5852160" y="31455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Storage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52160" y="34930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Dev: local-path (k3d) (5 Gi)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52160" y="37856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Prod: gp3-encrypted (EBS) (100 Gi)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852160" y="40782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Prometheus: local-path / gp3 (5-50 Gi)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59613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Pod Architecture — Deployment Topology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59613"/>
            <a:ext cx="8412480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</a:rPr>
              <a:t>Request path: SMF → Radius-to-Rest → Lookup Service ↔ 1st Connection &amp; Provisioning ↔ PostgreSQL (HA cluster)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50032" y="830001"/>
            <a:ext cx="1900032" cy="369966"/>
          </a:xfrm>
          <a:prstGeom prst="rect">
            <a:avLst/>
          </a:prstGeom>
          <a:solidFill>
            <a:srgbClr val="1E2761"/>
          </a:solidFill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50032" y="830001"/>
            <a:ext cx="1900032" cy="369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PostgreSQL (Read)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71956" y="830001"/>
            <a:ext cx="1900032" cy="369966"/>
          </a:xfrm>
          <a:prstGeom prst="rect">
            <a:avLst/>
          </a:prstGeom>
          <a:solidFill>
            <a:srgbClr val="1E2761"/>
          </a:solidFill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3671956" y="830001"/>
            <a:ext cx="1900032" cy="369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PostgreSQL (Read)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979981" y="830001"/>
            <a:ext cx="2049993" cy="369966"/>
          </a:xfrm>
          <a:prstGeom prst="rect">
            <a:avLst/>
          </a:prstGeom>
          <a:solidFill>
            <a:srgbClr val="1E2761"/>
          </a:solidFill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6979981" y="830001"/>
            <a:ext cx="2049993" cy="369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PostgreSQL (Read/Write)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50064" y="1014984"/>
            <a:ext cx="1421892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5571988" y="1014984"/>
            <a:ext cx="1407993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1300048" y="1199967"/>
            <a:ext cx="0" cy="740024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 flipH="1">
            <a:off x="2150029" y="1199967"/>
            <a:ext cx="2471943" cy="740024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4621972" y="1199967"/>
            <a:ext cx="2203064" cy="740024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8004978" y="1199967"/>
            <a:ext cx="0" cy="110002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5049957" y="1329995"/>
            <a:ext cx="2900020" cy="460035"/>
          </a:xfrm>
          <a:prstGeom prst="ellipse">
            <a:avLst/>
          </a:prstGeom>
          <a:solidFill>
            <a:srgbClr val="CADCFC"/>
          </a:solidFill>
          <a:ln w="317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5049957" y="1329995"/>
            <a:ext cx="2900020" cy="46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1st Connection &amp; Provisioning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9967" y="1790029"/>
            <a:ext cx="0" cy="169987"/>
          </a:xfrm>
          <a:prstGeom prst="line">
            <a:avLst/>
          </a:prstGeom>
          <a:noFill/>
          <a:ln w="31750">
            <a:solidFill>
              <a:srgbClr val="2E75B6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8059979" y="1370000"/>
            <a:ext cx="949970" cy="380025"/>
          </a:xfrm>
          <a:prstGeom prst="ellipse">
            <a:avLst/>
          </a:prstGeom>
          <a:solidFill>
            <a:srgbClr val="CADCFC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8059979" y="1370000"/>
            <a:ext cx="949970" cy="38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UI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49976" y="1560012"/>
            <a:ext cx="110002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Shape 21"/>
          <p:cNvSpPr/>
          <p:nvPr/>
        </p:nvSpPr>
        <p:spPr>
          <a:xfrm>
            <a:off x="160020" y="2020001"/>
            <a:ext cx="4099987" cy="559979"/>
          </a:xfrm>
          <a:prstGeom prst="ellipse">
            <a:avLst/>
          </a:prstGeom>
          <a:solidFill>
            <a:srgbClr val="1E2761"/>
          </a:solidFill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100035" y="1960016"/>
            <a:ext cx="4099987" cy="559979"/>
          </a:xfrm>
          <a:prstGeom prst="ellipse">
            <a:avLst/>
          </a:prstGeom>
          <a:solidFill>
            <a:srgbClr val="F5A623"/>
          </a:solidFill>
          <a:ln w="317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100035" y="1960016"/>
            <a:ext cx="4099987" cy="559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Lookup Service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10018" y="2020001"/>
            <a:ext cx="4150004" cy="559979"/>
          </a:xfrm>
          <a:prstGeom prst="ellipse">
            <a:avLst/>
          </a:prstGeom>
          <a:solidFill>
            <a:srgbClr val="1E2761"/>
          </a:solidFill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Shape 25"/>
          <p:cNvSpPr/>
          <p:nvPr/>
        </p:nvSpPr>
        <p:spPr>
          <a:xfrm>
            <a:off x="4750034" y="1960016"/>
            <a:ext cx="4150004" cy="559979"/>
          </a:xfrm>
          <a:prstGeom prst="ellipse">
            <a:avLst/>
          </a:prstGeom>
          <a:solidFill>
            <a:srgbClr val="F5A623"/>
          </a:solidFill>
          <a:ln w="317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4750034" y="1960016"/>
            <a:ext cx="4150004" cy="559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Lookup Service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200022" y="2240006"/>
            <a:ext cx="550012" cy="0"/>
          </a:xfrm>
          <a:prstGeom prst="line">
            <a:avLst/>
          </a:prstGeom>
          <a:noFill/>
          <a:ln w="31750">
            <a:solidFill>
              <a:srgbClr val="2E75B6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>
            <a:off x="950016" y="2519995"/>
            <a:ext cx="0" cy="190012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Shape 29"/>
          <p:cNvSpPr/>
          <p:nvPr/>
        </p:nvSpPr>
        <p:spPr>
          <a:xfrm>
            <a:off x="3080019" y="2519995"/>
            <a:ext cx="0" cy="190012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Shape 30"/>
          <p:cNvSpPr/>
          <p:nvPr/>
        </p:nvSpPr>
        <p:spPr>
          <a:xfrm>
            <a:off x="5609981" y="2519995"/>
            <a:ext cx="0" cy="190012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Shape 31"/>
          <p:cNvSpPr/>
          <p:nvPr/>
        </p:nvSpPr>
        <p:spPr>
          <a:xfrm>
            <a:off x="8049966" y="2519995"/>
            <a:ext cx="0" cy="190012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Shape 32"/>
          <p:cNvSpPr/>
          <p:nvPr/>
        </p:nvSpPr>
        <p:spPr>
          <a:xfrm>
            <a:off x="160020" y="2790017"/>
            <a:ext cx="1699961" cy="440009"/>
          </a:xfrm>
          <a:prstGeom prst="ellipse">
            <a:avLst/>
          </a:prstGeom>
          <a:solidFill>
            <a:srgbClr val="1E2761"/>
          </a:solidFill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Shape 33"/>
          <p:cNvSpPr/>
          <p:nvPr/>
        </p:nvSpPr>
        <p:spPr>
          <a:xfrm>
            <a:off x="100035" y="2730033"/>
            <a:ext cx="1699961" cy="440009"/>
          </a:xfrm>
          <a:prstGeom prst="ellipse">
            <a:avLst/>
          </a:prstGeom>
          <a:solidFill>
            <a:srgbClr val="F5A623"/>
          </a:solidFill>
          <a:ln w="317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Text 34"/>
          <p:cNvSpPr/>
          <p:nvPr/>
        </p:nvSpPr>
        <p:spPr>
          <a:xfrm>
            <a:off x="100035" y="2730033"/>
            <a:ext cx="1699961" cy="440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Radius to Rest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90023" y="2790017"/>
            <a:ext cx="1699961" cy="440009"/>
          </a:xfrm>
          <a:prstGeom prst="ellipse">
            <a:avLst/>
          </a:prstGeom>
          <a:solidFill>
            <a:srgbClr val="1E2761"/>
          </a:solidFill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Shape 36"/>
          <p:cNvSpPr/>
          <p:nvPr/>
        </p:nvSpPr>
        <p:spPr>
          <a:xfrm>
            <a:off x="2230039" y="2730033"/>
            <a:ext cx="1699961" cy="440009"/>
          </a:xfrm>
          <a:prstGeom prst="ellipse">
            <a:avLst/>
          </a:prstGeom>
          <a:solidFill>
            <a:srgbClr val="F5A623"/>
          </a:solidFill>
          <a:ln w="317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2230039" y="2730033"/>
            <a:ext cx="1699961" cy="440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Radius to Rest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19985" y="2790017"/>
            <a:ext cx="1699961" cy="440009"/>
          </a:xfrm>
          <a:prstGeom prst="ellipse">
            <a:avLst/>
          </a:prstGeom>
          <a:solidFill>
            <a:srgbClr val="1E2761"/>
          </a:solidFill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Shape 39"/>
          <p:cNvSpPr/>
          <p:nvPr/>
        </p:nvSpPr>
        <p:spPr>
          <a:xfrm>
            <a:off x="4760001" y="2730033"/>
            <a:ext cx="1699961" cy="440009"/>
          </a:xfrm>
          <a:prstGeom prst="ellipse">
            <a:avLst/>
          </a:prstGeom>
          <a:solidFill>
            <a:srgbClr val="F5A623"/>
          </a:solidFill>
          <a:ln w="317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Text 40"/>
          <p:cNvSpPr/>
          <p:nvPr/>
        </p:nvSpPr>
        <p:spPr>
          <a:xfrm>
            <a:off x="4760001" y="2730033"/>
            <a:ext cx="1699961" cy="440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Radius to Rest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59970" y="2790017"/>
            <a:ext cx="1699961" cy="440009"/>
          </a:xfrm>
          <a:prstGeom prst="ellipse">
            <a:avLst/>
          </a:prstGeom>
          <a:solidFill>
            <a:srgbClr val="1E2761"/>
          </a:solidFill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Shape 42"/>
          <p:cNvSpPr/>
          <p:nvPr/>
        </p:nvSpPr>
        <p:spPr>
          <a:xfrm>
            <a:off x="7199986" y="2730033"/>
            <a:ext cx="1699961" cy="440009"/>
          </a:xfrm>
          <a:prstGeom prst="ellipse">
            <a:avLst/>
          </a:prstGeom>
          <a:solidFill>
            <a:srgbClr val="F5A623"/>
          </a:solidFill>
          <a:ln w="317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5" name="Text 43"/>
          <p:cNvSpPr/>
          <p:nvPr/>
        </p:nvSpPr>
        <p:spPr>
          <a:xfrm>
            <a:off x="7199986" y="2730033"/>
            <a:ext cx="1699961" cy="440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Radius to Rest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50016" y="3170042"/>
            <a:ext cx="0" cy="209946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47" name="Shape 45"/>
          <p:cNvSpPr/>
          <p:nvPr/>
        </p:nvSpPr>
        <p:spPr>
          <a:xfrm>
            <a:off x="3080019" y="3170042"/>
            <a:ext cx="0" cy="209946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48" name="Shape 46"/>
          <p:cNvSpPr/>
          <p:nvPr/>
        </p:nvSpPr>
        <p:spPr>
          <a:xfrm>
            <a:off x="5609981" y="3170042"/>
            <a:ext cx="0" cy="209946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49" name="Shape 47"/>
          <p:cNvSpPr/>
          <p:nvPr/>
        </p:nvSpPr>
        <p:spPr>
          <a:xfrm>
            <a:off x="8049965" y="3170042"/>
            <a:ext cx="144001" cy="1259952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50" name="Shape 48"/>
          <p:cNvSpPr/>
          <p:nvPr/>
        </p:nvSpPr>
        <p:spPr>
          <a:xfrm>
            <a:off x="195087" y="3400014"/>
            <a:ext cx="309982" cy="279989"/>
          </a:xfrm>
          <a:prstGeom prst="roundRect">
            <a:avLst>
              <a:gd name="adj" fmla="val 16329"/>
            </a:avLst>
          </a:prstGeom>
          <a:solidFill>
            <a:srgbClr val="2E75B6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1" name="Text 49"/>
          <p:cNvSpPr/>
          <p:nvPr/>
        </p:nvSpPr>
        <p:spPr>
          <a:xfrm>
            <a:off x="195087" y="3400014"/>
            <a:ext cx="309982" cy="279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95046" y="3400014"/>
            <a:ext cx="309982" cy="279989"/>
          </a:xfrm>
          <a:prstGeom prst="roundRect">
            <a:avLst>
              <a:gd name="adj" fmla="val 16329"/>
            </a:avLst>
          </a:prstGeom>
          <a:solidFill>
            <a:srgbClr val="2E75B6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3" name="Text 51"/>
          <p:cNvSpPr/>
          <p:nvPr/>
        </p:nvSpPr>
        <p:spPr>
          <a:xfrm>
            <a:off x="595046" y="3400014"/>
            <a:ext cx="309982" cy="279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95004" y="3400014"/>
            <a:ext cx="309982" cy="279989"/>
          </a:xfrm>
          <a:prstGeom prst="roundRect">
            <a:avLst>
              <a:gd name="adj" fmla="val 16329"/>
            </a:avLst>
          </a:prstGeom>
          <a:solidFill>
            <a:srgbClr val="2E75B6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5" name="Text 53"/>
          <p:cNvSpPr/>
          <p:nvPr/>
        </p:nvSpPr>
        <p:spPr>
          <a:xfrm>
            <a:off x="995004" y="3400014"/>
            <a:ext cx="309982" cy="279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394963" y="3400014"/>
            <a:ext cx="309982" cy="279989"/>
          </a:xfrm>
          <a:prstGeom prst="roundRect">
            <a:avLst>
              <a:gd name="adj" fmla="val 16329"/>
            </a:avLst>
          </a:prstGeom>
          <a:solidFill>
            <a:srgbClr val="2E75B6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7" name="Text 55"/>
          <p:cNvSpPr/>
          <p:nvPr/>
        </p:nvSpPr>
        <p:spPr>
          <a:xfrm>
            <a:off x="1394963" y="3400014"/>
            <a:ext cx="309982" cy="279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325091" y="3400014"/>
            <a:ext cx="309982" cy="279989"/>
          </a:xfrm>
          <a:prstGeom prst="roundRect">
            <a:avLst>
              <a:gd name="adj" fmla="val 16329"/>
            </a:avLst>
          </a:prstGeom>
          <a:solidFill>
            <a:srgbClr val="2E75B6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9" name="Text 57"/>
          <p:cNvSpPr/>
          <p:nvPr/>
        </p:nvSpPr>
        <p:spPr>
          <a:xfrm>
            <a:off x="2325091" y="3400014"/>
            <a:ext cx="309982" cy="279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25049" y="3400014"/>
            <a:ext cx="309982" cy="279989"/>
          </a:xfrm>
          <a:prstGeom prst="roundRect">
            <a:avLst>
              <a:gd name="adj" fmla="val 16329"/>
            </a:avLst>
          </a:prstGeom>
          <a:solidFill>
            <a:srgbClr val="2E75B6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1" name="Text 59"/>
          <p:cNvSpPr/>
          <p:nvPr/>
        </p:nvSpPr>
        <p:spPr>
          <a:xfrm>
            <a:off x="2725049" y="3400014"/>
            <a:ext cx="309982" cy="279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125008" y="3400014"/>
            <a:ext cx="309982" cy="279989"/>
          </a:xfrm>
          <a:prstGeom prst="roundRect">
            <a:avLst>
              <a:gd name="adj" fmla="val 16329"/>
            </a:avLst>
          </a:prstGeom>
          <a:solidFill>
            <a:srgbClr val="2E75B6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3" name="Text 61"/>
          <p:cNvSpPr/>
          <p:nvPr/>
        </p:nvSpPr>
        <p:spPr>
          <a:xfrm>
            <a:off x="3125008" y="3400014"/>
            <a:ext cx="309982" cy="279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524966" y="3400014"/>
            <a:ext cx="309982" cy="279989"/>
          </a:xfrm>
          <a:prstGeom prst="roundRect">
            <a:avLst>
              <a:gd name="adj" fmla="val 16329"/>
            </a:avLst>
          </a:prstGeom>
          <a:solidFill>
            <a:srgbClr val="2E75B6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5" name="Text 63"/>
          <p:cNvSpPr/>
          <p:nvPr/>
        </p:nvSpPr>
        <p:spPr>
          <a:xfrm>
            <a:off x="3524966" y="3400014"/>
            <a:ext cx="309982" cy="279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855053" y="3400014"/>
            <a:ext cx="309982" cy="279989"/>
          </a:xfrm>
          <a:prstGeom prst="roundRect">
            <a:avLst>
              <a:gd name="adj" fmla="val 16329"/>
            </a:avLst>
          </a:prstGeom>
          <a:solidFill>
            <a:srgbClr val="2E75B6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7" name="Text 65"/>
          <p:cNvSpPr/>
          <p:nvPr/>
        </p:nvSpPr>
        <p:spPr>
          <a:xfrm>
            <a:off x="4855053" y="3400014"/>
            <a:ext cx="309982" cy="279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255011" y="3400014"/>
            <a:ext cx="309982" cy="279989"/>
          </a:xfrm>
          <a:prstGeom prst="roundRect">
            <a:avLst>
              <a:gd name="adj" fmla="val 16329"/>
            </a:avLst>
          </a:prstGeom>
          <a:solidFill>
            <a:srgbClr val="2E75B6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9" name="Text 67"/>
          <p:cNvSpPr/>
          <p:nvPr/>
        </p:nvSpPr>
        <p:spPr>
          <a:xfrm>
            <a:off x="5255011" y="3400014"/>
            <a:ext cx="309982" cy="279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654970" y="3400014"/>
            <a:ext cx="309982" cy="279989"/>
          </a:xfrm>
          <a:prstGeom prst="roundRect">
            <a:avLst>
              <a:gd name="adj" fmla="val 16329"/>
            </a:avLst>
          </a:prstGeom>
          <a:solidFill>
            <a:srgbClr val="2E75B6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1" name="Text 69"/>
          <p:cNvSpPr/>
          <p:nvPr/>
        </p:nvSpPr>
        <p:spPr>
          <a:xfrm>
            <a:off x="5654970" y="3400014"/>
            <a:ext cx="309982" cy="279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054928" y="3400014"/>
            <a:ext cx="309982" cy="279989"/>
          </a:xfrm>
          <a:prstGeom prst="roundRect">
            <a:avLst>
              <a:gd name="adj" fmla="val 16329"/>
            </a:avLst>
          </a:prstGeom>
          <a:solidFill>
            <a:srgbClr val="2E75B6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3" name="Text 71"/>
          <p:cNvSpPr/>
          <p:nvPr/>
        </p:nvSpPr>
        <p:spPr>
          <a:xfrm>
            <a:off x="6054928" y="3400014"/>
            <a:ext cx="309982" cy="279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SMF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700004" y="4429994"/>
            <a:ext cx="1699961" cy="380025"/>
          </a:xfrm>
          <a:prstGeom prst="rect">
            <a:avLst/>
          </a:prstGeom>
          <a:solidFill>
            <a:srgbClr val="00B05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2" name="Text 80"/>
          <p:cNvSpPr/>
          <p:nvPr/>
        </p:nvSpPr>
        <p:spPr>
          <a:xfrm>
            <a:off x="5700004" y="4429994"/>
            <a:ext cx="1699961" cy="38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QA Automation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550018" y="4429994"/>
            <a:ext cx="1549999" cy="380025"/>
          </a:xfrm>
          <a:prstGeom prst="rect">
            <a:avLst/>
          </a:prstGeom>
          <a:solidFill>
            <a:srgbClr val="00B05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4" name="Text 82"/>
          <p:cNvSpPr/>
          <p:nvPr/>
        </p:nvSpPr>
        <p:spPr>
          <a:xfrm>
            <a:off x="7550018" y="4429994"/>
            <a:ext cx="1549999" cy="38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QA Load test</a:t>
            </a:r>
            <a:endParaRPr lang="en-US" sz="900" dirty="0"/>
          </a:p>
        </p:txBody>
      </p:sp>
      <p:sp>
        <p:nvSpPr>
          <p:cNvPr id="85" name="Shape 47">
            <a:extLst>
              <a:ext uri="{FF2B5EF4-FFF2-40B4-BE49-F238E27FC236}">
                <a16:creationId xmlns:a16="http://schemas.microsoft.com/office/drawing/2014/main" id="{6239E465-CFB2-D81C-EF7F-A727AC4B4553}"/>
              </a:ext>
            </a:extLst>
          </p:cNvPr>
          <p:cNvSpPr/>
          <p:nvPr/>
        </p:nvSpPr>
        <p:spPr>
          <a:xfrm flipH="1">
            <a:off x="6499968" y="3230026"/>
            <a:ext cx="1302001" cy="1199968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Developer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Makefile-driven local development with k3d + hot-reload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Bootstrap (first time):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572000" cy="438912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365760" y="13350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bootstrap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13350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cluster-up + hosts + build-all + push-all + deploy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01368"/>
            <a:ext cx="4572000" cy="438912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365760" y="18379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status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18379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Show all pod statuses in aaa-platform namespace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4572000" cy="438912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65760" y="23408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340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Run 11-module regression suite as K8s Job (~15 min)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2852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Port-Forward (local dev):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200400"/>
            <a:ext cx="4572000" cy="365760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384048" y="32278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port-forward-api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78608" y="322783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→ localhost:8080 (subscriber-profile-api)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630168"/>
            <a:ext cx="4572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384048" y="36576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port-forward-lookup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78608" y="365760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→ localhost:8081 (aaa-lookup-service)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4059936"/>
            <a:ext cx="4572000" cy="365760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384048" y="40873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port-forward-db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78608" y="408736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→ localhost:5432 (psql, DBeaver)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489704"/>
            <a:ext cx="4572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384048" y="451713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port-forward-grafana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78608" y="451713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→ localhost:3000 (admin/dev-grafana)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20640" y="960120"/>
            <a:ext cx="3749040" cy="3886200"/>
          </a:xfrm>
          <a:prstGeom prst="rect">
            <a:avLst/>
          </a:prstGeom>
          <a:solidFill>
            <a:srgbClr val="EEF3FB"/>
          </a:solidFill>
          <a:ln w="1016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>
            <a:off x="5120640" y="960120"/>
            <a:ext cx="3749040" cy="32918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5166360" y="960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Regression Test Suite (11 Modules)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30368" y="1371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test_01_pools.py — IP pool CRUD &amp; exhaustion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30368" y="1719072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5230368" y="1755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test_02_range_configs.py — IMSI range CRUD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30368" y="2103120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5230368" y="21396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test_03/04/05 — Profiles A / B / C modes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230368" y="2487168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Text 35"/>
          <p:cNvSpPr/>
          <p:nvPr/>
        </p:nvSpPr>
        <p:spPr>
          <a:xfrm>
            <a:off x="5230368" y="25237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test_06_imsi_ops.py — IMSI add/remove/update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230368" y="2871216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5230368" y="29077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test_07_dynamic_alloc.py — First-connection flow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230368" y="3255264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Text 39"/>
          <p:cNvSpPr/>
          <p:nvPr/>
        </p:nvSpPr>
        <p:spPr>
          <a:xfrm>
            <a:off x="5230368" y="3291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test_08_bulk.py — JSON + CSV bulk upsert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230368" y="3639312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3" name="Text 41"/>
          <p:cNvSpPr/>
          <p:nvPr/>
        </p:nvSpPr>
        <p:spPr>
          <a:xfrm>
            <a:off x="5230368" y="3675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test_09_migration.py — MariaDB → PostgreSQL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230368" y="4023360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5" name="Text 43"/>
          <p:cNvSpPr/>
          <p:nvPr/>
        </p:nvSpPr>
        <p:spPr>
          <a:xfrm>
            <a:off x="5230368" y="40599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test_10_errors.py — Validation &amp; conflicts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230368" y="4407408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7" name="Text 45"/>
          <p:cNvSpPr/>
          <p:nvPr/>
        </p:nvSpPr>
        <p:spPr>
          <a:xfrm>
            <a:off x="5230368" y="44439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test_11_performance.py — Latency &amp; stress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230368" y="4791456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Auto-Allocation Scenarios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66560" y="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A8E8"/>
                </a:solidFill>
              </a:rPr>
              <a:t>POST /v1/first-connection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" y="749808"/>
            <a:ext cx="347472" cy="329184"/>
          </a:xfrm>
          <a:prstGeom prst="rect">
            <a:avLst/>
          </a:prstGeom>
          <a:solidFill>
            <a:srgbClr val="1E276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192024" y="74980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#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2064" y="749808"/>
            <a:ext cx="1417320" cy="329184"/>
          </a:xfrm>
          <a:prstGeom prst="rect">
            <a:avLst/>
          </a:prstGeom>
          <a:solidFill>
            <a:srgbClr val="1E276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539496" y="749808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SIM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9384" y="749808"/>
            <a:ext cx="1005840" cy="329184"/>
          </a:xfrm>
          <a:prstGeom prst="rect">
            <a:avLst/>
          </a:prstGeom>
          <a:solidFill>
            <a:srgbClr val="1E276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1956816" y="749808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35224" y="749808"/>
            <a:ext cx="1005840" cy="329184"/>
          </a:xfrm>
          <a:prstGeom prst="rect">
            <a:avLst/>
          </a:prstGeom>
          <a:solidFill>
            <a:srgbClr val="1E276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2962656" y="749808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APN catalog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41064" y="749808"/>
            <a:ext cx="658368" cy="329184"/>
          </a:xfrm>
          <a:prstGeom prst="rect">
            <a:avLst/>
          </a:prstGeom>
          <a:solidFill>
            <a:srgbClr val="1E276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3968496" y="749808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IPs / SIM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99432" y="749808"/>
            <a:ext cx="1371600" cy="329184"/>
          </a:xfrm>
          <a:prstGeom prst="rect">
            <a:avLst/>
          </a:prstGeom>
          <a:solidFill>
            <a:srgbClr val="1E276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4626864" y="749808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Config steps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71032" y="749808"/>
            <a:ext cx="1691640" cy="329184"/>
          </a:xfrm>
          <a:prstGeom prst="rect">
            <a:avLst/>
          </a:prstGeom>
          <a:solidFill>
            <a:srgbClr val="1E276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5998464" y="749808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First connect provisions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1078992"/>
            <a:ext cx="347472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192024" y="107899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S1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2064" y="1078992"/>
            <a:ext cx="141732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539496" y="1078992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Single-IMSI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929384" y="1078992"/>
            <a:ext cx="10058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1956816" y="107899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</a:rPr>
              <a:t>imsi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35224" y="1078992"/>
            <a:ext cx="10058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2962656" y="107899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—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41064" y="1078992"/>
            <a:ext cx="658368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3968496" y="1078992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C8C"/>
                </a:solidFill>
              </a:rPr>
              <a:t>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99432" y="1078992"/>
            <a:ext cx="137160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4626864" y="107899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range-config + pool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71032" y="1078992"/>
            <a:ext cx="16916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30"/>
          <p:cNvSpPr/>
          <p:nvPr/>
        </p:nvSpPr>
        <p:spPr>
          <a:xfrm>
            <a:off x="5998464" y="1078992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1 IP → imsi_apn_ips (apn=NULL)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64592" y="1408176"/>
            <a:ext cx="347472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32"/>
          <p:cNvSpPr/>
          <p:nvPr/>
        </p:nvSpPr>
        <p:spPr>
          <a:xfrm>
            <a:off x="192024" y="140817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S2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12064" y="1408176"/>
            <a:ext cx="14173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Text 34"/>
          <p:cNvSpPr/>
          <p:nvPr/>
        </p:nvSpPr>
        <p:spPr>
          <a:xfrm>
            <a:off x="539496" y="1408176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Single-IMSI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929384" y="1408176"/>
            <a:ext cx="10058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Text 36"/>
          <p:cNvSpPr/>
          <p:nvPr/>
        </p:nvSpPr>
        <p:spPr>
          <a:xfrm>
            <a:off x="1956816" y="140817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</a:rPr>
              <a:t>imsi_apn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935224" y="1408176"/>
            <a:ext cx="10058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Text 38"/>
          <p:cNvSpPr/>
          <p:nvPr/>
        </p:nvSpPr>
        <p:spPr>
          <a:xfrm>
            <a:off x="2962656" y="140817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N APNs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941064" y="1408176"/>
            <a:ext cx="658368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Text 40"/>
          <p:cNvSpPr/>
          <p:nvPr/>
        </p:nvSpPr>
        <p:spPr>
          <a:xfrm>
            <a:off x="3968496" y="1408176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C8C"/>
                </a:solidFill>
              </a:rPr>
              <a:t>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99432" y="1408176"/>
            <a:ext cx="13716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Text 42"/>
          <p:cNvSpPr/>
          <p:nvPr/>
        </p:nvSpPr>
        <p:spPr>
          <a:xfrm>
            <a:off x="4626864" y="14081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range-config + apn-pools (×N)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971032" y="1408176"/>
            <a:ext cx="16916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6" name="Text 44"/>
          <p:cNvSpPr/>
          <p:nvPr/>
        </p:nvSpPr>
        <p:spPr>
          <a:xfrm>
            <a:off x="5998464" y="1408176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N IPs → imsi_apn_ips per APN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64592" y="1737360"/>
            <a:ext cx="347472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8" name="Text 46"/>
          <p:cNvSpPr/>
          <p:nvPr/>
        </p:nvSpPr>
        <p:spPr>
          <a:xfrm>
            <a:off x="192024" y="173736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S3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12064" y="1737360"/>
            <a:ext cx="141732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0" name="Text 48"/>
          <p:cNvSpPr/>
          <p:nvPr/>
        </p:nvSpPr>
        <p:spPr>
          <a:xfrm>
            <a:off x="539496" y="173736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Single-IMSI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929384" y="1737360"/>
            <a:ext cx="10058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2" name="Text 50"/>
          <p:cNvSpPr/>
          <p:nvPr/>
        </p:nvSpPr>
        <p:spPr>
          <a:xfrm>
            <a:off x="1956816" y="1737360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</a:rPr>
              <a:t>iccid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935224" y="1737360"/>
            <a:ext cx="10058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4" name="Text 52"/>
          <p:cNvSpPr/>
          <p:nvPr/>
        </p:nvSpPr>
        <p:spPr>
          <a:xfrm>
            <a:off x="2962656" y="1737360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—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941064" y="1737360"/>
            <a:ext cx="658368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6" name="Text 54"/>
          <p:cNvSpPr/>
          <p:nvPr/>
        </p:nvSpPr>
        <p:spPr>
          <a:xfrm>
            <a:off x="3968496" y="1737360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C8C"/>
                </a:solidFill>
              </a:rPr>
              <a:t>1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99432" y="1737360"/>
            <a:ext cx="137160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8" name="Text 56"/>
          <p:cNvSpPr/>
          <p:nvPr/>
        </p:nvSpPr>
        <p:spPr>
          <a:xfrm>
            <a:off x="4626864" y="1737360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range-config + pool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971032" y="1737360"/>
            <a:ext cx="16916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0" name="Text 58"/>
          <p:cNvSpPr/>
          <p:nvPr/>
        </p:nvSpPr>
        <p:spPr>
          <a:xfrm>
            <a:off x="5998464" y="1737360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1 IP → sim_apn_ips (apn=NULL)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64592" y="2066544"/>
            <a:ext cx="347472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2" name="Text 60"/>
          <p:cNvSpPr/>
          <p:nvPr/>
        </p:nvSpPr>
        <p:spPr>
          <a:xfrm>
            <a:off x="192024" y="2066544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S4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12064" y="2066544"/>
            <a:ext cx="14173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4" name="Text 62"/>
          <p:cNvSpPr/>
          <p:nvPr/>
        </p:nvSpPr>
        <p:spPr>
          <a:xfrm>
            <a:off x="539496" y="20665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Single-IMSI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929384" y="2066544"/>
            <a:ext cx="10058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6" name="Text 64"/>
          <p:cNvSpPr/>
          <p:nvPr/>
        </p:nvSpPr>
        <p:spPr>
          <a:xfrm>
            <a:off x="1956816" y="2066544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</a:rPr>
              <a:t>iccid_apn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935224" y="2066544"/>
            <a:ext cx="10058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8" name="Text 66"/>
          <p:cNvSpPr/>
          <p:nvPr/>
        </p:nvSpPr>
        <p:spPr>
          <a:xfrm>
            <a:off x="2962656" y="2066544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N APNs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941064" y="2066544"/>
            <a:ext cx="658368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0" name="Text 68"/>
          <p:cNvSpPr/>
          <p:nvPr/>
        </p:nvSpPr>
        <p:spPr>
          <a:xfrm>
            <a:off x="3968496" y="2066544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C8C"/>
                </a:solidFill>
              </a:rPr>
              <a:t>N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599432" y="2066544"/>
            <a:ext cx="13716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2" name="Text 70"/>
          <p:cNvSpPr/>
          <p:nvPr/>
        </p:nvSpPr>
        <p:spPr>
          <a:xfrm>
            <a:off x="4626864" y="2066544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range-config + apn-pools (×N)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971032" y="2066544"/>
            <a:ext cx="16916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4" name="Text 72"/>
          <p:cNvSpPr/>
          <p:nvPr/>
        </p:nvSpPr>
        <p:spPr>
          <a:xfrm>
            <a:off x="5998464" y="2066544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N IPs → sim_apn_ips per APN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164592" y="2395728"/>
            <a:ext cx="347472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6" name="Text 74"/>
          <p:cNvSpPr/>
          <p:nvPr/>
        </p:nvSpPr>
        <p:spPr>
          <a:xfrm>
            <a:off x="192024" y="239572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M1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12064" y="2395728"/>
            <a:ext cx="141732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8" name="Text 76"/>
          <p:cNvSpPr/>
          <p:nvPr/>
        </p:nvSpPr>
        <p:spPr>
          <a:xfrm>
            <a:off x="539496" y="2395728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Multi-IMSI (M)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1929384" y="2395728"/>
            <a:ext cx="10058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0" name="Text 78"/>
          <p:cNvSpPr/>
          <p:nvPr/>
        </p:nvSpPr>
        <p:spPr>
          <a:xfrm>
            <a:off x="1956816" y="2395728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FC3F7"/>
                </a:solidFill>
              </a:rPr>
              <a:t>imsi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2935224" y="2395728"/>
            <a:ext cx="10058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2" name="Text 80"/>
          <p:cNvSpPr/>
          <p:nvPr/>
        </p:nvSpPr>
        <p:spPr>
          <a:xfrm>
            <a:off x="2962656" y="2395728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—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3941064" y="2395728"/>
            <a:ext cx="658368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4" name="Text 82"/>
          <p:cNvSpPr/>
          <p:nvPr/>
        </p:nvSpPr>
        <p:spPr>
          <a:xfrm>
            <a:off x="3968496" y="2395728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C8C"/>
                </a:solidFill>
              </a:rPr>
              <a:t>M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599432" y="2395728"/>
            <a:ext cx="137160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6" name="Text 84"/>
          <p:cNvSpPr/>
          <p:nvPr/>
        </p:nvSpPr>
        <p:spPr>
          <a:xfrm>
            <a:off x="4626864" y="2395728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iccid-range + M slots (per-slot pools opt.)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5971032" y="2395728"/>
            <a:ext cx="16916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8" name="Text 86"/>
          <p:cNvSpPr/>
          <p:nvPr/>
        </p:nvSpPr>
        <p:spPr>
          <a:xfrm>
            <a:off x="5998464" y="2395728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M IPs — 1 per slot, all in 1 COMMIT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164592" y="2724912"/>
            <a:ext cx="347472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0" name="Text 88"/>
          <p:cNvSpPr/>
          <p:nvPr/>
        </p:nvSpPr>
        <p:spPr>
          <a:xfrm>
            <a:off x="192024" y="272491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M2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12064" y="2724912"/>
            <a:ext cx="14173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2" name="Text 90"/>
          <p:cNvSpPr/>
          <p:nvPr/>
        </p:nvSpPr>
        <p:spPr>
          <a:xfrm>
            <a:off x="539496" y="2724912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Multi-IMSI (M)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1929384" y="2724912"/>
            <a:ext cx="10058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4" name="Text 92"/>
          <p:cNvSpPr/>
          <p:nvPr/>
        </p:nvSpPr>
        <p:spPr>
          <a:xfrm>
            <a:off x="1956816" y="272491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FC3F7"/>
                </a:solidFill>
              </a:rPr>
              <a:t>imsi_apn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2935224" y="2724912"/>
            <a:ext cx="10058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6" name="Text 94"/>
          <p:cNvSpPr/>
          <p:nvPr/>
        </p:nvSpPr>
        <p:spPr>
          <a:xfrm>
            <a:off x="2962656" y="272491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N APNs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941064" y="2724912"/>
            <a:ext cx="658368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8" name="Text 96"/>
          <p:cNvSpPr/>
          <p:nvPr/>
        </p:nvSpPr>
        <p:spPr>
          <a:xfrm>
            <a:off x="3968496" y="2724912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C8C"/>
                </a:solidFill>
              </a:rPr>
              <a:t>M×N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599432" y="2724912"/>
            <a:ext cx="13716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0" name="Text 98"/>
          <p:cNvSpPr/>
          <p:nvPr/>
        </p:nvSpPr>
        <p:spPr>
          <a:xfrm>
            <a:off x="4626864" y="272491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iccid-range + M slots + apn-pools on each slot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971032" y="2724912"/>
            <a:ext cx="16916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2" name="Text 100"/>
          <p:cNvSpPr/>
          <p:nvPr/>
        </p:nvSpPr>
        <p:spPr>
          <a:xfrm>
            <a:off x="5998464" y="2724912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M×N IPs — per-slot per-APN, 1 COMMIT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164592" y="3054096"/>
            <a:ext cx="347472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4" name="Text 102"/>
          <p:cNvSpPr/>
          <p:nvPr/>
        </p:nvSpPr>
        <p:spPr>
          <a:xfrm>
            <a:off x="192024" y="305409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M3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512064" y="3054096"/>
            <a:ext cx="141732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6" name="Text 104"/>
          <p:cNvSpPr/>
          <p:nvPr/>
        </p:nvSpPr>
        <p:spPr>
          <a:xfrm>
            <a:off x="539496" y="3054096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Multi-IMSI (M)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1929384" y="3054096"/>
            <a:ext cx="10058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8" name="Text 106"/>
          <p:cNvSpPr/>
          <p:nvPr/>
        </p:nvSpPr>
        <p:spPr>
          <a:xfrm>
            <a:off x="1956816" y="305409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FC3F7"/>
                </a:solidFill>
              </a:rPr>
              <a:t>iccid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2935224" y="3054096"/>
            <a:ext cx="10058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0" name="Text 108"/>
          <p:cNvSpPr/>
          <p:nvPr/>
        </p:nvSpPr>
        <p:spPr>
          <a:xfrm>
            <a:off x="2962656" y="305409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—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3941064" y="3054096"/>
            <a:ext cx="658368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2" name="Text 110"/>
          <p:cNvSpPr/>
          <p:nvPr/>
        </p:nvSpPr>
        <p:spPr>
          <a:xfrm>
            <a:off x="3968496" y="3054096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C8C"/>
                </a:solidFill>
              </a:rPr>
              <a:t>1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4599432" y="3054096"/>
            <a:ext cx="137160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4" name="Text 112"/>
          <p:cNvSpPr/>
          <p:nvPr/>
        </p:nvSpPr>
        <p:spPr>
          <a:xfrm>
            <a:off x="4626864" y="305409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iccid-range + M slots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5971032" y="3054096"/>
            <a:ext cx="1691640" cy="329184"/>
          </a:xfrm>
          <a:prstGeom prst="rect">
            <a:avLst/>
          </a:prstGeom>
          <a:solidFill>
            <a:srgbClr val="EFF3FB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6" name="Text 114"/>
          <p:cNvSpPr/>
          <p:nvPr/>
        </p:nvSpPr>
        <p:spPr>
          <a:xfrm>
            <a:off x="5998464" y="3054096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1 IP shared — all slots, 1 COMMIT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164592" y="3383280"/>
            <a:ext cx="347472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8" name="Text 116"/>
          <p:cNvSpPr/>
          <p:nvPr/>
        </p:nvSpPr>
        <p:spPr>
          <a:xfrm>
            <a:off x="192024" y="338328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M4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512064" y="3383280"/>
            <a:ext cx="14173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0" name="Text 118"/>
          <p:cNvSpPr/>
          <p:nvPr/>
        </p:nvSpPr>
        <p:spPr>
          <a:xfrm>
            <a:off x="539496" y="33832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Multi-IMSI (M)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1929384" y="3383280"/>
            <a:ext cx="10058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2" name="Text 120"/>
          <p:cNvSpPr/>
          <p:nvPr/>
        </p:nvSpPr>
        <p:spPr>
          <a:xfrm>
            <a:off x="1956816" y="3383280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FC3F7"/>
                </a:solidFill>
              </a:rPr>
              <a:t>iccid_apn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2935224" y="3383280"/>
            <a:ext cx="10058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4" name="Text 122"/>
          <p:cNvSpPr/>
          <p:nvPr/>
        </p:nvSpPr>
        <p:spPr>
          <a:xfrm>
            <a:off x="2962656" y="3383280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N APNs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3941064" y="3383280"/>
            <a:ext cx="658368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6" name="Text 124"/>
          <p:cNvSpPr/>
          <p:nvPr/>
        </p:nvSpPr>
        <p:spPr>
          <a:xfrm>
            <a:off x="3968496" y="3383280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C8C"/>
                </a:solidFill>
              </a:rPr>
              <a:t>N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4599432" y="3383280"/>
            <a:ext cx="13716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8" name="Text 126"/>
          <p:cNvSpPr/>
          <p:nvPr/>
        </p:nvSpPr>
        <p:spPr>
          <a:xfrm>
            <a:off x="4626864" y="3383280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iccid-range + M slots + apn-pools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5971032" y="3383280"/>
            <a:ext cx="16916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0" name="Text 128"/>
          <p:cNvSpPr/>
          <p:nvPr/>
        </p:nvSpPr>
        <p:spPr>
          <a:xfrm>
            <a:off x="5998464" y="3383280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N IPs shared card-level, 1 COMMIT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164592" y="3785616"/>
            <a:ext cx="8814816" cy="713232"/>
          </a:xfrm>
          <a:prstGeom prst="rect">
            <a:avLst/>
          </a:prstGeom>
          <a:solidFill>
            <a:srgbClr val="EEF3FB"/>
          </a:solidFill>
          <a:ln w="762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2" name="Text 130"/>
          <p:cNvSpPr/>
          <p:nvPr/>
        </p:nvSpPr>
        <p:spPr>
          <a:xfrm>
            <a:off x="256032" y="3803904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N = APN entries in range_config_apn_pools  ·  M = active IMSI slots  ·  All scenarios are idempotent — repeat calls return existing IP with single read, no allocation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Pool resolution: APN override (range_config_apn_pools) → slot pool (imsi_range_configs) → parent pool (iccid_range_configs)  ·  M2 example: 2 slots × 2 APNs = 4 IPs per SIM in one COMMIT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Bulk provisioning: all 8 scenarios supported via POST /v1/profiles/bulk — supply static_ip/pool_id per IP entry for pre-provisioned, or omit for auto-allocation via range config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737360"/>
          </a:xfrm>
          <a:prstGeom prst="rect">
            <a:avLst/>
          </a:prstGeom>
          <a:solidFill>
            <a:srgbClr val="172055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402336" y="10881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Real-Time Performance Guaranteed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2336" y="14630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EA8E8"/>
                </a:solidFill>
              </a:rPr>
              <a:t>Separated read/write paths ensure RADIUS authentication always stays below 15ms p99 — even as the subscriber base grows.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14800" cy="1737360"/>
          </a:xfrm>
          <a:prstGeom prst="rect">
            <a:avLst/>
          </a:prstGeom>
          <a:solidFill>
            <a:srgbClr val="172055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54864"/>
          </a:xfrm>
          <a:prstGeom prst="rect">
            <a:avLst/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4837176" y="10881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Zero-Touch First-Connection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37176" y="14630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EA8E8"/>
                </a:solidFill>
              </a:rPr>
              <a:t>Unknown IMSIs are detected and auto-provisioned on first RADIUS attach. Multi-IMSI SIM cards get all slots provisioned atomically in a single transaction.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14800" cy="1737360"/>
          </a:xfrm>
          <a:prstGeom prst="rect">
            <a:avLst/>
          </a:prstGeom>
          <a:solidFill>
            <a:srgbClr val="172055"/>
          </a:solidFill>
          <a:ln w="12700">
            <a:solidFill>
              <a:srgbClr val="7EA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4114800" cy="54864"/>
          </a:xfrm>
          <a:prstGeom prst="rect">
            <a:avLst/>
          </a:prstGeom>
          <a:solidFill>
            <a:srgbClr val="7EA8E8"/>
          </a:solidFill>
          <a:ln w="12700">
            <a:solidFill>
              <a:srgbClr val="7EA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402336" y="30083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Cloud-Native from the Ground Up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" y="33832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EA8E8"/>
                </a:solidFill>
              </a:rPr>
              <a:t>Kubernetes-native with Helm charts, CloudNativePG, PgBouncer, Prometheus, and Grafana. Scales independently per-region, per-service.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114800" cy="1737360"/>
          </a:xfrm>
          <a:prstGeom prst="rect">
            <a:avLst/>
          </a:prstGeom>
          <a:solidFill>
            <a:srgbClr val="172055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41148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837176" y="30083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Enterprise-Scale Operations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37176" y="33832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EA8E8"/>
                </a:solidFill>
              </a:rPr>
              <a:t>Bulk provisioning of 100K profiles per job, async processing, per-row error accumulation, and full audit trail for compliance.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4773168"/>
            <a:ext cx="8595360" cy="0"/>
          </a:xfrm>
          <a:prstGeom prst="line">
            <a:avLst/>
          </a:prstGeom>
          <a:noFill/>
          <a:ln w="6350">
            <a:solidFill>
              <a:srgbClr val="3C4D6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274320" y="480974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1BD"/>
                </a:solidFill>
              </a:rPr>
              <a:t>aaa-cloud-native  |  Platform Engineering  | 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2603</Words>
  <Application>Microsoft Office PowerPoint</Application>
  <PresentationFormat>On-screen Show (16:9)</PresentationFormat>
  <Paragraphs>476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AAA Cloud-Native Platform</dc:title>
  <dc:subject>PptxGenJS Presentation</dc:subject>
  <dc:creator>Platform Engineering</dc:creator>
  <cp:lastModifiedBy>Rony Idan</cp:lastModifiedBy>
  <cp:revision>2</cp:revision>
  <dcterms:created xsi:type="dcterms:W3CDTF">2026-04-12T13:29:55Z</dcterms:created>
  <dcterms:modified xsi:type="dcterms:W3CDTF">2026-04-26T17:27:10Z</dcterms:modified>
</cp:coreProperties>
</file>