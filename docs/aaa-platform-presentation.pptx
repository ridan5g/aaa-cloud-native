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4114800" cy="5692140"/>
          </a:xfrm>
          <a:prstGeom prst="rect">
            <a:avLst/>
          </a:prstGeom>
          <a:solidFill>
            <a:srgbClr val="172055">
              <a:alpha val="60000"/>
            </a:srgbClr>
          </a:solidFill>
          <a:ln w="12700">
            <a:solidFill>
              <a:srgbClr val="17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274320"/>
            <a:ext cx="3200400" cy="5692140"/>
          </a:xfrm>
          <a:prstGeom prst="rect">
            <a:avLst/>
          </a:prstGeom>
          <a:solidFill>
            <a:srgbClr val="0D1844">
              <a:alpha val="60000"/>
            </a:srgbClr>
          </a:solidFill>
          <a:ln w="12700">
            <a:solidFill>
              <a:srgbClr val="0D18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365760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3657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</a:rPr>
              <a:t>TELECOM  |  AAA  |  CLOUD-NATIVE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Cloud-Native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6517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Subscriber Provisioning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Real-Time RADIUS Authentication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&lt; 15ms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p99 Lookup SLA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9456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100K+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Bulk Profiles/Job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Auto-Provisioning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914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C++17 / Drogon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1074420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Python / FastAPI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1348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PostgreSQL 15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75120" y="2208276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615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Kubernetes / Helm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775204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0" y="31821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Prometheus / Grafana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75120" y="3342132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Speed vs. Scale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RADIUS must authenticate subscribers in &lt;15ms while serving millions of requests per day — but provisioning writes are slower and less frequent.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Unknown IMSIs at First Attach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Network equipment cannot predict when a new SIM activates. Operators need dynamic, zero-touch provisioning on first connection — no manual intervention.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8289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Multi-IMSI SIM Complexity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8289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A single physical SIM card can carry up to 10 distinct IMSIs. Provisioning one slot must automatically provision all sibling slots in a single atomic step.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IP Pool Race Conditions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Concurrent first-connection events can race to claim the same IP address. A safe, lock-free allocation mechanism is critical for correctness at scale.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Solution: Three-Service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468880" y="960120"/>
            <a:ext cx="420624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468880" y="960120"/>
            <a:ext cx="42062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014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aaa-radius-server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399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RADIUS Frontend  |  Receives Access-Requests from network equipment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709928"/>
            <a:ext cx="0" cy="4389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2148840"/>
            <a:ext cx="1143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2E75B6"/>
                </a:solidFill>
              </a:rPr>
              <a:t>Stage 1: GET /lookup (every request)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0" cy="43891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2148840"/>
            <a:ext cx="114300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5A623"/>
                </a:solidFill>
              </a:rPr>
              <a:t>Stage 2: POST /first-connection (on 404 only)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2194560"/>
            <a:ext cx="0" cy="267462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6576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READ PATH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aaa-lookup-service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C++17 / Drogon — Port 8081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Sub-15ms p99 hot-path (called on every Access-Request)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Reads from local read-replica only (no writes)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Single-query IMSI lookup, index-only seek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JWT RS256 verification with caching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Returns 404 to trigger first-connection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WRITE PATH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subscriber-profile-api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Python 3.11 / FastAPI — Port 8080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First-connection: allocates IP + creates profile on 404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Full subscriber lifecycle CRUD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Multi-IMSI atomic provisioning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Race-safe IP pool claiming (FOR UPDATE SKIP LOCKED)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Async bulk operations up to 100K profiles/job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aaa-radius-server orchestrates two independent backend services optimized for their workloads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00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15ms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p99 Lookup Latency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39112" y="868680"/>
            <a:ext cx="1600200" cy="123444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39112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39112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1-3ms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39112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p50 Typical Latency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8184" y="868680"/>
            <a:ext cx="1600200" cy="12344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58184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58184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100K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58184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Profiles per Bulk Job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77256" y="868680"/>
            <a:ext cx="1600200" cy="1234440"/>
          </a:xfrm>
          <a:prstGeom prst="rect">
            <a:avLst/>
          </a:prstGeom>
          <a:solidFill>
            <a:srgbClr val="114C75"/>
          </a:solidFill>
          <a:ln w="12700">
            <a:solidFill>
              <a:srgbClr val="114C7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77256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7256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253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77256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IPs per /24 Pool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96328" y="868680"/>
            <a:ext cx="1600200" cy="12344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96328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96328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96328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Max IMSIs per SIM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How we achieve &lt; 15ms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Index-only B-tree seek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imsi2device.imsi is a PK — single-page lookup, no full-table scan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Near 100% cache hit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8289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~80MB index fits entirely in PostgreSQL shared_buffers at steady state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Async C++ Drogon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Non-blocking I/O with coroutines; zero context-switching overhead per request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8289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 replica isolation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8289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Lookup never competes with write transactions on the primary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RADIUS Hot-Path Flow (Happy Path)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aaa-radius-server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7442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aaa-lookup-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service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(C++, port 8081)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Read Replica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(PostgreSQL)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5498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74420" y="192024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6684" y="17922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014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GET /lookup?imsi=278773000002002&amp;apn=internet.op.com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4700" y="242316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26964" y="22951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60420" y="21305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SELECT ... WHERE imsi = $1  (index seek)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14700" y="28803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259836" y="27523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60420" y="25877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Row: static_ip = 100.65.120.5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4420" y="33375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1019556" y="32095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200 OK  {"static_ip": "100.65.120.5"}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Possible Outcomes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280160"/>
            <a:ext cx="2286000" cy="5486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12801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1280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Access-Accept + Framed-IP-Address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1938528"/>
            <a:ext cx="22860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(suspended)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2596896"/>
            <a:ext cx="2286000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259689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25968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Triggers Stage 2 first-connection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solidFill>
            <a:srgbClr val="EEF3FB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Steady-state: every Access-Request handled entirely by aaa-lookup-service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Two-Stage First-Connection Allocation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aaa-lookup-service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/lookup?imsi={imsi}&amp;apn={apn}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Queries READ REPLICA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IMSI not found in imsi2device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404 {"error": "not_found"}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▼  aaa-radius-server falls through to Stage 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44368"/>
            <a:ext cx="40233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99008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990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82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subscriber-profile-api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 {imsi, apn, imei}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Idempotency check: IMSI already exists?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Match range config (f_imsi &lt;= $imsi &lt;= t_imsi)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Claim IP:  DELETE FROM ip_pool_available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FOR UPDATE SKIP LOCKED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INSERT profile + IMSI + IP  (atomic COMMIT)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Stage 2 Outcomes  (subscriber-profile-api)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61872"/>
            <a:ext cx="411480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261872"/>
            <a:ext cx="54864" cy="86868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130759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IP Allocated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73168" y="156362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subscriber-profile-api creates device_id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(gen_random_uuid). static_ip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Access-Accept.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221992"/>
            <a:ext cx="411480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2221992"/>
            <a:ext cx="54864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2267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Idempotent Return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252374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already existed in DB.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Same device_id &amp; 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Safe to retry — no duplicates.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182112"/>
            <a:ext cx="54864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3227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404 — No Range Config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34838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not in any active range config.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Access-Reject.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142232"/>
            <a:ext cx="411480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4142232"/>
            <a:ext cx="54864" cy="8686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3168" y="4187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503 — Pool Exhausted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73168" y="44439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No available IPs remaining.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Create a new pool.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Alert fires automatically.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Unknown IMSI → auto-provisioned in a single atomic transaction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Multi-IMSI SIM: Zero-Touch Provisioning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286000" cy="3200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1828800" cy="36576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Card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1: IMSI 278770...042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2: IMSI 278771...042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EA8E8"/>
                </a:solidFill>
              </a:rPr>
              <a:t>ICCID: 8944...042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051560"/>
            <a:ext cx="1097280" cy="3200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8950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1 First Attach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950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404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/first-connection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{imsi: "278770...042"}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69080" y="1051560"/>
            <a:ext cx="1097280" cy="320040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8056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5C9E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2394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Compute Offset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2394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278770...042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- 278770...000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1097280" cy="3200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71500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1500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5838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Derive ICCID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8944...000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8944...042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37960" y="1051560"/>
            <a:ext cx="1097280" cy="320040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94944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282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Atomic Transaction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9282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per slot (imsi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1 IP card (iccid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slots INSERTed, 1 COMMIT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1051560"/>
            <a:ext cx="1097280" cy="3200400"/>
          </a:xfrm>
          <a:prstGeom prst="rect">
            <a:avLst/>
          </a:prstGeom>
          <a:solidFill>
            <a:srgbClr val="28A870"/>
          </a:solidFill>
          <a:ln w="12700">
            <a:solidFill>
              <a:srgbClr val="28A87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8388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8388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870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2 Connects Later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2726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200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(pre-provisioned!)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2 never runs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Key: All siblings provisioned in ONE transaction (thundering herd protection). imsi mode → IP per slot. iccid mode → 1 shared IP per card.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4320" y="4434840"/>
            <a:ext cx="54864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All sibling slots pre-provisioned atomically — each from its own per-slot pool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Model: 9 PostgreSQL Tables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SUBSCRIBER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38988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device_profiles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device_id (UUID)  |  One row per SIM card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48256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imsi2device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28600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imsi (15 digits)  |  One row per IMSI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70662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imsi_apn_ips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94436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IMSI-level IP assignments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36499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device_apn_ips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602736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Card-level IP assignments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IP POOLS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728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pool_id (UUID)  |  Pool definition (CIDR, bounds)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3756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4728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ip_pool_available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(pool_id, ip)  |  Available IP work-queue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RANGE CONFIGS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imsi_range_configs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2764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 ranges for auto-prov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iccid_range_configs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Multi-IMSI SIM parent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67004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27648" y="270662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range_config_apn_pools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7648" y="294436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Per-APN pool overrides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328416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27648" y="3364992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bulk_jobs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27648" y="360273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job_id (UUID)  |  Async bulk job tracking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8595360" cy="86868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ip_resolution modes: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2880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2880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288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IMSI, all APNs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1188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1188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6118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 per APN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9496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9496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3949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card, all APNs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04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04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iccid_apn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780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 per APN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Three logical groups — subscriber data, IP pools, and range configurations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subscriber-profile-api: REST API Surface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Subscriber Profiles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/v1/profiles?iccid={}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/v1/profiles/{id}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/v1/profiles/{id}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IMSI Operations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/v1/profiles/{id}/imsis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/v1/profiles/{id}/imsis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.../imsis/{imsi}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.../imsis/{imsi}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IP Pools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/v1/pools/{id}/stats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/v1/pools/{id}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/v1/pools/{id}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Range Configs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/v1/range-configs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GET/POST/DELETE .../apn-pools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/v1/iccid-range-configs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.../imsi-slots (multi-IMSI)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First-Connection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9184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Idempotent allocation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9184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device_id + IP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9184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503 if pool exhausted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Bulk &amp; Jobs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12648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2179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(JSON)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2648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1792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(CSV)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2648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1792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/v1/jobs/{job_id}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12648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1792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queued / processing / done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Full lifecycle management with JWT authentication (OAuth 2.0 Bearer)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Bulk Provisioning: Async Job Processing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9202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POST /v1/profiles/bulk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JSON array or CSV file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(up to 100K profiles)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 Accepted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5059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Returns job_id immediately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No waiting — fully async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status_url provided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920240" cy="19202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0352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3D60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371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Thread Pool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BULK_WORKER_THREADS (default 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Processes in batches of 1,000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INSERT ON CONFLICT (upsert)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0" y="1005840"/>
            <a:ext cx="1920240" cy="19202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40664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5683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Poll Status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5683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GET /v1/jobs/{job_id}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queued → processing → completed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processed + failed + errors[]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127248"/>
            <a:ext cx="4114800" cy="169164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127248"/>
            <a:ext cx="54864" cy="1691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3200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" y="3520440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Failed rows do not abort the job — errors are accumulated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Each error contains: row number, field, message, bad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Job completes with processed=N, failed=M, errors=[...]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1691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A8E8"/>
                </a:solidFill>
              </a:rPr>
              <a:t>Example response (GET /v1/jobs/{id})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{"job_id": "abc123",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3694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"status": "completed",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3877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"processed": 4997,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40599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"failed": 3,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424281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"errors": [{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44256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"row": 42, "field": "imsi",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"message": "Must be 15 digits"}]}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Up to 100,000 profiles per job — JSON or CSV, never blocks the API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Observability &amp; Monitoring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Key Prometheus Metrics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2194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 Name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lookup_latency_ms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p50/p95/p99 per result 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lookup_result_total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/ not_found / suspended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first_connection_total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allocated / reused / pool_exhausted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pool_exhausted_total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pool_id — alert if rate &gt;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bulk_job_duration_seconds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bulk job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api_request_duration_ms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endpoints by method+path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17920" y="9601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Alerting Rules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128016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1316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p99 Latency High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936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15ms for 2+ min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0" y="205740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9360" y="20939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Pool Exhausted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rate &gt; 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283464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0" y="283464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28712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Not-Found Spike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5x baseline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17920" y="361188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0" y="361188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09360" y="3648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DB Primary Down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093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connection lost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Structured JSON Logging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4320" y="4023360"/>
            <a:ext cx="8595360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1480" y="411480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"ts":"2026-03-13T14:00:00Z", "imsi_hash":"278773..", "apn":"internet.op.com", "result":"resolved", "latency_ms":2.4, "ip_resolution":"imsi" }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Note: Raw IMSI is NEVER logged — SHA-256(imsi)[0:8] is used instead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Prometheus metrics, structured JSON logs, Grafana dashboards, auto-alerting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Kubernetes Deployment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3794760"/>
          </a:xfrm>
          <a:prstGeom prst="rect">
            <a:avLst/>
          </a:prstGeom>
          <a:solidFill>
            <a:srgbClr val="F8FA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5B6"/>
                </a:solidFill>
              </a:rPr>
              <a:t>aaa-platform  (Kubernetes Namespace)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aaa-lookup-service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(C++, 3-6 replicas)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1389888"/>
            <a:ext cx="1920240" cy="914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6032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subscriber-profile-api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(Python, 2-4 replicas)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89888"/>
            <a:ext cx="1920240" cy="91440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aaa-management-ui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(React, 1-2 replicas)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66560" y="1389888"/>
            <a:ext cx="1920240" cy="914400"/>
          </a:xfrm>
          <a:prstGeom prst="rect">
            <a:avLst/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Prometheus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+ Grafana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9090/3000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1732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52044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57200" y="2670048"/>
            <a:ext cx="5029200" cy="914400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PostgreSQL Primary (CNPG)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RW (pooler)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RO (pooler)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Read Replica(s)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solidFill>
            <a:srgbClr val="EEF3FB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nginx-ingress  |  lookup.aaa.localhost → :8081  |  provisioning.aaa.localhost → :8080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1389888"/>
            <a:ext cx="3017520" cy="1600200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5216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Helm Charts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17647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aaa-platform (umbrella)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52160" y="1993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aaa-database (CNPG)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52160" y="22219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aaa-lookup-service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52160" y="24505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subscriber-profile-api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6791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aaa-management-ui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090672"/>
            <a:ext cx="3017520" cy="1344168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0" y="3145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Storage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Dev: local-path (k3d) (5 Gi)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Prod: gp3-encrypted (EBS) (100 Gi)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521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Prometheus: local-path / gp3 (5-50 Gi)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Helm umbrella chart — all components in aaa-platform namespace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Developer Workflow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Bootstrap (first time):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350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bootstrap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35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cluster-up + hosts + build-all + push-all +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8379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18379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Show all pod statuses in aaa-platform namespace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408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Run 11-module regression suite as K8s Job (~15 min)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Port-Forward (local dev):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22783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port-forward-api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78608" y="3227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localhost:8080 (subscriber-profile-api)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port-forward-lookup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78608" y="3657600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localhost:8081 (aaa-lookup-service)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087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78608" y="4087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localhost:5432 (psql, DBeaver)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89704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51713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port-forward-grafana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78608" y="451713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localhost:3000 (admin/dev-grafana)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960120"/>
            <a:ext cx="3749040" cy="388620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960120"/>
            <a:ext cx="3749040" cy="32918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66360" y="960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Regression Test Suite (11 Modules)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30368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test_01_pools.py — IP pool CRUD &amp; exhaustion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0368" y="171907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test_02_range_configs.py — IMSI range CRUD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30368" y="210312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test_03/04/05 — Profiles A / B / C modes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248716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test_06_imsi_ops.py — IMSI add/remove/update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30368" y="287121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test_07_dynamic_alloc.py — Two-stage flow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30368" y="3255264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test_08_bulk.py — JSON + CSV bulk upsert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30368" y="363931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0368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test_09_migration.py — MariaDB → PostgreSQL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230368" y="402336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30368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test_10_errors.py — Validation &amp; conflicts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30368" y="440740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30368" y="4443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test_11_performance.py — Latency &amp; stress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30368" y="479145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Makefile-driven local development with k3d + hot-reload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Auto-Allocation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66560" y="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A8E8"/>
                </a:solidFill>
              </a:rPr>
              <a:t>POST /v1/first-connection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347472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" y="74980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#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12064" y="749808"/>
            <a:ext cx="141732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" y="74980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SIM type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2938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5681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3522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6265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APN catalog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1064" y="749808"/>
            <a:ext cx="658368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68496" y="74980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IPs / SIM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749808"/>
            <a:ext cx="137160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26864" y="7498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Config steps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71032" y="749808"/>
            <a:ext cx="16916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98464" y="74980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First connect provisions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64592" y="1078992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" y="10789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2064" y="1078992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107899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92938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5681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6265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941064" y="1078992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68496" y="107899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99432" y="1078992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26864" y="107899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71032" y="1078992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98464" y="107899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imsi_apn_ips (apn=NULL)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64592" y="1408176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2024" y="140817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" y="1408176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9496" y="140817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92938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681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imsi_apn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3522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6265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941064" y="1408176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68496" y="140817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99432" y="1408176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26864" y="140817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971032" y="1408176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98464" y="140817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imsi_apn_ips per APN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64592" y="1737360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2024" y="173736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S3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12064" y="1737360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9496" y="17373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92938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681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3522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6265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941064" y="1737360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68496" y="173736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99432" y="1737360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26864" y="173736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71032" y="1737360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98464" y="173736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device_apn_ips (apn=NULL)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64592" y="2066544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92024" y="2066544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S4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12064" y="2066544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" y="20665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92938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95681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iccid_apn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93522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96265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941064" y="2066544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968496" y="2066544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99432" y="2066544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626864" y="2066544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971032" y="2066544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98464" y="2066544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device_apn_ips per APN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" y="2395728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239572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M1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12064" y="2395728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39496" y="239572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92938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5681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93522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96265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941064" y="2395728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968496" y="239572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599432" y="2395728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26864" y="239572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(per-slot pools opt.)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971032" y="2395728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998464" y="239572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 IPs — 1 per slot, all in 1 COMMIT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64592" y="2724912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72491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M2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12064" y="2724912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39496" y="272491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192938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5681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imsi_apn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3522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6265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3941064" y="2724912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968496" y="272491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M×N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599432" y="2724912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26864" y="272491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 on each slot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971032" y="2724912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998464" y="272491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M×N IPs — per-slot per-APN, 1 COMMIT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164592" y="3054096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305409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M3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512064" y="3054096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9496" y="305409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192938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5681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93522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96265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941064" y="3054096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968496" y="305409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599432" y="3054096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26864" y="305409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971032" y="3054096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998464" y="305409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shared — all slots, 1 COMMIT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164592" y="3383280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38328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M4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512064" y="3383280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9496" y="33832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192938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5681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iccid_apn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293522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96265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3941064" y="3383280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968496" y="338328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4599432" y="3383280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626864" y="338328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5971032" y="3383280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98464" y="338328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shared card-level, 1 COMMIT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64592" y="3785616"/>
            <a:ext cx="8814816" cy="713232"/>
          </a:xfrm>
          <a:prstGeom prst="rect">
            <a:avLst/>
          </a:prstGeom>
          <a:solidFill>
            <a:srgbClr val="EEF3FB"/>
          </a:solidFill>
          <a:ln w="7620">
            <a:solidFill>
              <a:srgbClr val="2E75B6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256032" y="3803904"/>
            <a:ext cx="8631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= APN entries in range_config_apn_pools  ·  M = active IMSI slots  ·  All scenarios are idempotent — repeat calls return existing IP with single read, no allocation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Pool resolution: APN override (range_config_apn_pools) → slot pool (imsi_range_configs) → parent pool (iccid_range_configs)  ·  M2 example: 2 slots × 2 APNs = 4 IPs per SIM in one COMMIT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Bulk provisioning: all 8 scenarios supported via POST /v1/profiles/bulk — supply static_ip/pool_id per IP entry for pre-provisioned, or omit for auto-allocation via range config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Real-Time Performance Guaranteed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Separated read/write paths ensure RADIUS authentication always stays below 15ms p99 — even as the subscriber base grows.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960120"/>
            <a:ext cx="4114800" cy="54864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Zero-Touch First-Connection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3717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Unknown IMSIs are detected and auto-provisioned on first RADIUS attach. Multi-IMSI SIM cards get all slots provisioned atomically in a single transaction.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7EA8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7EA8E8"/>
          </a:solidFill>
          <a:ln w="12700">
            <a:solidFill>
              <a:srgbClr val="7EA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Cloud-Native from the Ground Up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Kubernetes-native with Helm charts, CloudNativePG, PgBouncer, Prometheus, and Grafana. Scales independently per-region, per-service.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3717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Enterprise-Scale Operations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717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Bulk provisioning of 100K profiles per job, async processing, per-row error accumulation, and full audit trail for compliance.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4773168"/>
            <a:ext cx="8595360" cy="0"/>
          </a:xfrm>
          <a:prstGeom prst="line">
            <a:avLst/>
          </a:prstGeom>
          <a:noFill/>
          <a:ln w="6350">
            <a:solidFill>
              <a:srgbClr val="3C4D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80974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aaa-cloud-native  |  Platform Engineering  |  March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AAA Cloud-Native Platform</dc:title>
  <dc:subject>PptxGenJS Presentation</dc:subject>
  <dc:creator>Platform Engineering</dc:creator>
  <cp:lastModifiedBy>Platform Engineering</cp:lastModifiedBy>
  <cp:revision>1</cp:revision>
  <dcterms:created xsi:type="dcterms:W3CDTF">2026-03-15T15:39:26Z</dcterms:created>
  <dcterms:modified xsi:type="dcterms:W3CDTF">2026-03-15T15:39:26Z</dcterms:modified>
</cp:coreProperties>
</file>