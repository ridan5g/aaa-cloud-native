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2" r:id="rId23"/>
    <p:sldId id="271" r:id="rId22"/>
    <p:sldId id="273" r:id="rId25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aaa-lookup-service orchestrates first-connection — radius-server routes all Access-Requests to lookup only, which calls subscriber-profile-api on DB miss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Forwards all Access-Requests to lookup-service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E75B6"/>
                </a:solidFill>
              </a:rPr>
              <a:t>Every Access-Request → GET /lookup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5A623"/>
                </a:solidFill>
              </a:rPr>
              <a:t>POST /first-connection (called by lookup pod internally, on DB miss)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On DB miss: calls POST /first-connection on subscriber-profile-api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FIRST-CONNECTION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Called by lookup-service on 404: allocates IP + creates profile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IPs per /24 Pool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imsi2sim.imsi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(no range config)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imsi2sim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aaa-lookup-service calls POST /first-connection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aaa-lookup-service: 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First-Connection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sim_id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aaa-lookup-service returns 200 to aaa-radius-server. Access-Accept issued.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sim_id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DB miss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 calls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first-conn never called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sim_id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imsi2sim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sim_id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"message": "Must be 15 digits"}]}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First-connection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sim_apn_ips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sim_apn_ips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Pod Architecture — Deployment Topology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560000"/>
            <a:ext cx="8412480" cy="2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E75B6"/>
                </a:solidFill>
              </a:rPr>
              <a:t>Request path: SMF → Radius-to-Rest → Lookup Service ↔ 1st Connection &amp; Provisioning ↔ PostgreSQL (HA cluster)</a:t>
            </a:r>
          </a:p>
        </p:txBody>
      </p:sp>
      <p:sp>
        <p:nvSpPr>
          <p:cNvPr id="5" name="DB1"/>
          <p:cNvSpPr/>
          <p:nvPr/>
        </p:nvSpPr>
        <p:spPr>
          <a:xfrm>
            <a:off x="550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6" name="DB2"/>
          <p:cNvSpPr/>
          <p:nvPr/>
        </p:nvSpPr>
        <p:spPr>
          <a:xfrm>
            <a:off x="3622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7" name="DB3"/>
          <p:cNvSpPr/>
          <p:nvPr/>
        </p:nvSpPr>
        <p:spPr>
          <a:xfrm>
            <a:off x="6694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8" name="DBLine1"/>
          <p:cNvSpPr/>
          <p:nvPr/>
        </p:nvSpPr>
        <p:spPr>
          <a:xfrm>
            <a:off x="2450000" y="1060000"/>
            <a:ext cx="1172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9" name="DBLine2"/>
          <p:cNvSpPr/>
          <p:nvPr/>
        </p:nvSpPr>
        <p:spPr>
          <a:xfrm>
            <a:off x="5522000" y="1060000"/>
            <a:ext cx="1172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10" name="VArr_DB1"/>
          <p:cNvSpPr/>
          <p:nvPr/>
        </p:nvSpPr>
        <p:spPr>
          <a:xfrm>
            <a:off x="1500000" y="1250000"/>
            <a:ext cx="0" cy="2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11" name="VArr_DB2"/>
          <p:cNvSpPr/>
          <p:nvPr/>
        </p:nvSpPr>
        <p:spPr>
          <a:xfrm>
            <a:off x="4572000" y="1250000"/>
            <a:ext cx="0" cy="2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12" name="VArr_DB3"/>
          <p:cNvSpPr/>
          <p:nvPr/>
        </p:nvSpPr>
        <p:spPr>
          <a:xfrm>
            <a:off x="7644000" y="1250000"/>
            <a:ext cx="0" cy="2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13" name="LookupShadow"/>
          <p:cNvSpPr/>
          <p:nvPr/>
        </p:nvSpPr>
        <p:spPr>
          <a:xfrm>
            <a:off x="210000" y="1580000"/>
            <a:ext cx="3200000" cy="5100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4" name="LookupMain"/>
          <p:cNvSpPr/>
          <p:nvPr/>
        </p:nvSpPr>
        <p:spPr>
          <a:xfrm>
            <a:off x="150000" y="1530000"/>
            <a:ext cx="3200000" cy="510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Lookup Service</a:t>
            </a:r>
          </a:p>
        </p:txBody>
      </p:sp>
      <p:sp>
        <p:nvSpPr>
          <p:cNvPr id="15" name="ArrowLookup1stConn"/>
          <p:cNvSpPr/>
          <p:nvPr/>
        </p:nvSpPr>
        <p:spPr>
          <a:xfrm>
            <a:off x="3350000" y="1785000"/>
            <a:ext cx="150000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  <a:headEnd type="arrow" w="med" len="med"/>
            <a:tailEnd type="arrow" w="med" len="med"/>
          </a:ln>
        </p:spPr>
      </p:sp>
      <p:sp>
        <p:nvSpPr>
          <p:cNvPr id="16" name="1stConnMain"/>
          <p:cNvSpPr/>
          <p:nvPr/>
        </p:nvSpPr>
        <p:spPr>
          <a:xfrm>
            <a:off x="4850000" y="1530000"/>
            <a:ext cx="3100000" cy="510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1st Connection &amp; Provisioning</a:t>
            </a:r>
          </a:p>
        </p:txBody>
      </p:sp>
      <p:sp>
        <p:nvSpPr>
          <p:cNvPr id="17" name="ArrowUI"/>
          <p:cNvSpPr/>
          <p:nvPr/>
        </p:nvSpPr>
        <p:spPr>
          <a:xfrm>
            <a:off x="7950000" y="1785000"/>
            <a:ext cx="200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tailEnd type="arrow" w="sm" len="sm"/>
          </a:ln>
        </p:spPr>
      </p:sp>
      <p:sp>
        <p:nvSpPr>
          <p:cNvPr id="18" name="UIMain"/>
          <p:cNvSpPr/>
          <p:nvPr/>
        </p:nvSpPr>
        <p:spPr>
          <a:xfrm>
            <a:off x="8150000" y="1640000"/>
            <a:ext cx="850000" cy="39000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19" name="VArr_R2R1"/>
          <p:cNvSpPr/>
          <p:nvPr/>
        </p:nvSpPr>
        <p:spPr>
          <a:xfrm>
            <a:off x="975000" y="2040000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20" name="VArr_R2R2"/>
          <p:cNvSpPr/>
          <p:nvPr/>
        </p:nvSpPr>
        <p:spPr>
          <a:xfrm>
            <a:off x="2750000" y="2040000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21" name="VArr_R2R3"/>
          <p:cNvSpPr/>
          <p:nvPr/>
        </p:nvSpPr>
        <p:spPr>
          <a:xfrm>
            <a:off x="4625000" y="2040000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22" name="VArr_R2R4"/>
          <p:cNvSpPr/>
          <p:nvPr/>
        </p:nvSpPr>
        <p:spPr>
          <a:xfrm>
            <a:off x="2800000" y="2040000"/>
            <a:ext cx="3575000" cy="30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23" name="R2R1Shadow"/>
          <p:cNvSpPr/>
          <p:nvPr/>
        </p:nvSpPr>
        <p:spPr>
          <a:xfrm>
            <a:off x="210000" y="2390000"/>
            <a:ext cx="1650000" cy="4300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4" name="R2R1Main"/>
          <p:cNvSpPr/>
          <p:nvPr/>
        </p:nvSpPr>
        <p:spPr>
          <a:xfrm>
            <a:off x="150000" y="2340000"/>
            <a:ext cx="1650000" cy="430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5" name="R2R2Shadow"/>
          <p:cNvSpPr/>
          <p:nvPr/>
        </p:nvSpPr>
        <p:spPr>
          <a:xfrm>
            <a:off x="2060000" y="2390000"/>
            <a:ext cx="1650000" cy="4300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6" name="R2R2Main"/>
          <p:cNvSpPr/>
          <p:nvPr/>
        </p:nvSpPr>
        <p:spPr>
          <a:xfrm>
            <a:off x="2000000" y="2340000"/>
            <a:ext cx="1650000" cy="430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7" name="R2R3Shadow"/>
          <p:cNvSpPr/>
          <p:nvPr/>
        </p:nvSpPr>
        <p:spPr>
          <a:xfrm>
            <a:off x="3860000" y="2390000"/>
            <a:ext cx="1650000" cy="4300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8" name="R2R3Main"/>
          <p:cNvSpPr/>
          <p:nvPr/>
        </p:nvSpPr>
        <p:spPr>
          <a:xfrm>
            <a:off x="3800000" y="2340000"/>
            <a:ext cx="1650000" cy="430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9" name="R2R4Shadow"/>
          <p:cNvSpPr/>
          <p:nvPr/>
        </p:nvSpPr>
        <p:spPr>
          <a:xfrm>
            <a:off x="5610000" y="2390000"/>
            <a:ext cx="1650000" cy="4300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30" name="R2R4Main"/>
          <p:cNvSpPr/>
          <p:nvPr/>
        </p:nvSpPr>
        <p:spPr>
          <a:xfrm>
            <a:off x="5550000" y="2340000"/>
            <a:ext cx="1650000" cy="430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31" name="VArr_SMF1"/>
          <p:cNvSpPr/>
          <p:nvPr/>
        </p:nvSpPr>
        <p:spPr>
          <a:xfrm>
            <a:off x="975000" y="2770000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32" name="VArr_SMF2"/>
          <p:cNvSpPr/>
          <p:nvPr/>
        </p:nvSpPr>
        <p:spPr>
          <a:xfrm>
            <a:off x="2825000" y="2770000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33" name="VArr_SMF3"/>
          <p:cNvSpPr/>
          <p:nvPr/>
        </p:nvSpPr>
        <p:spPr>
          <a:xfrm>
            <a:off x="4625000" y="2770000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34" name="VArr_SMF4"/>
          <p:cNvSpPr/>
          <p:nvPr/>
        </p:nvSpPr>
        <p:spPr>
          <a:xfrm>
            <a:off x="6375000" y="2770000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</p:sp>
      <p:sp>
        <p:nvSpPr>
          <p:cNvPr id="35" name="SMF01"/>
          <p:cNvSpPr/>
          <p:nvPr/>
        </p:nvSpPr>
        <p:spPr>
          <a:xfrm>
            <a:off x="22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6" name="SMF02"/>
          <p:cNvSpPr/>
          <p:nvPr/>
        </p:nvSpPr>
        <p:spPr>
          <a:xfrm>
            <a:off x="61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7" name="SMF03"/>
          <p:cNvSpPr/>
          <p:nvPr/>
        </p:nvSpPr>
        <p:spPr>
          <a:xfrm>
            <a:off x="100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8" name="SMF04"/>
          <p:cNvSpPr/>
          <p:nvPr/>
        </p:nvSpPr>
        <p:spPr>
          <a:xfrm>
            <a:off x="139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9" name="SMF05"/>
          <p:cNvSpPr/>
          <p:nvPr/>
        </p:nvSpPr>
        <p:spPr>
          <a:xfrm>
            <a:off x="207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0" name="SMF06"/>
          <p:cNvSpPr/>
          <p:nvPr/>
        </p:nvSpPr>
        <p:spPr>
          <a:xfrm>
            <a:off x="246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1" name="SMF07"/>
          <p:cNvSpPr/>
          <p:nvPr/>
        </p:nvSpPr>
        <p:spPr>
          <a:xfrm>
            <a:off x="285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2" name="SMF08"/>
          <p:cNvSpPr/>
          <p:nvPr/>
        </p:nvSpPr>
        <p:spPr>
          <a:xfrm>
            <a:off x="324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3" name="SMF09"/>
          <p:cNvSpPr/>
          <p:nvPr/>
        </p:nvSpPr>
        <p:spPr>
          <a:xfrm>
            <a:off x="387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4" name="SMF10"/>
          <p:cNvSpPr/>
          <p:nvPr/>
        </p:nvSpPr>
        <p:spPr>
          <a:xfrm>
            <a:off x="426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5" name="SMF11"/>
          <p:cNvSpPr/>
          <p:nvPr/>
        </p:nvSpPr>
        <p:spPr>
          <a:xfrm>
            <a:off x="465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6" name="SMF12"/>
          <p:cNvSpPr/>
          <p:nvPr/>
        </p:nvSpPr>
        <p:spPr>
          <a:xfrm>
            <a:off x="504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7" name="SMF13"/>
          <p:cNvSpPr/>
          <p:nvPr/>
        </p:nvSpPr>
        <p:spPr>
          <a:xfrm>
            <a:off x="570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8" name="SMF14"/>
          <p:cNvSpPr/>
          <p:nvPr/>
        </p:nvSpPr>
        <p:spPr>
          <a:xfrm>
            <a:off x="609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9" name="SMF15"/>
          <p:cNvSpPr/>
          <p:nvPr/>
        </p:nvSpPr>
        <p:spPr>
          <a:xfrm>
            <a:off x="6480000" y="3070000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50" name="QAAutomation"/>
          <p:cNvSpPr/>
          <p:nvPr/>
        </p:nvSpPr>
        <p:spPr>
          <a:xfrm>
            <a:off x="7250000" y="3070000"/>
            <a:ext cx="1700000" cy="380000"/>
          </a:xfrm>
          <a:prstGeom prst="rect">
            <a:avLst/>
          </a:prstGeom>
          <a:solidFill>
            <a:srgbClr val="00B050"/>
          </a:solidFill>
          <a:ln w="19050">
            <a:solidFill>
              <a:srgbClr val="FFFFFF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QA Automation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Platform Capabilities</a:t>
            </a:r>
          </a:p>
        </p:txBody>
      </p:sp>
      <p:sp>
        <p:nvSpPr>
          <p:cNvPr id="4" name="Divider"/>
          <p:cNvSpPr/>
          <p:nvPr/>
        </p:nvSpPr>
        <p:spPr>
          <a:xfrm>
            <a:off x="4520000" y="620000"/>
            <a:ext cx="0" cy="438000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Item1"/>
          <p:cNvSpPr/>
          <p:nvPr/>
        </p:nvSpPr>
        <p:spPr>
          <a:xfrm>
            <a:off x="160000" y="62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01  </a:t>
            </a:r>
            <a:r>
              <a:rPr lang="en-US" sz="1100" b="1" dirty="0">
                <a:solidFill>
                  <a:srgbClr val="1E2761"/>
                </a:solidFill>
              </a:rPr>
              <a:t>One Platform for All Donors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Single system manages all subscriber profiles across all donors and networks</a:t>
            </a:r>
          </a:p>
        </p:txBody>
      </p:sp>
      <p:sp>
        <p:nvSpPr>
          <p:cNvPr id="6" name="Item2"/>
          <p:cNvSpPr/>
          <p:nvPr/>
        </p:nvSpPr>
        <p:spPr>
          <a:xfrm>
            <a:off x="160000" y="121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02  </a:t>
            </a:r>
            <a:r>
              <a:rPr lang="en-US" sz="1100" b="1" dirty="0">
                <a:solidFill>
                  <a:srgbClr val="1E2761"/>
                </a:solidFill>
              </a:rPr>
              <a:t>Horizontal Scale-Out Capabilities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Add Lookup / API replicas with zero config changes; scales to millions of daily requests</a:t>
            </a:r>
          </a:p>
        </p:txBody>
      </p:sp>
      <p:sp>
        <p:nvSpPr>
          <p:cNvPr id="7" name="Item3"/>
          <p:cNvSpPr/>
          <p:nvPr/>
        </p:nvSpPr>
        <p:spPr>
          <a:xfrm>
            <a:off x="160000" y="180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03  </a:t>
            </a:r>
            <a:r>
              <a:rPr lang="en-US" sz="1100" b="1" dirty="0">
                <a:solidFill>
                  <a:srgbClr val="1E2761"/>
                </a:solidFill>
              </a:rPr>
              <a:t>One UI for All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Unified management portal for subscriber, pool, range-config, and bulk-job management</a:t>
            </a:r>
          </a:p>
        </p:txBody>
      </p:sp>
      <p:sp>
        <p:nvSpPr>
          <p:cNvPr id="8" name="Item4"/>
          <p:cNvSpPr/>
          <p:nvPr/>
        </p:nvSpPr>
        <p:spPr>
          <a:xfrm>
            <a:off x="160000" y="239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04  </a:t>
            </a:r>
            <a:r>
              <a:rPr lang="en-US" sz="1100" b="1" dirty="0">
                <a:solidFill>
                  <a:srgbClr val="1E2761"/>
                </a:solidFill>
              </a:rPr>
              <a:t>Deployable on OCI or On-Premises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Helm-based; runs on OCI Kubernetes, on-premises clusters, or local k3d/k8s</a:t>
            </a:r>
          </a:p>
        </p:txBody>
      </p:sp>
      <p:sp>
        <p:nvSpPr>
          <p:cNvPr id="9" name="Item5"/>
          <p:cNvSpPr/>
          <p:nvPr/>
        </p:nvSpPr>
        <p:spPr>
          <a:xfrm>
            <a:off x="160000" y="2980000"/>
            <a:ext cx="4280000" cy="86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05  </a:t>
            </a:r>
            <a:r>
              <a:rPr lang="en-US" sz="1100" b="1" dirty="0">
                <a:solidFill>
                  <a:srgbClr val="1E2761"/>
                </a:solidFill>
              </a:rPr>
              <a:t>200+ Regression Tests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00" dirty="0">
                <a:solidFill>
                  <a:srgbClr val="3C4D6B"/>
                </a:solidFill>
              </a:rPr>
              <a:t>a)  Runs on K8s CI; deployable as dedicated pod on pre-production environment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00" dirty="0">
                <a:solidFill>
                  <a:srgbClr val="3C4D6B"/>
                </a:solidFill>
              </a:rPr>
              <a:t>b)  CPU &amp; RAM requirements documented per container image</a:t>
            </a:r>
          </a:p>
        </p:txBody>
      </p:sp>
      <p:sp>
        <p:nvSpPr>
          <p:cNvPr id="10" name="Item6"/>
          <p:cNvSpPr/>
          <p:nvPr/>
        </p:nvSpPr>
        <p:spPr>
          <a:xfrm>
            <a:off x="160000" y="385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06  </a:t>
            </a:r>
            <a:r>
              <a:rPr lang="en-US" sz="1100" b="1" dirty="0">
                <a:solidFill>
                  <a:srgbClr val="1E2761"/>
                </a:solidFill>
              </a:rPr>
              <a:t>Dedicated Load-Test Pod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Isolated performance-testing workload with configurable concurrency and traffic targets</a:t>
            </a:r>
          </a:p>
        </p:txBody>
      </p:sp>
      <p:sp>
        <p:nvSpPr>
          <p:cNvPr id="11" name="Item7"/>
          <p:cNvSpPr/>
          <p:nvPr/>
        </p:nvSpPr>
        <p:spPr>
          <a:xfrm>
            <a:off x="4700000" y="62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07  </a:t>
            </a:r>
            <a:r>
              <a:rPr lang="en-US" sz="1100" b="1" dirty="0">
                <a:solidFill>
                  <a:srgbClr val="1E2761"/>
                </a:solidFill>
              </a:rPr>
              <a:t>IP Pool Management by Routing Domain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Per-APN and per-domain pools with race-safe SKIP LOCKED allocation</a:t>
            </a:r>
          </a:p>
        </p:txBody>
      </p:sp>
      <p:sp>
        <p:nvSpPr>
          <p:cNvPr id="12" name="Item8"/>
          <p:cNvSpPr/>
          <p:nvPr/>
        </p:nvSpPr>
        <p:spPr>
          <a:xfrm>
            <a:off x="4700000" y="131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08  </a:t>
            </a:r>
            <a:r>
              <a:rPr lang="en-US" sz="1100" b="1" dirty="0">
                <a:solidFill>
                  <a:srgbClr val="1E2761"/>
                </a:solidFill>
              </a:rPr>
              <a:t>Native Prometheus Integration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Metrics scraped natively from all services; no adapters or sidecars required</a:t>
            </a:r>
          </a:p>
        </p:txBody>
      </p:sp>
      <p:sp>
        <p:nvSpPr>
          <p:cNvPr id="13" name="Item9"/>
          <p:cNvSpPr/>
          <p:nvPr/>
        </p:nvSpPr>
        <p:spPr>
          <a:xfrm>
            <a:off x="4700000" y="200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09  </a:t>
            </a:r>
            <a:r>
              <a:rPr lang="en-US" sz="1100" b="1" dirty="0">
                <a:solidFill>
                  <a:srgbClr val="1E2761"/>
                </a:solidFill>
              </a:rPr>
              <a:t>Out-of-the-Box Prometheus Alerting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Pre-built alert rules for p99 SLA breach, pool exhaustion, and DB health</a:t>
            </a:r>
          </a:p>
        </p:txBody>
      </p:sp>
      <p:sp>
        <p:nvSpPr>
          <p:cNvPr id="14" name="Item10"/>
          <p:cNvSpPr/>
          <p:nvPr/>
        </p:nvSpPr>
        <p:spPr>
          <a:xfrm>
            <a:off x="4700000" y="269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10  </a:t>
            </a:r>
            <a:r>
              <a:rPr lang="en-US" sz="1100" b="1" dirty="0">
                <a:solidFill>
                  <a:srgbClr val="1E2761"/>
                </a:solidFill>
              </a:rPr>
              <a:t>Out-of-the-Box Grafana Dashboards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Pre-built charts for lookup latency, request throughput, and pool utilization</a:t>
            </a:r>
          </a:p>
        </p:txBody>
      </p:sp>
      <p:sp>
        <p:nvSpPr>
          <p:cNvPr id="15" name="Item11"/>
          <p:cNvSpPr/>
          <p:nvPr/>
        </p:nvSpPr>
        <p:spPr>
          <a:xfrm>
            <a:off x="4700000" y="338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  <a:spcAft>
                <a:spcPts val="0"/>
              </a:spcAft>
            </a:pPr>
            <a:r>
              <a:rPr lang="en-US" sz="1100" b="1" dirty="0">
                <a:solidFill>
                  <a:srgbClr val="F5A623"/>
                </a:solidFill>
              </a:rPr>
              <a:t xml:space="preserve">11  </a:t>
            </a:r>
            <a:r>
              <a:rPr lang="en-US" sz="1100" b="1" dirty="0">
                <a:solidFill>
                  <a:srgbClr val="1E2761"/>
                </a:solidFill>
              </a:rPr>
              <a:t>Auto Static-IP for All SIM Types</a:t>
            </a:r>
          </a:p>
          <a:p>
            <a:pPr indent="0" marL="457200">
              <a:buNone/>
              <a:spcAft>
                <a:spcPts val="0"/>
              </a:spcAft>
            </a:pPr>
            <a:r>
              <a:rPr lang="en-US" sz="950" dirty="0">
                <a:solidFill>
                  <a:srgbClr val="3C4D6B"/>
                </a:solidFill>
              </a:rPr>
              <a:t>Supports imsi / imsi_apn / iccid / iccid_apn modes with full auto-configuration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ainer Resource Requirements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50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="ctr" lIns="180000" rIns="180000" tIns="45720" bIns="45720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libri"/>
              </a:rPr>
              <a:t>Container Resource Requirements — CPU &amp; RAM</a:t>
            </a:r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350000" y="530000"/>
            <a:ext cx="8444000" cy="1400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lang="en-US" sz="900" i="1" dirty="0">
                <a:solidFill>
                  <a:srgbClr val="2E75B6"/>
                </a:solidFill>
                <a:latin typeface="Calibri"/>
              </a:rPr>
              <a:t>Kubernetes requests ensure scheduling; limits cap burst usage per pod</a:t>
            </a:r>
          </a:p>
        </p:txBody>
      </p:sp>
      <p:sp>
        <p:nvSpPr>
          <p:cNvPr id="5" name="hdr1"/>
          <p:cNvSpPr>
            <a:spLocks noGrp="1"/>
          </p:cNvSpPr>
          <p:nvPr/>
        </p:nvSpPr>
        <p:spPr>
          <a:xfrm>
            <a:off x="150000" y="700000"/>
            <a:ext cx="2600000" cy="38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Container</a:t>
            </a:r>
          </a:p>
        </p:txBody>
      </p:sp>
      <p:sp>
        <p:nvSpPr>
          <p:cNvPr id="6" name="hdr2"/>
          <p:cNvSpPr>
            <a:spLocks noGrp="1"/>
          </p:cNvSpPr>
          <p:nvPr/>
        </p:nvSpPr>
        <p:spPr>
          <a:xfrm>
            <a:off x="2750000" y="700000"/>
            <a:ext cx="1561000" cy="38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CPU Request</a:t>
            </a:r>
          </a:p>
        </p:txBody>
      </p:sp>
      <p:sp>
        <p:nvSpPr>
          <p:cNvPr id="7" name="hdr3"/>
          <p:cNvSpPr>
            <a:spLocks noGrp="1"/>
          </p:cNvSpPr>
          <p:nvPr/>
        </p:nvSpPr>
        <p:spPr>
          <a:xfrm>
            <a:off x="4311000" y="700000"/>
            <a:ext cx="1561000" cy="38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CPU Limit</a:t>
            </a:r>
          </a:p>
        </p:txBody>
      </p:sp>
      <p:sp>
        <p:nvSpPr>
          <p:cNvPr id="8" name="hdr4"/>
          <p:cNvSpPr>
            <a:spLocks noGrp="1"/>
          </p:cNvSpPr>
          <p:nvPr/>
        </p:nvSpPr>
        <p:spPr>
          <a:xfrm>
            <a:off x="5872000" y="700000"/>
            <a:ext cx="1561000" cy="38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RAM Request</a:t>
            </a:r>
          </a:p>
        </p:txBody>
      </p:sp>
      <p:sp>
        <p:nvSpPr>
          <p:cNvPr id="9" name="hdr5"/>
          <p:cNvSpPr>
            <a:spLocks noGrp="1"/>
          </p:cNvSpPr>
          <p:nvPr/>
        </p:nvSpPr>
        <p:spPr>
          <a:xfrm>
            <a:off x="7433000" y="700000"/>
            <a:ext cx="1561000" cy="38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RAM Limit</a:t>
            </a:r>
          </a:p>
        </p:txBody>
      </p:sp>
      <p:sp>
        <p:nvSpPr>
          <p:cNvPr id="10" name="r1c1"/>
          <p:cNvSpPr>
            <a:spLocks noGrp="1"/>
          </p:cNvSpPr>
          <p:nvPr/>
        </p:nvSpPr>
        <p:spPr>
          <a:xfrm>
            <a:off x="150000" y="1080000"/>
            <a:ext cx="2600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aaa-lookup-service</a:t>
            </a:r>
          </a:p>
        </p:txBody>
      </p:sp>
      <p:sp>
        <p:nvSpPr>
          <p:cNvPr id="11" name="r1c2"/>
          <p:cNvSpPr>
            <a:spLocks noGrp="1"/>
          </p:cNvSpPr>
          <p:nvPr/>
        </p:nvSpPr>
        <p:spPr>
          <a:xfrm>
            <a:off x="2750000" y="108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12" name="r1c3"/>
          <p:cNvSpPr>
            <a:spLocks noGrp="1"/>
          </p:cNvSpPr>
          <p:nvPr/>
        </p:nvSpPr>
        <p:spPr>
          <a:xfrm>
            <a:off x="4311000" y="108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2 000m</a:t>
            </a:r>
          </a:p>
        </p:txBody>
      </p:sp>
      <p:sp>
        <p:nvSpPr>
          <p:cNvPr id="13" name="r1c4"/>
          <p:cNvSpPr>
            <a:spLocks noGrp="1"/>
          </p:cNvSpPr>
          <p:nvPr/>
        </p:nvSpPr>
        <p:spPr>
          <a:xfrm>
            <a:off x="5872000" y="108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14" name="r1c5"/>
          <p:cNvSpPr>
            <a:spLocks noGrp="1"/>
          </p:cNvSpPr>
          <p:nvPr/>
        </p:nvSpPr>
        <p:spPr>
          <a:xfrm>
            <a:off x="7433000" y="108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15" name="r2c1"/>
          <p:cNvSpPr>
            <a:spLocks noGrp="1"/>
          </p:cNvSpPr>
          <p:nvPr/>
        </p:nvSpPr>
        <p:spPr>
          <a:xfrm>
            <a:off x="150000" y="1440000"/>
            <a:ext cx="2600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subscriber-profile-api</a:t>
            </a:r>
          </a:p>
        </p:txBody>
      </p:sp>
      <p:sp>
        <p:nvSpPr>
          <p:cNvPr id="16" name="r2c2"/>
          <p:cNvSpPr>
            <a:spLocks noGrp="1"/>
          </p:cNvSpPr>
          <p:nvPr/>
        </p:nvSpPr>
        <p:spPr>
          <a:xfrm>
            <a:off x="2750000" y="144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17" name="r2c3"/>
          <p:cNvSpPr>
            <a:spLocks noGrp="1"/>
          </p:cNvSpPr>
          <p:nvPr/>
        </p:nvSpPr>
        <p:spPr>
          <a:xfrm>
            <a:off x="4311000" y="144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1 000m</a:t>
            </a:r>
          </a:p>
        </p:txBody>
      </p:sp>
      <p:sp>
        <p:nvSpPr>
          <p:cNvPr id="18" name="r2c4"/>
          <p:cNvSpPr>
            <a:spLocks noGrp="1"/>
          </p:cNvSpPr>
          <p:nvPr/>
        </p:nvSpPr>
        <p:spPr>
          <a:xfrm>
            <a:off x="5872000" y="144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19" name="r2c5"/>
          <p:cNvSpPr>
            <a:spLocks noGrp="1"/>
          </p:cNvSpPr>
          <p:nvPr/>
        </p:nvSpPr>
        <p:spPr>
          <a:xfrm>
            <a:off x="7433000" y="144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20" name="r3c1"/>
          <p:cNvSpPr>
            <a:spLocks noGrp="1"/>
          </p:cNvSpPr>
          <p:nvPr/>
        </p:nvSpPr>
        <p:spPr>
          <a:xfrm>
            <a:off x="150000" y="1800000"/>
            <a:ext cx="2600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Radius-to-Rest pod</a:t>
            </a:r>
          </a:p>
        </p:txBody>
      </p:sp>
      <p:sp>
        <p:nvSpPr>
          <p:cNvPr id="21" name="r3c2"/>
          <p:cNvSpPr>
            <a:spLocks noGrp="1"/>
          </p:cNvSpPr>
          <p:nvPr/>
        </p:nvSpPr>
        <p:spPr>
          <a:xfrm>
            <a:off x="2750000" y="180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22" name="r3c3"/>
          <p:cNvSpPr>
            <a:spLocks noGrp="1"/>
          </p:cNvSpPr>
          <p:nvPr/>
        </p:nvSpPr>
        <p:spPr>
          <a:xfrm>
            <a:off x="4311000" y="180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1 000m</a:t>
            </a:r>
          </a:p>
        </p:txBody>
      </p:sp>
      <p:sp>
        <p:nvSpPr>
          <p:cNvPr id="23" name="r3c4"/>
          <p:cNvSpPr>
            <a:spLocks noGrp="1"/>
          </p:cNvSpPr>
          <p:nvPr/>
        </p:nvSpPr>
        <p:spPr>
          <a:xfrm>
            <a:off x="5872000" y="180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24" name="r3c5"/>
          <p:cNvSpPr>
            <a:spLocks noGrp="1"/>
          </p:cNvSpPr>
          <p:nvPr/>
        </p:nvSpPr>
        <p:spPr>
          <a:xfrm>
            <a:off x="7433000" y="180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25" name="r4c1"/>
          <p:cNvSpPr>
            <a:spLocks noGrp="1"/>
          </p:cNvSpPr>
          <p:nvPr/>
        </p:nvSpPr>
        <p:spPr>
          <a:xfrm>
            <a:off x="150000" y="2160000"/>
            <a:ext cx="2600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PostgreSQL (primary)</a:t>
            </a:r>
          </a:p>
        </p:txBody>
      </p:sp>
      <p:sp>
        <p:nvSpPr>
          <p:cNvPr id="26" name="r4c2"/>
          <p:cNvSpPr>
            <a:spLocks noGrp="1"/>
          </p:cNvSpPr>
          <p:nvPr/>
        </p:nvSpPr>
        <p:spPr>
          <a:xfrm>
            <a:off x="2750000" y="216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27" name="r4c3"/>
          <p:cNvSpPr>
            <a:spLocks noGrp="1"/>
          </p:cNvSpPr>
          <p:nvPr/>
        </p:nvSpPr>
        <p:spPr>
          <a:xfrm>
            <a:off x="4311000" y="216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2 000m</a:t>
            </a:r>
          </a:p>
        </p:txBody>
      </p:sp>
      <p:sp>
        <p:nvSpPr>
          <p:cNvPr id="28" name="r4c4"/>
          <p:cNvSpPr>
            <a:spLocks noGrp="1"/>
          </p:cNvSpPr>
          <p:nvPr/>
        </p:nvSpPr>
        <p:spPr>
          <a:xfrm>
            <a:off x="5872000" y="216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29" name="r4c5"/>
          <p:cNvSpPr>
            <a:spLocks noGrp="1"/>
          </p:cNvSpPr>
          <p:nvPr/>
        </p:nvSpPr>
        <p:spPr>
          <a:xfrm>
            <a:off x="7433000" y="216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2 048 Mi</a:t>
            </a:r>
          </a:p>
        </p:txBody>
      </p:sp>
      <p:sp>
        <p:nvSpPr>
          <p:cNvPr id="30" name="r5c1"/>
          <p:cNvSpPr>
            <a:spLocks noGrp="1"/>
          </p:cNvSpPr>
          <p:nvPr/>
        </p:nvSpPr>
        <p:spPr>
          <a:xfrm>
            <a:off x="150000" y="2520000"/>
            <a:ext cx="2600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PostgreSQL (replica)</a:t>
            </a:r>
          </a:p>
        </p:txBody>
      </p:sp>
      <p:sp>
        <p:nvSpPr>
          <p:cNvPr id="31" name="r5c2"/>
          <p:cNvSpPr>
            <a:spLocks noGrp="1"/>
          </p:cNvSpPr>
          <p:nvPr/>
        </p:nvSpPr>
        <p:spPr>
          <a:xfrm>
            <a:off x="2750000" y="252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32" name="r5c3"/>
          <p:cNvSpPr>
            <a:spLocks noGrp="1"/>
          </p:cNvSpPr>
          <p:nvPr/>
        </p:nvSpPr>
        <p:spPr>
          <a:xfrm>
            <a:off x="4311000" y="252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2 000m</a:t>
            </a:r>
          </a:p>
        </p:txBody>
      </p:sp>
      <p:sp>
        <p:nvSpPr>
          <p:cNvPr id="33" name="r5c4"/>
          <p:cNvSpPr>
            <a:spLocks noGrp="1"/>
          </p:cNvSpPr>
          <p:nvPr/>
        </p:nvSpPr>
        <p:spPr>
          <a:xfrm>
            <a:off x="5872000" y="252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34" name="r5c5"/>
          <p:cNvSpPr>
            <a:spLocks noGrp="1"/>
          </p:cNvSpPr>
          <p:nvPr/>
        </p:nvSpPr>
        <p:spPr>
          <a:xfrm>
            <a:off x="7433000" y="252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2 048 Mi</a:t>
            </a:r>
          </a:p>
        </p:txBody>
      </p:sp>
      <p:sp>
        <p:nvSpPr>
          <p:cNvPr id="35" name="r6c1"/>
          <p:cNvSpPr>
            <a:spLocks noGrp="1"/>
          </p:cNvSpPr>
          <p:nvPr/>
        </p:nvSpPr>
        <p:spPr>
          <a:xfrm>
            <a:off x="150000" y="2880000"/>
            <a:ext cx="2600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PgBouncer</a:t>
            </a:r>
          </a:p>
        </p:txBody>
      </p:sp>
      <p:sp>
        <p:nvSpPr>
          <p:cNvPr id="36" name="r6c2"/>
          <p:cNvSpPr>
            <a:spLocks noGrp="1"/>
          </p:cNvSpPr>
          <p:nvPr/>
        </p:nvSpPr>
        <p:spPr>
          <a:xfrm>
            <a:off x="2750000" y="288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37" name="r6c3"/>
          <p:cNvSpPr>
            <a:spLocks noGrp="1"/>
          </p:cNvSpPr>
          <p:nvPr/>
        </p:nvSpPr>
        <p:spPr>
          <a:xfrm>
            <a:off x="4311000" y="288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38" name="r6c4"/>
          <p:cNvSpPr>
            <a:spLocks noGrp="1"/>
          </p:cNvSpPr>
          <p:nvPr/>
        </p:nvSpPr>
        <p:spPr>
          <a:xfrm>
            <a:off x="5872000" y="288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64 Mi</a:t>
            </a:r>
          </a:p>
        </p:txBody>
      </p:sp>
      <p:sp>
        <p:nvSpPr>
          <p:cNvPr id="39" name="r6c5"/>
          <p:cNvSpPr>
            <a:spLocks noGrp="1"/>
          </p:cNvSpPr>
          <p:nvPr/>
        </p:nvSpPr>
        <p:spPr>
          <a:xfrm>
            <a:off x="7433000" y="288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40" name="r7c1"/>
          <p:cNvSpPr>
            <a:spLocks noGrp="1"/>
          </p:cNvSpPr>
          <p:nvPr/>
        </p:nvSpPr>
        <p:spPr>
          <a:xfrm>
            <a:off x="150000" y="3240000"/>
            <a:ext cx="2600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UI pod</a:t>
            </a:r>
          </a:p>
        </p:txBody>
      </p:sp>
      <p:sp>
        <p:nvSpPr>
          <p:cNvPr id="41" name="r7c2"/>
          <p:cNvSpPr>
            <a:spLocks noGrp="1"/>
          </p:cNvSpPr>
          <p:nvPr/>
        </p:nvSpPr>
        <p:spPr>
          <a:xfrm>
            <a:off x="2750000" y="324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42" name="r7c3"/>
          <p:cNvSpPr>
            <a:spLocks noGrp="1"/>
          </p:cNvSpPr>
          <p:nvPr/>
        </p:nvSpPr>
        <p:spPr>
          <a:xfrm>
            <a:off x="4311000" y="324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3" name="r7c4"/>
          <p:cNvSpPr>
            <a:spLocks noGrp="1"/>
          </p:cNvSpPr>
          <p:nvPr/>
        </p:nvSpPr>
        <p:spPr>
          <a:xfrm>
            <a:off x="5872000" y="324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44" name="r7c5"/>
          <p:cNvSpPr>
            <a:spLocks noGrp="1"/>
          </p:cNvSpPr>
          <p:nvPr/>
        </p:nvSpPr>
        <p:spPr>
          <a:xfrm>
            <a:off x="7433000" y="324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45" name="r8c1"/>
          <p:cNvSpPr>
            <a:spLocks noGrp="1"/>
          </p:cNvSpPr>
          <p:nvPr/>
        </p:nvSpPr>
        <p:spPr>
          <a:xfrm>
            <a:off x="150000" y="3600000"/>
            <a:ext cx="2600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aaa-regression-tester</a:t>
            </a:r>
          </a:p>
        </p:txBody>
      </p:sp>
      <p:sp>
        <p:nvSpPr>
          <p:cNvPr id="46" name="r8c2"/>
          <p:cNvSpPr>
            <a:spLocks noGrp="1"/>
          </p:cNvSpPr>
          <p:nvPr/>
        </p:nvSpPr>
        <p:spPr>
          <a:xfrm>
            <a:off x="2750000" y="360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47" name="r8c3"/>
          <p:cNvSpPr>
            <a:spLocks noGrp="1"/>
          </p:cNvSpPr>
          <p:nvPr/>
        </p:nvSpPr>
        <p:spPr>
          <a:xfrm>
            <a:off x="4311000" y="360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8" name="r8c4"/>
          <p:cNvSpPr>
            <a:spLocks noGrp="1"/>
          </p:cNvSpPr>
          <p:nvPr/>
        </p:nvSpPr>
        <p:spPr>
          <a:xfrm>
            <a:off x="5872000" y="360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49" name="r8c5"/>
          <p:cNvSpPr>
            <a:spLocks noGrp="1"/>
          </p:cNvSpPr>
          <p:nvPr/>
        </p:nvSpPr>
        <p:spPr>
          <a:xfrm>
            <a:off x="7433000" y="3600000"/>
            <a:ext cx="1561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50" name="r9c1"/>
          <p:cNvSpPr>
            <a:spLocks noGrp="1"/>
          </p:cNvSpPr>
          <p:nvPr/>
        </p:nvSpPr>
        <p:spPr>
          <a:xfrm>
            <a:off x="150000" y="3960000"/>
            <a:ext cx="2600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50" dirty="0">
                <a:solidFill>
                  <a:srgbClr val="1E2761"/>
                </a:solidFill>
                <a:latin typeface="Calibri"/>
              </a:rPr>
              <a:t>Load-test pod</a:t>
            </a:r>
          </a:p>
        </p:txBody>
      </p:sp>
      <p:sp>
        <p:nvSpPr>
          <p:cNvPr id="51" name="r9c2"/>
          <p:cNvSpPr>
            <a:spLocks noGrp="1"/>
          </p:cNvSpPr>
          <p:nvPr/>
        </p:nvSpPr>
        <p:spPr>
          <a:xfrm>
            <a:off x="2750000" y="396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52" name="r9c3"/>
          <p:cNvSpPr>
            <a:spLocks noGrp="1"/>
          </p:cNvSpPr>
          <p:nvPr/>
        </p:nvSpPr>
        <p:spPr>
          <a:xfrm>
            <a:off x="4311000" y="396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2 000m</a:t>
            </a:r>
          </a:p>
        </p:txBody>
      </p:sp>
      <p:sp>
        <p:nvSpPr>
          <p:cNvPr id="53" name="r9c4"/>
          <p:cNvSpPr>
            <a:spLocks noGrp="1"/>
          </p:cNvSpPr>
          <p:nvPr/>
        </p:nvSpPr>
        <p:spPr>
          <a:xfrm>
            <a:off x="5872000" y="396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54" name="r9c5"/>
          <p:cNvSpPr>
            <a:spLocks noGrp="1"/>
          </p:cNvSpPr>
          <p:nvPr/>
        </p:nvSpPr>
        <p:spPr>
          <a:xfrm>
            <a:off x="7433000" y="3960000"/>
            <a:ext cx="1561000" cy="36000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50" dirty="0">
                <a:solidFill>
                  <a:srgbClr val="1E2761"/>
                </a:solidFill>
                <a:latin typeface="Calibri"/>
              </a:rPr>
              <a:t>1 024 Mi</a:t>
            </a:r>
          </a:p>
        </p:txBody>
      </p:sp>
      <p:sp>
        <p:nvSpPr>
          <p:cNvPr id="55" name="footer"/>
          <p:cNvSpPr>
            <a:spLocks noGrp="1"/>
          </p:cNvSpPr>
          <p:nvPr/>
        </p:nvSpPr>
        <p:spPr>
          <a:xfrm>
            <a:off x="150000" y="4400000"/>
            <a:ext cx="8844000" cy="6500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lang="en-US" sz="750" i="1" dirty="0">
                <a:solidFill>
                  <a:srgbClr val="6B7280"/>
                </a:solidFill>
                <a:latin typeface="Calibri"/>
              </a:rPr>
              <a:t>* 1000m = 1 vCPU. Requests are guaranteed minimums; limits are enforced maximums. Adjust per workload profiling.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ainer Re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anchor="ctr" lIns="91440" rIns="91440" tIns="45720" bIns="45720"/>
          <a:lstStyle/>
          <a:p>
            <a:pPr algn="ctr"/>
            <a:r>
              <a:rPr lang="en-US" sz="100" b="0" i="0" dirty="0">
                <a:solidFill>
                  <a:srgbClr val="EEF3FB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0" y="0"/>
            <a:ext cx="9144000" cy="49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="ctr" lIns="228600" rIns="228600" tIns="45720" bIns="45720"/>
          <a:lstStyle/>
          <a:p>
            <a:pPr algn="l"/>
            <a:r>
              <a:rPr lang="en-US" sz="1900" b="1" dirty="0">
                <a:solidFill>
                  <a:srgbClr val="FFFFFF"/>
                </a:solidFill>
                <a:latin typeface="Calibri"/>
              </a:rPr>
              <a:t>Container Resource Requirements — CPU, RAM, Storage, Replicas &amp; Throughput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150000" y="510000"/>
            <a:ext cx="6050000" cy="2100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anchor="ctr" lIns="91440" rIns="91440" tIns="45720" bIns="45720"/>
          <a:lstStyle/>
          <a:p>
            <a:pPr algn="l"/>
            <a:r>
              <a:rPr lang="en-US" sz="800" b="0" i="1" dirty="0">
                <a:solidFill>
                  <a:srgbClr val="2E75B6"/>
                </a:solidFill>
                <a:latin typeface="Calibri"/>
              </a:rPr>
              <a:t>Sized for 2,000 Access-Requests/sec  |  99.9% fast path (subscriber profile exists in DB)  |  0.1% first-connection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6300000" y="510000"/>
            <a:ext cx="2694000" cy="21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="ctr" lIns="91440" rIns="91440" tIns="45720" bIns="45720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Fast path: 1,998 rps  |  Slow path: 2 rps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150000" y="760000"/>
            <a:ext cx="1800000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l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Container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95000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CPU</a:t>
            </a:r>
          </a:p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956285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CPU</a:t>
            </a:r>
          </a:p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396257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RAM</a:t>
            </a:r>
          </a:p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968855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RAM</a:t>
            </a:r>
          </a:p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597514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Storage</a:t>
            </a:r>
          </a:p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(PVC)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6981425" y="760000"/>
            <a:ext cx="1006285" cy="400000"/>
          </a:xfrm>
          <a:prstGeom prst="rect">
            <a:avLst/>
          </a:prstGeom>
          <a:solidFill>
            <a:srgbClr val="C45000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Replicas</a:t>
            </a:r>
          </a:p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@ 2k rps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7987710" y="760000"/>
            <a:ext cx="1006290" cy="400000"/>
          </a:xfrm>
          <a:prstGeom prst="rect">
            <a:avLst/>
          </a:prstGeom>
          <a:solidFill>
            <a:srgbClr val="025F6B"/>
          </a:solidFill>
          <a:ln>
            <a:solidFill>
              <a:srgbClr val="9EB3D8"/>
            </a:solidFill>
          </a:ln>
        </p:spPr>
        <p:txBody>
          <a:bodyPr anchor="ctr" lIns="45720" rIns="45720" tIns="30480" bIns="30480"/>
          <a:lstStyle/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Max RPS</a:t>
            </a:r>
          </a:p>
          <a:p>
            <a:pPr algn="ctr" spcBef="0" spcAft="0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per Pod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50000" y="11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aaa-lookup-service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95000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2956285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96257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4968855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597514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6981425" y="116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3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7987710" y="1160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~600 rps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150000" y="153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subscriber-profile-api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195000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2956285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1,000m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396257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968855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597514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6981425" y="153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7987710" y="1535000"/>
            <a:ext cx="100629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~50 rps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150000" y="191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Radius-to-Rest pod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195000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2956285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1,000m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396257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968855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597514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6981425" y="191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4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7987710" y="1910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~500 rps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150000" y="228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PostgreSQL (primary)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1950000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2956285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962570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4968855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2,048 Mi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5975140" y="2285000"/>
            <a:ext cx="1006285" cy="375000"/>
          </a:xfrm>
          <a:prstGeom prst="rect">
            <a:avLst/>
          </a:prstGeom>
          <a:solidFill>
            <a:srgbClr val="FFF3CD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7B4F00"/>
                </a:solidFill>
                <a:latin typeface="Calibri"/>
              </a:rPr>
              <a:t>20 Gi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6981425" y="228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1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7987710" y="2285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~2,000 qps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150000" y="26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PostgreSQL (replica)</a:t>
            </a:r>
          </a:p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1950000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2956285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3962570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50" name="sp50"/>
          <p:cNvSpPr>
            <a:spLocks noGrp="1"/>
          </p:cNvSpPr>
          <p:nvPr/>
        </p:nvSpPr>
        <p:spPr>
          <a:xfrm>
            <a:off x="4968855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2,048 Mi</a:t>
            </a:r>
          </a:p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5975140" y="2660000"/>
            <a:ext cx="1006285" cy="375000"/>
          </a:xfrm>
          <a:prstGeom prst="rect">
            <a:avLst/>
          </a:prstGeom>
          <a:solidFill>
            <a:srgbClr val="FFF3CD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7B4F00"/>
                </a:solidFill>
                <a:latin typeface="Calibri"/>
              </a:rPr>
              <a:t>20 Gi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6981425" y="266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7987710" y="2660000"/>
            <a:ext cx="1006290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~5,000 qps</a:t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150000" y="303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PgBouncer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195000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56" name="sp56"/>
          <p:cNvSpPr>
            <a:spLocks noGrp="1"/>
          </p:cNvSpPr>
          <p:nvPr/>
        </p:nvSpPr>
        <p:spPr>
          <a:xfrm>
            <a:off x="2956285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57" name="sp57"/>
          <p:cNvSpPr>
            <a:spLocks noGrp="1"/>
          </p:cNvSpPr>
          <p:nvPr/>
        </p:nvSpPr>
        <p:spPr>
          <a:xfrm>
            <a:off x="396257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64 Mi</a:t>
            </a:r>
          </a:p>
        </p:txBody>
      </p:sp>
      <p:sp>
        <p:nvSpPr>
          <p:cNvPr id="58" name="sp58"/>
          <p:cNvSpPr>
            <a:spLocks noGrp="1"/>
          </p:cNvSpPr>
          <p:nvPr/>
        </p:nvSpPr>
        <p:spPr>
          <a:xfrm>
            <a:off x="4968855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59" name="sp59"/>
          <p:cNvSpPr>
            <a:spLocks noGrp="1"/>
          </p:cNvSpPr>
          <p:nvPr/>
        </p:nvSpPr>
        <p:spPr>
          <a:xfrm>
            <a:off x="597514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60" name="sp60"/>
          <p:cNvSpPr>
            <a:spLocks noGrp="1"/>
          </p:cNvSpPr>
          <p:nvPr/>
        </p:nvSpPr>
        <p:spPr>
          <a:xfrm>
            <a:off x="6981425" y="303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61" name="sp61"/>
          <p:cNvSpPr>
            <a:spLocks noGrp="1"/>
          </p:cNvSpPr>
          <p:nvPr/>
        </p:nvSpPr>
        <p:spPr>
          <a:xfrm>
            <a:off x="7987710" y="3035000"/>
            <a:ext cx="1006290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&gt;10,000</a:t>
            </a:r>
          </a:p>
        </p:txBody>
      </p:sp>
      <p:sp>
        <p:nvSpPr>
          <p:cNvPr id="62" name="sp62"/>
          <p:cNvSpPr>
            <a:spLocks noGrp="1"/>
          </p:cNvSpPr>
          <p:nvPr/>
        </p:nvSpPr>
        <p:spPr>
          <a:xfrm>
            <a:off x="150000" y="341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UI pod</a:t>
            </a:r>
          </a:p>
        </p:txBody>
      </p:sp>
      <p:sp>
        <p:nvSpPr>
          <p:cNvPr id="63" name="sp63"/>
          <p:cNvSpPr>
            <a:spLocks noGrp="1"/>
          </p:cNvSpPr>
          <p:nvPr/>
        </p:nvSpPr>
        <p:spPr>
          <a:xfrm>
            <a:off x="195000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64" name="sp64"/>
          <p:cNvSpPr>
            <a:spLocks noGrp="1"/>
          </p:cNvSpPr>
          <p:nvPr/>
        </p:nvSpPr>
        <p:spPr>
          <a:xfrm>
            <a:off x="2956285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65" name="sp65"/>
          <p:cNvSpPr>
            <a:spLocks noGrp="1"/>
          </p:cNvSpPr>
          <p:nvPr/>
        </p:nvSpPr>
        <p:spPr>
          <a:xfrm>
            <a:off x="396257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66" name="sp66"/>
          <p:cNvSpPr>
            <a:spLocks noGrp="1"/>
          </p:cNvSpPr>
          <p:nvPr/>
        </p:nvSpPr>
        <p:spPr>
          <a:xfrm>
            <a:off x="4968855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67" name="sp67"/>
          <p:cNvSpPr>
            <a:spLocks noGrp="1"/>
          </p:cNvSpPr>
          <p:nvPr/>
        </p:nvSpPr>
        <p:spPr>
          <a:xfrm>
            <a:off x="597514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68" name="sp68"/>
          <p:cNvSpPr>
            <a:spLocks noGrp="1"/>
          </p:cNvSpPr>
          <p:nvPr/>
        </p:nvSpPr>
        <p:spPr>
          <a:xfrm>
            <a:off x="6981425" y="341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1</a:t>
            </a:r>
          </a:p>
        </p:txBody>
      </p:sp>
      <p:sp>
        <p:nvSpPr>
          <p:cNvPr id="69" name="sp69"/>
          <p:cNvSpPr>
            <a:spLocks noGrp="1"/>
          </p:cNvSpPr>
          <p:nvPr/>
        </p:nvSpPr>
        <p:spPr>
          <a:xfrm>
            <a:off x="7987710" y="3410000"/>
            <a:ext cx="100629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~200 rps</a:t>
            </a:r>
          </a:p>
        </p:txBody>
      </p:sp>
      <p:sp>
        <p:nvSpPr>
          <p:cNvPr id="70" name="sp70"/>
          <p:cNvSpPr>
            <a:spLocks noGrp="1"/>
          </p:cNvSpPr>
          <p:nvPr/>
        </p:nvSpPr>
        <p:spPr>
          <a:xfrm>
            <a:off x="150000" y="378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aaa-regression-tester</a:t>
            </a:r>
          </a:p>
        </p:txBody>
      </p:sp>
      <p:sp>
        <p:nvSpPr>
          <p:cNvPr id="71" name="sp71"/>
          <p:cNvSpPr>
            <a:spLocks noGrp="1"/>
          </p:cNvSpPr>
          <p:nvPr/>
        </p:nvSpPr>
        <p:spPr>
          <a:xfrm>
            <a:off x="195000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72" name="sp72"/>
          <p:cNvSpPr>
            <a:spLocks noGrp="1"/>
          </p:cNvSpPr>
          <p:nvPr/>
        </p:nvSpPr>
        <p:spPr>
          <a:xfrm>
            <a:off x="295628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73" name="sp73"/>
          <p:cNvSpPr>
            <a:spLocks noGrp="1"/>
          </p:cNvSpPr>
          <p:nvPr/>
        </p:nvSpPr>
        <p:spPr>
          <a:xfrm>
            <a:off x="396257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74" name="sp74"/>
          <p:cNvSpPr>
            <a:spLocks noGrp="1"/>
          </p:cNvSpPr>
          <p:nvPr/>
        </p:nvSpPr>
        <p:spPr>
          <a:xfrm>
            <a:off x="496885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75" name="sp75"/>
          <p:cNvSpPr>
            <a:spLocks noGrp="1"/>
          </p:cNvSpPr>
          <p:nvPr/>
        </p:nvSpPr>
        <p:spPr>
          <a:xfrm>
            <a:off x="597514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76" name="sp76"/>
          <p:cNvSpPr>
            <a:spLocks noGrp="1"/>
          </p:cNvSpPr>
          <p:nvPr/>
        </p:nvSpPr>
        <p:spPr>
          <a:xfrm>
            <a:off x="698142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1 *</a:t>
            </a:r>
          </a:p>
        </p:txBody>
      </p:sp>
      <p:sp>
        <p:nvSpPr>
          <p:cNvPr id="77" name="sp77"/>
          <p:cNvSpPr>
            <a:spLocks noGrp="1"/>
          </p:cNvSpPr>
          <p:nvPr/>
        </p:nvSpPr>
        <p:spPr>
          <a:xfrm>
            <a:off x="7987710" y="3785000"/>
            <a:ext cx="100629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N/A</a:t>
            </a:r>
          </a:p>
        </p:txBody>
      </p:sp>
      <p:sp>
        <p:nvSpPr>
          <p:cNvPr id="78" name="sp78"/>
          <p:cNvSpPr>
            <a:spLocks noGrp="1"/>
          </p:cNvSpPr>
          <p:nvPr/>
        </p:nvSpPr>
        <p:spPr>
          <a:xfrm>
            <a:off x="150000" y="41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Load-test pod</a:t>
            </a:r>
          </a:p>
        </p:txBody>
      </p:sp>
      <p:sp>
        <p:nvSpPr>
          <p:cNvPr id="79" name="sp79"/>
          <p:cNvSpPr>
            <a:spLocks noGrp="1"/>
          </p:cNvSpPr>
          <p:nvPr/>
        </p:nvSpPr>
        <p:spPr>
          <a:xfrm>
            <a:off x="195000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80" name="sp80"/>
          <p:cNvSpPr>
            <a:spLocks noGrp="1"/>
          </p:cNvSpPr>
          <p:nvPr/>
        </p:nvSpPr>
        <p:spPr>
          <a:xfrm>
            <a:off x="295628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81" name="sp81"/>
          <p:cNvSpPr>
            <a:spLocks noGrp="1"/>
          </p:cNvSpPr>
          <p:nvPr/>
        </p:nvSpPr>
        <p:spPr>
          <a:xfrm>
            <a:off x="396257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82" name="sp82"/>
          <p:cNvSpPr>
            <a:spLocks noGrp="1"/>
          </p:cNvSpPr>
          <p:nvPr/>
        </p:nvSpPr>
        <p:spPr>
          <a:xfrm>
            <a:off x="496885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1,024 Mi</a:t>
            </a:r>
          </a:p>
        </p:txBody>
      </p:sp>
      <p:sp>
        <p:nvSpPr>
          <p:cNvPr id="83" name="sp83"/>
          <p:cNvSpPr>
            <a:spLocks noGrp="1"/>
          </p:cNvSpPr>
          <p:nvPr/>
        </p:nvSpPr>
        <p:spPr>
          <a:xfrm>
            <a:off x="597514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84" name="sp84"/>
          <p:cNvSpPr>
            <a:spLocks noGrp="1"/>
          </p:cNvSpPr>
          <p:nvPr/>
        </p:nvSpPr>
        <p:spPr>
          <a:xfrm>
            <a:off x="698142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1 *</a:t>
            </a:r>
          </a:p>
        </p:txBody>
      </p:sp>
      <p:sp>
        <p:nvSpPr>
          <p:cNvPr id="85" name="sp85"/>
          <p:cNvSpPr>
            <a:spLocks noGrp="1"/>
          </p:cNvSpPr>
          <p:nvPr/>
        </p:nvSpPr>
        <p:spPr>
          <a:xfrm>
            <a:off x="7987710" y="4160000"/>
            <a:ext cx="100629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anchor="ctr" lIns="91440" rIns="91440" tIns="45720" bIns="45720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N/A (gen.)</a:t>
            </a:r>
          </a:p>
        </p:txBody>
      </p:sp>
      <p:sp>
        <p:nvSpPr>
          <p:cNvPr id="86" name="sp86"/>
          <p:cNvSpPr>
            <a:spLocks noGrp="1"/>
          </p:cNvSpPr>
          <p:nvPr/>
        </p:nvSpPr>
        <p:spPr>
          <a:xfrm>
            <a:off x="150000" y="4710000"/>
            <a:ext cx="8844000" cy="2600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anchor="ctr" lIns="91440" rIns="91440" tIns="45720" bIns="45720"/>
          <a:lstStyle/>
          <a:p>
            <a:pPr algn="l"/>
            <a:r>
              <a:rPr lang="en-US" sz="700" b="0" i="1" dirty="0">
                <a:solidFill>
                  <a:srgbClr val="6B7280"/>
                </a:solidFill>
                <a:latin typeface="Calibri"/>
              </a:rPr>
              <a:t>* On-demand job pod  |  RPS figures are for fast-path requests only (subscriber profile exists in DB)  |  1 SQL query per IMSI lookup → ~2,000 qps at 2k rps  |  PVC size configurable (20 Gi = baseline)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2026-03-25T05:14:18Z</dcterms:created>
  <dcterms:modified xsi:type="dcterms:W3CDTF">2026-03-25T05:14:18Z</dcterms:modified>
</cp:coreProperties>
</file>