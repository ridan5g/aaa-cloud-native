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71" r:id="rId22"/>
    <p:sldId id="272" r:id="rId2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slide" Target="slides/slide16.xml"/><Relationship Id="rId16" Type="http://schemas.openxmlformats.org/officeDocument/2006/relationships/slide" Target="slides/slide17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3.xml"/><Relationship Id="rId2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274320"/>
            <a:ext cx="4114800" cy="5692140"/>
          </a:xfrm>
          <a:prstGeom prst="rect">
            <a:avLst/>
          </a:prstGeom>
          <a:solidFill>
            <a:srgbClr val="172055">
              <a:alpha val="60000"/>
            </a:srgbClr>
          </a:solidFill>
          <a:ln w="12700">
            <a:solidFill>
              <a:srgbClr val="172055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583680" y="-274320"/>
            <a:ext cx="3200400" cy="5692140"/>
          </a:xfrm>
          <a:prstGeom prst="rect">
            <a:avLst/>
          </a:prstGeom>
          <a:solidFill>
            <a:srgbClr val="0D1844">
              <a:alpha val="60000"/>
            </a:srgbClr>
          </a:solidFill>
          <a:ln w="12700">
            <a:solidFill>
              <a:srgbClr val="0D1844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365760"/>
            <a:ext cx="3200400" cy="237744"/>
          </a:xfrm>
          <a:prstGeom prst="roundRect">
            <a:avLst>
              <a:gd name="adj" fmla="val 50000"/>
            </a:avLst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36576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CADCFC"/>
                </a:solidFill>
              </a:rPr>
              <a:t>TELECOM  |  AAA  |  CLOUD-NATIVE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74320" y="1005840"/>
            <a:ext cx="5943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AAA Cloud-Native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74320" y="178308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274320" y="2651760"/>
            <a:ext cx="5669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High-Performance Subscriber Provisioning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7EA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Real-Time RADIUS Authentication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432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7432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7432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&lt; 15ms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7432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p99 Lookup SLA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19456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219456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9456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100K+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Bulk Profiles/Job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114800" y="3657600"/>
            <a:ext cx="1737360" cy="822960"/>
          </a:xfrm>
          <a:prstGeom prst="rect">
            <a:avLst/>
          </a:prstGeom>
          <a:solidFill>
            <a:srgbClr val="142050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114800" y="3657600"/>
            <a:ext cx="173736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114800" y="374904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Multi-IMSI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114800" y="41148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EA8E8"/>
                </a:solidFill>
              </a:rPr>
              <a:t>Auto-Provisioning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766560" y="9144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C++17 / Drogon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675120" y="1074420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766560" y="14813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Python / FastAPI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675120" y="1641348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766560" y="2048256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PostgreSQL 15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675120" y="2208276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766560" y="2615184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Kubernetes / Helm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675120" y="2775204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766560" y="318211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CADCFC"/>
                </a:solidFill>
              </a:rPr>
              <a:t>Prometheus / Grafana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675120" y="3342132"/>
            <a:ext cx="73152" cy="0"/>
          </a:xfrm>
          <a:prstGeom prst="line">
            <a:avLst/>
          </a:prstGeom>
          <a:noFill/>
          <a:ln w="25400">
            <a:solidFill>
              <a:srgbClr val="4FC3F7"/>
            </a:solidFill>
            <a:prstDash val="solid"/>
          </a:ln>
        </p:spPr>
        <p:txBody>
          <a:bodyPr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The Challenge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9377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Speed vs. Scale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377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RADIUS must authenticate subscribers in &lt;15ms while serving millions of requests per day — but provisioning writes are slower and less frequent.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6576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Unknown IMSIs at First Attach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Network equipment cannot predict when a new SIM activates. Operators need dynamic, zero-touch provisioning on first connection — no manual intervention.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54880" y="86868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754880" y="86868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82896" y="9601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Multi-IMSI SIM Complexity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882896" y="125272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A single physical SIM card can carry up to 10 distinct IMSIs. Provisioning one slot must automatically provision all sibling slots in a single atomic step.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2743200"/>
            <a:ext cx="4023360" cy="1645920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54880" y="2743200"/>
            <a:ext cx="54864" cy="16459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82896" y="28346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IP Pool Race Conditions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82896" y="312724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Concurrent first-connection events can race to claim the same IP address. A safe, lock-free allocation mechanism is critical for correctness at scale.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20000"/>
          <a:lstStyle/>
          <a:p>
            <a:pPr algn="l"/>
            <a:r>
              <a:rPr sz="2200" b="1">
                <a:solidFill>
                  <a:srgbClr val="FFFFFF"/>
                </a:solidFill>
              </a:rPr>
              <a:t>Service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1710000" y="767000"/>
            <a:ext cx="980000" cy="2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710000" y="915000"/>
            <a:ext cx="980000" cy="114000"/>
          </a:xfrm>
          <a:prstGeom prst="ellipse">
            <a:avLst/>
          </a:prstGeom>
          <a:solidFill>
            <a:srgbClr val="2E5EB8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10000" y="710000"/>
            <a:ext cx="980000" cy="114000"/>
          </a:xfrm>
          <a:prstGeom prst="ellipse">
            <a:avLst/>
          </a:prstGeom>
          <a:solidFill>
            <a:srgbClr val="9DB6E4"/>
          </a:solidFill>
          <a:ln w="9525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0000" y="767000"/>
            <a:ext cx="980000" cy="2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560000" y="915000"/>
            <a:ext cx="980000" cy="114000"/>
          </a:xfrm>
          <a:prstGeom prst="ellipse">
            <a:avLst/>
          </a:prstGeom>
          <a:solidFill>
            <a:srgbClr val="2E5EB8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560000" y="710000"/>
            <a:ext cx="980000" cy="114000"/>
          </a:xfrm>
          <a:prstGeom prst="ellipse">
            <a:avLst/>
          </a:prstGeom>
          <a:solidFill>
            <a:srgbClr val="9DB6E4"/>
          </a:solidFill>
          <a:ln w="9525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0000" y="767000"/>
            <a:ext cx="980000" cy="243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410000" y="915000"/>
            <a:ext cx="980000" cy="114000"/>
          </a:xfrm>
          <a:prstGeom prst="ellipse">
            <a:avLst/>
          </a:prstGeom>
          <a:solidFill>
            <a:srgbClr val="2E5EB8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10000" y="710000"/>
            <a:ext cx="980000" cy="114000"/>
          </a:xfrm>
          <a:prstGeom prst="ellipse">
            <a:avLst/>
          </a:prstGeom>
          <a:solidFill>
            <a:srgbClr val="9DB6E4"/>
          </a:solidFill>
          <a:ln w="9525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12" name="Oval 11"/>
          <p:cNvSpPr/>
          <p:nvPr/>
        </p:nvSpPr>
        <p:spPr>
          <a:xfrm>
            <a:off x="1405000" y="1590000"/>
            <a:ext cx="1650000" cy="36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13" name="Oval 12"/>
          <p:cNvSpPr/>
          <p:nvPr/>
        </p:nvSpPr>
        <p:spPr>
          <a:xfrm>
            <a:off x="1275000" y="1520000"/>
            <a:ext cx="1650000" cy="36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Lookup service</a:t>
            </a:r>
          </a:p>
        </p:txBody>
      </p:sp>
      <p:sp>
        <p:nvSpPr>
          <p:cNvPr id="14" name="Oval 13"/>
          <p:cNvSpPr/>
          <p:nvPr/>
        </p:nvSpPr>
        <p:spPr>
          <a:xfrm>
            <a:off x="3850000" y="1520000"/>
            <a:ext cx="2500000" cy="36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1st Connection &amp;
Provisioning</a:t>
            </a:r>
          </a:p>
        </p:txBody>
      </p:sp>
      <p:sp>
        <p:nvSpPr>
          <p:cNvPr id="15" name="Oval 14"/>
          <p:cNvSpPr/>
          <p:nvPr/>
        </p:nvSpPr>
        <p:spPr>
          <a:xfrm>
            <a:off x="7825000" y="1500000"/>
            <a:ext cx="750000" cy="4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</a:rPr>
              <a:t>UI</a:t>
            </a:r>
          </a:p>
        </p:txBody>
      </p:sp>
      <p:sp>
        <p:nvSpPr>
          <p:cNvPr id="16" name="Oval 15"/>
          <p:cNvSpPr/>
          <p:nvPr/>
        </p:nvSpPr>
        <p:spPr>
          <a:xfrm>
            <a:off x="810000" y="2630000"/>
            <a:ext cx="1380000" cy="3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17" name="Oval 16"/>
          <p:cNvSpPr/>
          <p:nvPr/>
        </p:nvSpPr>
        <p:spPr>
          <a:xfrm>
            <a:off x="3210000" y="2630000"/>
            <a:ext cx="1380000" cy="3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18" name="Oval 17"/>
          <p:cNvSpPr/>
          <p:nvPr/>
        </p:nvSpPr>
        <p:spPr>
          <a:xfrm>
            <a:off x="5610000" y="2630000"/>
            <a:ext cx="1380000" cy="300000"/>
          </a:xfrm>
          <a:prstGeom prst="ellipse">
            <a:avLst/>
          </a:prstGeom>
          <a:solidFill>
            <a:srgbClr val="4472C4"/>
          </a:solidFill>
          <a:ln w="9525">
            <a:solidFill>
              <a:srgbClr val="9DB6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Radius to Rest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95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1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6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065000" y="3735000"/>
            <a:ext cx="570000" cy="250000"/>
          </a:xfrm>
          <a:prstGeom prst="roundRect">
            <a:avLst/>
          </a:prstGeom>
          <a:solidFill>
            <a:srgbClr val="4472C4"/>
          </a:solidFill>
          <a:ln w="6350">
            <a:solidFill>
              <a:srgbClr val="4472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750" b="1">
                <a:solidFill>
                  <a:srgbClr val="FFFFFF"/>
                </a:solidFill>
              </a:rPr>
              <a:t>SMF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70000" y="3735000"/>
            <a:ext cx="860000" cy="250000"/>
          </a:xfrm>
          <a:prstGeom prst="roundRect">
            <a:avLst/>
          </a:prstGeom>
          <a:solidFill>
            <a:srgbClr val="70AD47"/>
          </a:solidFill>
          <a:ln w="6350">
            <a:solidFill>
              <a:srgbClr val="70AD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00" b="1">
                <a:solidFill>
                  <a:srgbClr val="FFFFFF"/>
                </a:solidFill>
              </a:rPr>
              <a:t>QA Automation</a:t>
            </a:r>
          </a:p>
        </p:txBody>
      </p:sp>
      <p:cxnSp>
        <p:nvCxnSpPr>
          <p:cNvPr id="101" name="arrow101"/>
          <p:cNvCxnSpPr/>
          <p:nvPr/>
        </p:nvCxnSpPr>
        <p:spPr>
          <a:xfrm flipH="1">
            <a:off x="2100000" y="1010000"/>
            <a:ext cx="1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2" name="arrow102"/>
          <p:cNvCxnSpPr/>
          <p:nvPr/>
        </p:nvCxnSpPr>
        <p:spPr>
          <a:xfrm>
            <a:off x="2200000" y="1010000"/>
            <a:ext cx="29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3" name="arrow103"/>
          <p:cNvCxnSpPr/>
          <p:nvPr/>
        </p:nvCxnSpPr>
        <p:spPr>
          <a:xfrm flipH="1">
            <a:off x="2100000" y="1010000"/>
            <a:ext cx="195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4" name="arrow104"/>
          <p:cNvCxnSpPr/>
          <p:nvPr/>
        </p:nvCxnSpPr>
        <p:spPr>
          <a:xfrm>
            <a:off x="4050000" y="1010000"/>
            <a:ext cx="105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5" name="arrow105"/>
          <p:cNvCxnSpPr/>
          <p:nvPr/>
        </p:nvCxnSpPr>
        <p:spPr>
          <a:xfrm flipH="1">
            <a:off x="2100000" y="1010000"/>
            <a:ext cx="38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6" name="arrow106"/>
          <p:cNvCxnSpPr/>
          <p:nvPr/>
        </p:nvCxnSpPr>
        <p:spPr>
          <a:xfrm flipH="1">
            <a:off x="5100000" y="1010000"/>
            <a:ext cx="800000" cy="51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7" name="arrow107"/>
          <p:cNvCxnSpPr/>
          <p:nvPr/>
        </p:nvCxnSpPr>
        <p:spPr>
          <a:xfrm flipH="1">
            <a:off x="1500000" y="1880000"/>
            <a:ext cx="6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8" name="arrow108"/>
          <p:cNvCxnSpPr/>
          <p:nvPr/>
        </p:nvCxnSpPr>
        <p:spPr>
          <a:xfrm>
            <a:off x="2100000" y="1880000"/>
            <a:ext cx="18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09" name="arrow109"/>
          <p:cNvCxnSpPr/>
          <p:nvPr/>
        </p:nvCxnSpPr>
        <p:spPr>
          <a:xfrm>
            <a:off x="2100000" y="1880000"/>
            <a:ext cx="42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0" name="arrow110"/>
          <p:cNvCxnSpPr/>
          <p:nvPr/>
        </p:nvCxnSpPr>
        <p:spPr>
          <a:xfrm flipH="1">
            <a:off x="1500000" y="1880000"/>
            <a:ext cx="36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1" name="arrow111"/>
          <p:cNvCxnSpPr/>
          <p:nvPr/>
        </p:nvCxnSpPr>
        <p:spPr>
          <a:xfrm flipH="1">
            <a:off x="3900000" y="1880000"/>
            <a:ext cx="12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2" name="arrow112"/>
          <p:cNvCxnSpPr/>
          <p:nvPr/>
        </p:nvCxnSpPr>
        <p:spPr>
          <a:xfrm>
            <a:off x="5100000" y="1880000"/>
            <a:ext cx="1200000" cy="750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3" name="arrow113"/>
          <p:cNvCxnSpPr/>
          <p:nvPr/>
        </p:nvCxnSpPr>
        <p:spPr>
          <a:xfrm flipH="1">
            <a:off x="440000" y="2930000"/>
            <a:ext cx="106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4" name="arrow114"/>
          <p:cNvCxnSpPr/>
          <p:nvPr/>
        </p:nvCxnSpPr>
        <p:spPr>
          <a:xfrm flipH="1">
            <a:off x="1040000" y="2930000"/>
            <a:ext cx="46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5" name="arrow115"/>
          <p:cNvCxnSpPr/>
          <p:nvPr/>
        </p:nvCxnSpPr>
        <p:spPr>
          <a:xfrm>
            <a:off x="1500000" y="2930000"/>
            <a:ext cx="14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6" name="arrow116"/>
          <p:cNvCxnSpPr/>
          <p:nvPr/>
        </p:nvCxnSpPr>
        <p:spPr>
          <a:xfrm>
            <a:off x="1500000" y="2930000"/>
            <a:ext cx="74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7" name="arrow117"/>
          <p:cNvCxnSpPr/>
          <p:nvPr/>
        </p:nvCxnSpPr>
        <p:spPr>
          <a:xfrm flipH="1">
            <a:off x="3100000" y="2930000"/>
            <a:ext cx="8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8" name="arrow118"/>
          <p:cNvCxnSpPr/>
          <p:nvPr/>
        </p:nvCxnSpPr>
        <p:spPr>
          <a:xfrm flipH="1">
            <a:off x="3700000" y="2930000"/>
            <a:ext cx="2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19" name="arrow119"/>
          <p:cNvCxnSpPr/>
          <p:nvPr/>
        </p:nvCxnSpPr>
        <p:spPr>
          <a:xfrm>
            <a:off x="3900000" y="2930000"/>
            <a:ext cx="4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0" name="arrow120"/>
          <p:cNvCxnSpPr/>
          <p:nvPr/>
        </p:nvCxnSpPr>
        <p:spPr>
          <a:xfrm>
            <a:off x="3900000" y="2930000"/>
            <a:ext cx="10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1" name="arrow121"/>
          <p:cNvCxnSpPr/>
          <p:nvPr/>
        </p:nvCxnSpPr>
        <p:spPr>
          <a:xfrm flipH="1">
            <a:off x="5750000" y="2930000"/>
            <a:ext cx="55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2" name="arrow122"/>
          <p:cNvCxnSpPr/>
          <p:nvPr/>
        </p:nvCxnSpPr>
        <p:spPr>
          <a:xfrm>
            <a:off x="6300000" y="2930000"/>
            <a:ext cx="5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123" name="arrow123"/>
          <p:cNvCxnSpPr/>
          <p:nvPr/>
        </p:nvCxnSpPr>
        <p:spPr>
          <a:xfrm flipH="1">
            <a:off x="6350000" y="1700000"/>
            <a:ext cx="1670000" cy="1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501" name="arrow501"/>
          <p:cNvCxnSpPr/>
          <p:nvPr/>
        </p:nvCxnSpPr>
        <p:spPr>
          <a:xfrm flipH="1" flipV="1">
            <a:off x="6300000" y="2930000"/>
            <a:ext cx="12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  <p:cxnSp>
        <p:nvCxnSpPr>
          <p:cNvPr id="502" name="arrow502"/>
          <p:cNvCxnSpPr/>
          <p:nvPr/>
        </p:nvCxnSpPr>
        <p:spPr>
          <a:xfrm flipH="1" flipV="1">
            <a:off x="3900000" y="2930000"/>
            <a:ext cx="3600000" cy="805000"/>
          </a:xfrm>
          <a:prstGeom prst="line">
            <a:avLst/>
          </a:prstGeom>
          <a:ln w="9525">
            <a:solidFill>
              <a:srgbClr val="4472C4"/>
            </a:solidFill>
            <a:headEnd type="none"/>
            <a:tailEnd type="arrow" w="sm" len="sm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3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480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80000"/>
          <a:lstStyle/>
          <a:p>
            <a:pPr algn="l"/>
            <a:r>
              <a:rPr sz="2200" b="1">
                <a:solidFill>
                  <a:srgbClr val="FFFFFF"/>
                </a:solidFill>
              </a:rPr>
              <a:t>Radius Static IP assignment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000" cy="48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equence_diagra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0" y="490000"/>
            <a:ext cx="9064000" cy="462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Solution: Three-Service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468880" y="960120"/>
            <a:ext cx="4206240" cy="7498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468880" y="960120"/>
            <a:ext cx="420624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468880" y="1014984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aaa-radius-server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2468880" y="13990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RADIUS Frontend  |  Receives Access-Requests from network equipment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880360" y="1709928"/>
            <a:ext cx="0" cy="438912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737360" y="2148840"/>
            <a:ext cx="114300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65760" y="1920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2E75B6"/>
                </a:solidFill>
              </a:rPr>
              <a:t>Stage 1: GET /lookup (every request)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263640" y="1709928"/>
            <a:ext cx="0" cy="438912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63640" y="2148840"/>
            <a:ext cx="1143000" cy="0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0" y="1920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F5A623"/>
                </a:solidFill>
              </a:rPr>
              <a:t>Stage 2: POST /first-connection (on 404 only)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572000" y="2194560"/>
            <a:ext cx="0" cy="2674620"/>
          </a:xfrm>
          <a:prstGeom prst="line">
            <a:avLst/>
          </a:prstGeom>
          <a:noFill/>
          <a:ln w="12700">
            <a:solidFill>
              <a:srgbClr val="CADCFC"/>
            </a:solidFill>
            <a:prstDash val="dash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READ PATH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6576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</a:rPr>
              <a:t>aaa-lookup-service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6576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C++17 / Drogon — Port 8081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6576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Sub-15ms p99 hot-path (called on every Access-Request)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Reads from local read-replica only (no writes)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Single-query IMSI lookup, index-only seek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JWT RS256 verification with caching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Returns 404 to trigger first-connection flow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754880" y="2240280"/>
            <a:ext cx="4023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2E75B6"/>
                </a:solidFill>
              </a:rPr>
              <a:t>WRITE PATH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754880" y="2532888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</a:rPr>
              <a:t>subscriber-profile-api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754880" y="2898648"/>
            <a:ext cx="4023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E75B6"/>
                </a:solidFill>
              </a:rPr>
              <a:t>Python 3.11 / FastAPI — Port 8080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754880" y="3200400"/>
            <a:ext cx="4023360" cy="1691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First-connection: allocates IP + creates profile on 404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Full subscriber lifecycle CRUD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Multi-IMSI atomic provisioning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Race-safe IP pool claiming (FOR UPDATE SKIP LOCKED)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Async bulk operations up to 100K profiles/job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aaa-radius-server orchestrates two independent backend services optimized for their workloads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Performance at a Glance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20040" y="868680"/>
            <a:ext cx="1600200" cy="1234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20040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20040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&lt; 15ms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20040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p99 Lookup Latency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39112" y="868680"/>
            <a:ext cx="1600200" cy="123444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039112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039112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1-3ms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039112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p50 Typical Latency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758184" y="868680"/>
            <a:ext cx="1600200" cy="12344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3758184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758184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100K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758184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Profiles per Bulk Job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477256" y="868680"/>
            <a:ext cx="1600200" cy="1234440"/>
          </a:xfrm>
          <a:prstGeom prst="rect">
            <a:avLst/>
          </a:prstGeom>
          <a:solidFill>
            <a:srgbClr val="114C75"/>
          </a:solidFill>
          <a:ln w="12700">
            <a:solidFill>
              <a:srgbClr val="114C7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77256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77256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10,000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477256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Access request per sec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196328" y="868680"/>
            <a:ext cx="1600200" cy="12344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196328" y="868680"/>
            <a:ext cx="16002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196328" y="96012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7196328" y="160020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Max IMSIs per SIM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65760" y="2331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</a:rPr>
              <a:t>How we achieve &lt; 15ms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36576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9377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Index-only B-tree seek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49377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imsi2device.imsi is a PK — single-page lookup, no full-table scan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54880" y="274320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882896" y="278892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Near 100% cache hit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882896" y="304495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~80MB index fits entirely in PostgreSQL shared_buffers at steady state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36576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49377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Async C++ Drogon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49377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Non-blocking I/O with coroutines; zero context-switching overhead per request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54880" y="3703320"/>
            <a:ext cx="4023360" cy="804672"/>
          </a:xfrm>
          <a:prstGeom prst="rect">
            <a:avLst/>
          </a:prstGeom>
          <a:solidFill>
            <a:srgbClr val="172055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4882896" y="374904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Read replica isolation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882896" y="4005072"/>
            <a:ext cx="3749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EA8E8"/>
                </a:solidFill>
              </a:rPr>
              <a:t>Lookup never competes with write transactions on the primary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RADIUS Hot-Path Flow (Happy Path)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2860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aaa-radius-server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07442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46888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aaa-lookup-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service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(C++, port 8081)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1470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5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709160" y="100584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Read Replica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(PostgreSQL)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554980" y="1737360"/>
            <a:ext cx="0" cy="2926080"/>
          </a:xfrm>
          <a:prstGeom prst="line">
            <a:avLst/>
          </a:prstGeom>
          <a:noFill/>
          <a:ln w="635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1074420" y="192024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186684" y="179222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20140" y="162763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GET /lookup?imsi=278773000002002&amp;apn=internet.op.com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314700" y="2423160"/>
            <a:ext cx="2240280" cy="0"/>
          </a:xfrm>
          <a:prstGeom prst="line">
            <a:avLst/>
          </a:prstGeom>
          <a:noFill/>
          <a:ln w="190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426964" y="22951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75B6"/>
                </a:solidFill>
              </a:rPr>
              <a:t>▶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360420" y="21305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SELECT ... WHERE imsi = $1  (index seek)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14700" y="28803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259836" y="27523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360420" y="25877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Row: static_ip = 100.65.120.5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1074420" y="3337560"/>
            <a:ext cx="2240280" cy="0"/>
          </a:xfrm>
          <a:prstGeom prst="line">
            <a:avLst/>
          </a:prstGeom>
          <a:noFill/>
          <a:ln w="19050">
            <a:solidFill>
              <a:srgbClr val="2ECC8C"/>
            </a:solidFill>
            <a:prstDash val="dash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019556" y="3209544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ECC8C"/>
                </a:solidFill>
              </a:rPr>
              <a:t>◀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20140" y="30449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2E75B6"/>
                </a:solidFill>
              </a:rPr>
              <a:t>200 OK  {"static_ip": "100.65.120.5"}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83680" y="9601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Possible Outcomes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583680" y="1280160"/>
            <a:ext cx="2286000" cy="5486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583680" y="128016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200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086600" y="1280160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Access-Accept + Framed-IP-Address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0" y="1938528"/>
            <a:ext cx="2286000" cy="548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6583680" y="1938528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403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086600" y="1938528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Access-Reject (suspended)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583680" y="2596896"/>
            <a:ext cx="2286000" cy="54864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583680" y="2596896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086600" y="2596896"/>
            <a:ext cx="1783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Triggers Stage 2 first-connection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solidFill>
            <a:srgbClr val="EEF3FB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583680" y="33101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SLA: p99 &lt; 15ms end-to-end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Steady-state: every Access-Request handled entirely by aaa-lookup-service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Two-Stage First-Connection Allocation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4023360" cy="16002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005840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00584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65760" y="129844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aaa-lookup-service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5760" y="1627632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/lookup?imsi={imsi}&amp;apn={apn}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Queries READ REPLICA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IMSI not found in imsi2device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404 {"error": "not_found"}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65760" y="263347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5A623"/>
                </a:solidFill>
              </a:rPr>
              <a:t>▼  aaa-radius-server falls through to Stage 2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74320" y="2944368"/>
            <a:ext cx="4023360" cy="1920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65760" y="2990088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" y="2990088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STAGE 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65760" y="3282696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subscriber-profile-api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5760" y="361188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 {imsi, apn, imei}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Idempotency check: IMSI already exists?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Match range config (f_imsi &lt;= $imsi &lt;= t_imsi)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Claim IP:  DELETE FROM ip_pool_available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FOR UPDATE SKIP LOCKED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INSERT profile + IMSI + IP  (atomic COMMIT)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63440" y="96012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5B6"/>
                </a:solidFill>
              </a:rPr>
              <a:t>Stage 2 Outcomes  (subscriber-profile-api)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63440" y="1261872"/>
            <a:ext cx="4114800" cy="868680"/>
          </a:xfrm>
          <a:prstGeom prst="rect">
            <a:avLst/>
          </a:prstGeom>
          <a:solidFill>
            <a:srgbClr val="E8F5E9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663440" y="1261872"/>
            <a:ext cx="54864" cy="86868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773168" y="130759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IP Allocated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773168" y="156362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subscriber-profile-api creates device_id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(gen_random_uuid). static_ip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Access-Accept.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63440" y="2221992"/>
            <a:ext cx="4114800" cy="868680"/>
          </a:xfrm>
          <a:prstGeom prst="rect">
            <a:avLst/>
          </a:prstGeom>
          <a:solidFill>
            <a:srgbClr val="E3F2FD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663440" y="2221992"/>
            <a:ext cx="54864" cy="86868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4773168" y="226771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200 OK — Idempotent Return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4773168" y="252374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already existed in DB.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Same device_id &amp; IP returned.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Safe to retry — no duplicates.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663440" y="3182112"/>
            <a:ext cx="4114800" cy="868680"/>
          </a:xfrm>
          <a:prstGeom prst="rect">
            <a:avLst/>
          </a:prstGeom>
          <a:solidFill>
            <a:srgbClr val="FFF3E0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4663440" y="3182112"/>
            <a:ext cx="54864" cy="8686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773168" y="322783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404 — No Range Config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4773168" y="348386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IMSI not in any active range config.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aaa-radius-server issues Access-Reject.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63440" y="4142232"/>
            <a:ext cx="4114800" cy="868680"/>
          </a:xfrm>
          <a:prstGeom prst="rect">
            <a:avLst/>
          </a:prstGeom>
          <a:solidFill>
            <a:srgbClr val="FFEBEE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4663440" y="4142232"/>
            <a:ext cx="54864" cy="86868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4773168" y="4187952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</a:rPr>
              <a:t>503 — Pool Exhausted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4773168" y="4443984"/>
            <a:ext cx="3886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No available IPs remaining.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Create a new pool.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C4D6B"/>
                </a:solidFill>
              </a:rPr>
              <a:t>Alert fires automatically.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Unknown IMSI → auto-provisioned in a single atomic transaction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Multi-IMSI SIM: Zero-Touch Provisioning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51560"/>
            <a:ext cx="2286000" cy="3200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02920" y="1417320"/>
            <a:ext cx="1828800" cy="365760"/>
          </a:xfrm>
          <a:prstGeom prst="rect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74320" y="1874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SIM Card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11480" y="224028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1: IMSI 278770...042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solidFill>
            <a:srgbClr val="3C4D6B"/>
          </a:solidFill>
          <a:ln w="635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11480" y="2834640"/>
            <a:ext cx="20116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</a:rPr>
              <a:t>Slot 2: IMSI 278771...042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4320" y="36576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7EA8E8"/>
                </a:solidFill>
              </a:rPr>
              <a:t>ICCID: 8944...042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834640" y="1051560"/>
            <a:ext cx="1097280" cy="3200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324612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24612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88950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1 First Attach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8950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404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/first-connection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{imsi: "278770...042"}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069080" y="1051560"/>
            <a:ext cx="1097280" cy="3200400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448056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48056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5C9E"/>
                </a:solidFill>
              </a:rPr>
              <a:t>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12394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Compute Offset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12394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offset = 278770...042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    - 278770...000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42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03520" y="1051560"/>
            <a:ext cx="1097280" cy="3200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71500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71500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3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35838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Derive ICCID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5838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8944...000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+ 42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8944...042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537960" y="1051560"/>
            <a:ext cx="1097280" cy="320040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694944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94944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59282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Atomic Transaction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9282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 per slot (imsi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1 IP card (iccid mode)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slots INSERTed, 1 COMMIT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772400" y="1051560"/>
            <a:ext cx="1097280" cy="3200400"/>
          </a:xfrm>
          <a:prstGeom prst="rect">
            <a:avLst/>
          </a:prstGeom>
          <a:solidFill>
            <a:srgbClr val="28A870"/>
          </a:solidFill>
          <a:ln w="12700">
            <a:solidFill>
              <a:srgbClr val="28A87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8183880" y="1115568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183880" y="11155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8A870"/>
                </a:solidFill>
              </a:rPr>
              <a:t>5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827264" y="1463040"/>
            <a:ext cx="987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Slot 2 Connects Later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827264" y="1975104"/>
            <a:ext cx="98755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/lookup → 200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(pre-provisioned!)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Stage 2 never runs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74320" y="4434840"/>
            <a:ext cx="8595360" cy="475488"/>
          </a:xfrm>
          <a:prstGeom prst="rect">
            <a:avLst/>
          </a:prstGeom>
          <a:solidFill>
            <a:srgbClr val="1E2761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457200" y="443484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Key: All siblings provisioned in ONE transaction (thundering herd protection). imsi mode → IP per slot. iccid mode → 1 shared IP per card.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274320" y="4434840"/>
            <a:ext cx="54864" cy="475488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All sibling slots pre-provisioned atomically — each from its own per-slot pool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Data Model: 9 PostgreSQL Tables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100584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SUBSCRIBER DATA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84048" y="1389888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device_profiles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84048" y="1627632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device_id (UUID)  |  One row per SIM card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74320" y="2011680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84048" y="2048256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imsi2device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048" y="2286000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imsi (15 digits)  |  One row per IMSI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74320" y="2670048"/>
            <a:ext cx="283464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84048" y="2706624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imsi_apn_ips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84048" y="2944368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IMSI-level IP assignments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274320" y="3328416"/>
            <a:ext cx="283464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84048" y="3364992"/>
            <a:ext cx="26151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device_apn_ips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84048" y="3602736"/>
            <a:ext cx="26151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Card-level IP assignments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33756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IP POOLS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33756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44728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44728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pool_id (UUID)  |  Pool definition (CIDR, bounds)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33756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44728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ip_pool_available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44728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(pool_id, ip)  |  Available IP work-queue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217920" y="100584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</a:rPr>
              <a:t>RANGE CONFIGS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17920" y="135331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327648" y="1389888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imsi_range_configs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327648" y="1627632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IMSI ranges for auto-prov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217920" y="2011680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327648" y="2048256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iccid_range_configs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327648" y="2286000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Multi-IMSI SIM parent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2670048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327648" y="2706624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range_config_apn_pools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327648" y="2944368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id (BIGINT)  |  Per-APN pool overrides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217920" y="3328416"/>
            <a:ext cx="2651760" cy="566928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6327648" y="3364992"/>
            <a:ext cx="24323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bulk_jobs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327648" y="3602736"/>
            <a:ext cx="24323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PK: job_id (UUID)  |  Async bulk job tracking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74320" y="4023360"/>
            <a:ext cx="8595360" cy="86868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457200" y="406908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ip_resolution modes: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182880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182880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182880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IMSI, all APNs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1188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361188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imsi_apn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61188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IMSI per APN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39496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39496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539496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card, all APNs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178040" y="4069080"/>
            <a:ext cx="1645920" cy="749808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53" name="Text 51"/>
          <p:cNvSpPr/>
          <p:nvPr/>
        </p:nvSpPr>
        <p:spPr>
          <a:xfrm>
            <a:off x="7178040" y="4096512"/>
            <a:ext cx="1645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iccid_apn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78040" y="43891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ADCFC"/>
                </a:solidFill>
              </a:rPr>
              <a:t>IP per card per APN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Three logical groups — subscriber data, IP pools, and range configurations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subscriber-profile-api: REST API Surface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27432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Subscriber Profiles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432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7432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7432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36576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/v1/profiles?iccid={}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7432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6576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/v1/profiles/{id}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27614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/v1/profiles/{id}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320040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IMSI Operations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20040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29184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/v1/profiles/{id}/imsis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0040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/v1/profiles/{id}/imsis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29184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.../imsis/{imsi}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29184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.../imsis/{imsi}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6126480" y="10058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IP Pools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126480" y="135331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217920" y="1371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/v1/pools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6126480" y="170078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17920" y="171907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/v1/pools/{id}/stats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126480" y="204825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6217920" y="206654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PATCH /v1/pools/{id}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126480" y="239572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217920" y="241401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DELETE /v1/pools/{id}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solidFill>
            <a:srgbClr val="1A5C9E"/>
          </a:solidFill>
          <a:ln w="12700">
            <a:solidFill>
              <a:srgbClr val="1A5C9E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27432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Range Configs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27432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36576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/v1/range-configs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7432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6576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GET/POST/DELETE .../apn-pools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7432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6576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/v1/iccid-range-configs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27432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6576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.../imsi-slots (multi-IMSI)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320040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First-Connection</a:t>
            </a:r>
            <a:endParaRPr lang="en-US" sz="1050" dirty="0"/>
          </a:p>
        </p:txBody>
      </p:sp>
      <p:sp>
        <p:nvSpPr>
          <p:cNvPr id="49" name="Shape 47"/>
          <p:cNvSpPr/>
          <p:nvPr/>
        </p:nvSpPr>
        <p:spPr>
          <a:xfrm>
            <a:off x="320040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329184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/v1/first-connection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320040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329184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Idempotent allocation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0040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329184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Returns device_id + IP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0040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29184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503 if pool exhausted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126480" y="297180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Bulk &amp; Jobs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126480" y="3319272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6217920" y="33375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(JSON)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6126480" y="3666744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6217920" y="368503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/v1/profiles/bulk (CSV)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6126480" y="4014216"/>
            <a:ext cx="2743200" cy="310896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6217920" y="403250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/v1/jobs/{job_id}</a:t>
            </a:r>
            <a:endParaRPr lang="en-US" sz="950" dirty="0"/>
          </a:p>
        </p:txBody>
      </p:sp>
      <p:sp>
        <p:nvSpPr>
          <p:cNvPr id="65" name="Shape 63"/>
          <p:cNvSpPr/>
          <p:nvPr/>
        </p:nvSpPr>
        <p:spPr>
          <a:xfrm>
            <a:off x="6126480" y="4361688"/>
            <a:ext cx="2743200" cy="310896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6217920" y="437997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queued / processing / done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Full lifecycle management with JWT authentication (OAuth 2.0 Bearer)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Bulk Provisioning: Async Job Processing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1920240" cy="19202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9728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09728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75B6"/>
                </a:solidFill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4747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Submit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4747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POST /v1/profiles/bulk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JSON array or CSV file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(up to 100K profiles)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19456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377440" y="1005840"/>
            <a:ext cx="1920240" cy="192024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20040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20040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55A8A"/>
                </a:solidFill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45059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202 Accepted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245059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Returns job_id immediately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No waiting — fully async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status_url provided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29768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480560" y="1005840"/>
            <a:ext cx="1920240" cy="192024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30352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30352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3D60"/>
                </a:solidFill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5371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Thread Pool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5371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BULK_WORKER_THREADS (default 2)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Processes in batches of 1,000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INSERT ON CONFLICT (upsert)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400800" y="17830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75B6"/>
                </a:solidFill>
              </a:rPr>
              <a:t>→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583680" y="1005840"/>
            <a:ext cx="1920240" cy="1920240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7406640" y="1078992"/>
            <a:ext cx="274320" cy="2743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406640" y="10789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ECC8C"/>
                </a:solidFill>
              </a:rPr>
              <a:t>4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656832" y="1426464"/>
            <a:ext cx="17739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Poll Status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56832" y="1755648"/>
            <a:ext cx="177393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GET /v1/jobs/{job_id}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queued → processing → completed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CADCFC"/>
                </a:solidFill>
              </a:rPr>
              <a:t>processed + failed + errors[]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74320" y="3127248"/>
            <a:ext cx="4114800" cy="169164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274320" y="3127248"/>
            <a:ext cx="54864" cy="16916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02336" y="3200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Error Handling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02336" y="3520440"/>
            <a:ext cx="3886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Failed rows do not abort the job — errors are accumulated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Each error contains: row number, field, message, bad value</a:t>
            </a:r>
            <a:endParaRPr lang="en-US" sz="11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C4D6B"/>
                </a:solidFill>
              </a:rPr>
              <a:t>Job completes with processed=N, failed=M, errors=[...]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572000" y="3127248"/>
            <a:ext cx="4297680" cy="16916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4663440" y="3200400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EA8E8"/>
                </a:solidFill>
              </a:rPr>
              <a:t>Example response (GET /v1/jobs/{id})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663440" y="35112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{"job_id": "abc123",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4663440" y="36941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"status": "completed",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663440" y="38770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"processed": 4997,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663440" y="405993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"failed": 3,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4663440" y="424281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"errors": [{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663440" y="442569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"row": 42, "field": "imsi",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4663440" y="460857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 "message": "Must be 15 digits"}]}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Up to 100,000 profiles per job — JSON or CSV, never blocks the API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Observability &amp; Monitoring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Key Prometheus Metrics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58521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097280"/>
                <a:gridCol w="219456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Metric Name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Description</a:t>
                      </a:r>
                      <a:endParaRPr lang="en-US" sz="10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lookup_latency_ms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p50/p95/p99 per result label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lookup_result_total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resolved / not_found / suspended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first_connection_total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allocated / reused / pool_exhausted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pool_exhausted_total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Counter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 pool_id — alert if rate &gt; 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bulk_job_duration_seconds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End-to-end bulk job time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api_request_duration_ms</a:t>
                      </a:r>
                      <a:endParaRPr lang="en-US" sz="9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Histogram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endpoints by method+path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B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6217920" y="96012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</a:rPr>
              <a:t>Alerting Rules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17920" y="128016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686800" y="128016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6309360" y="131673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p99 Latency High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9360" y="157276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15ms for 2+ min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6217920" y="205740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686800" y="205740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309360" y="209397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Pool Exhausted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309360" y="23500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rate &gt; 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6217920" y="283464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8686800" y="2834640"/>
            <a:ext cx="182880" cy="6858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6309360" y="287121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Not-Found Spike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93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&gt; 5x baseline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6217920" y="3611880"/>
            <a:ext cx="2651760" cy="68580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1" name="Shape 18"/>
          <p:cNvSpPr/>
          <p:nvPr/>
        </p:nvSpPr>
        <p:spPr>
          <a:xfrm>
            <a:off x="8686800" y="3611880"/>
            <a:ext cx="182880" cy="685800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309360" y="3648456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761"/>
                </a:solidFill>
              </a:rPr>
              <a:t>DB Primary Down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309360" y="39044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Condition: connection lost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274320" y="37033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Structured JSON Logging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274320" y="4023360"/>
            <a:ext cx="8595360" cy="841248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26" name="Text 23"/>
          <p:cNvSpPr/>
          <p:nvPr/>
        </p:nvSpPr>
        <p:spPr>
          <a:xfrm>
            <a:off x="411480" y="4114800"/>
            <a:ext cx="8321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"ts":"2026-03-13T14:00:00Z", "imsi_hash":"278773..", "apn":"internet.op.com", "result":"resolved", "latency_ms":2.4, "ip_resolution":"imsi" }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411480" y="4663440"/>
            <a:ext cx="8321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F5A623"/>
                </a:solidFill>
              </a:rPr>
              <a:t>Note: Raw IMSI is NEVER logged — SHA-256(imsi)[0:8] is used instead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Prometheus metrics, structured JSON logs, Grafana dashboards, auto-alerting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Kubernetes Deployment Architecture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8595360" cy="3794760"/>
          </a:xfrm>
          <a:prstGeom prst="rect">
            <a:avLst/>
          </a:prstGeom>
          <a:solidFill>
            <a:srgbClr val="F8FAFF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11480" y="10058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E75B6"/>
                </a:solidFill>
              </a:rPr>
              <a:t>aaa-platform  (Kubernetes Namespace)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57200" y="1389888"/>
            <a:ext cx="1920240" cy="91440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45720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aaa-lookup-service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(C++, 3-6 replicas)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8081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560320" y="1389888"/>
            <a:ext cx="1920240" cy="914400"/>
          </a:xfrm>
          <a:prstGeom prst="rect">
            <a:avLst/>
          </a:prstGeom>
          <a:solidFill>
            <a:srgbClr val="155A8A"/>
          </a:solidFill>
          <a:ln w="12700">
            <a:solidFill>
              <a:srgbClr val="155A8A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56032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subscriber-profile-api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(Python, 2-4 replicas)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6032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8080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389888"/>
            <a:ext cx="1920240" cy="914400"/>
          </a:xfrm>
          <a:prstGeom prst="rect">
            <a:avLst/>
          </a:prstGeom>
          <a:solidFill>
            <a:srgbClr val="0D3D60"/>
          </a:solidFill>
          <a:ln w="12700">
            <a:solidFill>
              <a:srgbClr val="0D3D60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66344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aaa-management-ui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(React, 1-2 replicas)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66344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80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766560" y="1389888"/>
            <a:ext cx="1920240" cy="914400"/>
          </a:xfrm>
          <a:prstGeom prst="rect">
            <a:avLst/>
          </a:prstGeom>
          <a:solidFill>
            <a:srgbClr val="3C4D6B"/>
          </a:solidFill>
          <a:ln w="12700">
            <a:solidFill>
              <a:srgbClr val="3C4D6B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766560" y="141732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Prometheus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+ Grafana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0" y="201168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CADCFC"/>
                </a:solidFill>
              </a:rPr>
              <a:t>port 9090/3000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141732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520440" y="2304288"/>
            <a:ext cx="0" cy="365760"/>
          </a:xfrm>
          <a:prstGeom prst="line">
            <a:avLst/>
          </a:prstGeom>
          <a:noFill/>
          <a:ln w="12700">
            <a:solidFill>
              <a:srgbClr val="2E75B6"/>
            </a:solidFill>
            <a:prstDash val="dash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57200" y="2670048"/>
            <a:ext cx="5029200" cy="914400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4864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PostgreSQL Primary (CNPG)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78308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RW (pooler)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01752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PgBouncer RO (pooler)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solidFill>
            <a:srgbClr val="1A3566"/>
          </a:solidFill>
          <a:ln w="635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4251960" y="2743200"/>
            <a:ext cx="1143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</a:rPr>
              <a:t>Read Replica(s)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7200" y="3794760"/>
            <a:ext cx="5029200" cy="640080"/>
          </a:xfrm>
          <a:prstGeom prst="rect">
            <a:avLst/>
          </a:prstGeom>
          <a:solidFill>
            <a:srgbClr val="EEF3FB"/>
          </a:solidFill>
          <a:ln w="6350">
            <a:solidFill>
              <a:srgbClr val="B0C4D8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02920" y="37947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nginx-ingress  |  lookup.aaa.localhost → :8081  |  provisioning.aaa.localhost → :8080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760720" y="1389888"/>
            <a:ext cx="3017520" cy="1600200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852160" y="14447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Helm Charts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852160" y="17647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aaa-platform (umbrella)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5852160" y="19933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aaa-database (CNPG)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852160" y="22219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aaa-lookup-service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852160" y="24505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subscriber-profile-api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5852160" y="2679192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 xml:space="preserve">  aaa-management-ui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760720" y="3090672"/>
            <a:ext cx="3017520" cy="1344168"/>
          </a:xfrm>
          <a:prstGeom prst="rect">
            <a:avLst/>
          </a:prstGeom>
          <a:solidFill>
            <a:srgbClr val="EEF3FB"/>
          </a:solidFill>
          <a:ln w="12700">
            <a:solidFill>
              <a:srgbClr val="B0C4D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5852160" y="31455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</a:rPr>
              <a:t>Storage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852160" y="349300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Dev: local-path (k3d) (5 Gi)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852160" y="378561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Prod: gp3-encrypted (EBS) (100 Gi)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852160" y="4078224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Prometheus: local-path / gp3 (5-50 Gi)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Helm umbrella chart — all components in aaa-platform namespace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EF3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Developer Workflow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Bootstrap (first time):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74320" y="129844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65760" y="133502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bootstrap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194560" y="133502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cluster-up + hosts + build-all + push-all + deploy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" y="180136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" y="183794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status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194560" y="183794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Show all pod statuses in aaa-platform namespace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" y="2304288"/>
            <a:ext cx="4572000" cy="438912"/>
          </a:xfrm>
          <a:prstGeom prst="rect">
            <a:avLst/>
          </a:prstGeom>
          <a:solidFill>
            <a:srgbClr val="1E2761"/>
          </a:solidFill>
          <a:ln w="635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65760" y="2340864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194560" y="2340864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Run 11-module regression suite as K8s Job (~15 min)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74320" y="28529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</a:rPr>
              <a:t>Port-Forward (local dev):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74320" y="3200400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84048" y="322783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port-forward-api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78608" y="322783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localhost:8080 (subscriber-profile-api)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84048" y="36576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port-forward-lookup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78608" y="3657600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localhost:8081 (aaa-lookup-service)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4059936"/>
            <a:ext cx="4572000" cy="365760"/>
          </a:xfrm>
          <a:prstGeom prst="rect">
            <a:avLst/>
          </a:prstGeom>
          <a:solidFill>
            <a:srgbClr val="EEF3FB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384048" y="4087368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port-forward-db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578608" y="4087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localhost:5432 (psql, DBeaver)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4489704"/>
            <a:ext cx="4572000" cy="365760"/>
          </a:xfrm>
          <a:prstGeom prst="rect">
            <a:avLst/>
          </a:prstGeom>
          <a:solidFill>
            <a:srgbClr val="FFFFFF"/>
          </a:solidFill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84048" y="4517136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port-forward-grafana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2578608" y="451713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C4D6B"/>
                </a:solidFill>
              </a:rPr>
              <a:t>→ localhost:3000 (admin/dev-grafana)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5120640" y="960120"/>
            <a:ext cx="3749040" cy="3886200"/>
          </a:xfrm>
          <a:prstGeom prst="rect">
            <a:avLst/>
          </a:prstGeom>
          <a:solidFill>
            <a:srgbClr val="EEF3FB"/>
          </a:solidFill>
          <a:ln w="1016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5120640" y="960120"/>
            <a:ext cx="3749040" cy="329184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166360" y="96012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Regression Test Suite (11 Modules)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30368" y="137160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test_01_pools.py — IP pool CRUD &amp; exhaustion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230368" y="171907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230368" y="175564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test_02_range_configs.py — IMSI range CRUD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230368" y="210312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5230368" y="213969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test_03/04/05 — Profiles A / B / C modes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30368" y="248716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/>
          <p:nvPr/>
        </p:nvSpPr>
        <p:spPr>
          <a:xfrm>
            <a:off x="5230368" y="252374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test_06_imsi_ops.py — IMSI add/remove/update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230368" y="287121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/>
          <p:nvPr/>
        </p:nvSpPr>
        <p:spPr>
          <a:xfrm>
            <a:off x="5230368" y="2907792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test_07_dynamic_alloc.py — Two-stage flow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230368" y="3255264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230368" y="3291840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test_08_bulk.py — JSON + CSV bulk upsert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230368" y="3639312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/>
          <p:nvPr/>
        </p:nvSpPr>
        <p:spPr>
          <a:xfrm>
            <a:off x="5230368" y="367588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test_09_migration.py — MariaDB → PostgreSQL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230368" y="4023360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5" name="Text 43"/>
          <p:cNvSpPr/>
          <p:nvPr/>
        </p:nvSpPr>
        <p:spPr>
          <a:xfrm>
            <a:off x="5230368" y="4059936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test_10_errors.py — Validation &amp; conflicts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5230368" y="4407408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5230368" y="444398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E2761"/>
                </a:solidFill>
              </a:rPr>
              <a:t>test_11_performance.py — Latency &amp; stress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230368" y="4791456"/>
            <a:ext cx="3566160" cy="0"/>
          </a:xfrm>
          <a:prstGeom prst="line">
            <a:avLst/>
          </a:prstGeom>
          <a:noFill/>
          <a:ln w="635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777240"/>
            <a:ext cx="8412480" cy="347472"/>
          </a:xfrm>
          <a:prstGeom prst="rect">
            <a:avLst/>
          </a:prstGeom>
          <a:noFill/>
          <a:ln/>
        </p:spPr>
        <p:txBody>
          <a:bodyPr wrap="square" t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2E75B6"/>
                </a:solidFill>
              </a:rPr>
              <a:t>Makefile-driven local development with k3d + hot-reload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0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Auto-Allocation Scenarios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66560" y="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A8E8"/>
                </a:solidFill>
              </a:rPr>
              <a:t>POST /v1/first-connection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164592" y="749808"/>
            <a:ext cx="347472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92024" y="74980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#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12064" y="749808"/>
            <a:ext cx="141732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39496" y="74980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SIM type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2938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95681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Mode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35224" y="749808"/>
            <a:ext cx="10058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962656" y="74980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APN catalog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1064" y="749808"/>
            <a:ext cx="658368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968496" y="74980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IPs / SIM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599432" y="749808"/>
            <a:ext cx="137160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4626864" y="74980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Config steps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71032" y="749808"/>
            <a:ext cx="1691640" cy="329184"/>
          </a:xfrm>
          <a:prstGeom prst="rect">
            <a:avLst/>
          </a:prstGeom>
          <a:solidFill>
            <a:srgbClr val="1E2761"/>
          </a:solidFill>
          <a:ln w="381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98464" y="74980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First connect provisions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64592" y="1078992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192024" y="107899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S1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12064" y="1078992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39496" y="107899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192938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195681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35224" y="1078992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962656" y="107899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941064" y="1078992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968496" y="107899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599432" y="1078992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626864" y="107899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971032" y="1078992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5998464" y="107899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imsi_apn_ips (apn=NULL)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164592" y="1408176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192024" y="140817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S2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12064" y="1408176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39496" y="140817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192938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195681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imsi_apn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935224" y="1408176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2962656" y="140817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3941064" y="1408176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3968496" y="140817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99432" y="1408176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4626864" y="140817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971032" y="1408176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5998464" y="140817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imsi_apn_ips per APN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164592" y="1737360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192024" y="173736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S3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12064" y="1737360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0" name="Text 48"/>
          <p:cNvSpPr/>
          <p:nvPr/>
        </p:nvSpPr>
        <p:spPr>
          <a:xfrm>
            <a:off x="539496" y="173736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192938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2" name="Text 50"/>
          <p:cNvSpPr/>
          <p:nvPr/>
        </p:nvSpPr>
        <p:spPr>
          <a:xfrm>
            <a:off x="195681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2935224" y="1737360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/>
          <p:nvPr/>
        </p:nvSpPr>
        <p:spPr>
          <a:xfrm>
            <a:off x="2962656" y="173736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3941064" y="1737360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6" name="Text 54"/>
          <p:cNvSpPr/>
          <p:nvPr/>
        </p:nvSpPr>
        <p:spPr>
          <a:xfrm>
            <a:off x="3968496" y="173736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4599432" y="1737360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4626864" y="173736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pool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5971032" y="1737360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/>
          <p:nvPr/>
        </p:nvSpPr>
        <p:spPr>
          <a:xfrm>
            <a:off x="5998464" y="173736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→ device_apn_ips (apn=NULL)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164592" y="2066544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/>
          <p:nvPr/>
        </p:nvSpPr>
        <p:spPr>
          <a:xfrm>
            <a:off x="192024" y="2066544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S4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512064" y="2066544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4" name="Text 62"/>
          <p:cNvSpPr/>
          <p:nvPr/>
        </p:nvSpPr>
        <p:spPr>
          <a:xfrm>
            <a:off x="539496" y="206654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Single-IMSI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192938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6" name="Text 64"/>
          <p:cNvSpPr/>
          <p:nvPr/>
        </p:nvSpPr>
        <p:spPr>
          <a:xfrm>
            <a:off x="195681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75B6"/>
                </a:solidFill>
              </a:rPr>
              <a:t>iccid_apn</a:t>
            </a:r>
            <a:endParaRPr lang="en-US" sz="850" dirty="0"/>
          </a:p>
        </p:txBody>
      </p:sp>
      <p:sp>
        <p:nvSpPr>
          <p:cNvPr id="67" name="Shape 65"/>
          <p:cNvSpPr/>
          <p:nvPr/>
        </p:nvSpPr>
        <p:spPr>
          <a:xfrm>
            <a:off x="2935224" y="2066544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68" name="Text 66"/>
          <p:cNvSpPr/>
          <p:nvPr/>
        </p:nvSpPr>
        <p:spPr>
          <a:xfrm>
            <a:off x="2962656" y="2066544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69" name="Shape 67"/>
          <p:cNvSpPr/>
          <p:nvPr/>
        </p:nvSpPr>
        <p:spPr>
          <a:xfrm>
            <a:off x="3941064" y="2066544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0" name="Text 68"/>
          <p:cNvSpPr/>
          <p:nvPr/>
        </p:nvSpPr>
        <p:spPr>
          <a:xfrm>
            <a:off x="3968496" y="2066544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599432" y="2066544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2" name="Text 70"/>
          <p:cNvSpPr/>
          <p:nvPr/>
        </p:nvSpPr>
        <p:spPr>
          <a:xfrm>
            <a:off x="4626864" y="2066544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range-config + apn-pools (×N)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5971032" y="2066544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4" name="Text 72"/>
          <p:cNvSpPr/>
          <p:nvPr/>
        </p:nvSpPr>
        <p:spPr>
          <a:xfrm>
            <a:off x="5998464" y="2066544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→ device_apn_ips per APN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164592" y="2395728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6" name="Text 74"/>
          <p:cNvSpPr/>
          <p:nvPr/>
        </p:nvSpPr>
        <p:spPr>
          <a:xfrm>
            <a:off x="192024" y="2395728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M1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12064" y="2395728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78" name="Text 76"/>
          <p:cNvSpPr/>
          <p:nvPr/>
        </p:nvSpPr>
        <p:spPr>
          <a:xfrm>
            <a:off x="539496" y="2395728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192938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/>
          <p:nvPr/>
        </p:nvSpPr>
        <p:spPr>
          <a:xfrm>
            <a:off x="195681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2935224" y="2395728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2" name="Text 80"/>
          <p:cNvSpPr/>
          <p:nvPr/>
        </p:nvSpPr>
        <p:spPr>
          <a:xfrm>
            <a:off x="2962656" y="2395728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3941064" y="2395728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4" name="Text 82"/>
          <p:cNvSpPr/>
          <p:nvPr/>
        </p:nvSpPr>
        <p:spPr>
          <a:xfrm>
            <a:off x="3968496" y="2395728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4599432" y="2395728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6" name="Text 84"/>
          <p:cNvSpPr/>
          <p:nvPr/>
        </p:nvSpPr>
        <p:spPr>
          <a:xfrm>
            <a:off x="4626864" y="2395728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(per-slot pools opt.)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5971032" y="2395728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88" name="Text 86"/>
          <p:cNvSpPr/>
          <p:nvPr/>
        </p:nvSpPr>
        <p:spPr>
          <a:xfrm>
            <a:off x="5998464" y="2395728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 IPs — 1 per slot, all in 1 COMMIT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164592" y="2724912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0" name="Text 88"/>
          <p:cNvSpPr/>
          <p:nvPr/>
        </p:nvSpPr>
        <p:spPr>
          <a:xfrm>
            <a:off x="192024" y="2724912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M2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512064" y="2724912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2" name="Text 90"/>
          <p:cNvSpPr/>
          <p:nvPr/>
        </p:nvSpPr>
        <p:spPr>
          <a:xfrm>
            <a:off x="539496" y="2724912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192938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4" name="Text 92"/>
          <p:cNvSpPr/>
          <p:nvPr/>
        </p:nvSpPr>
        <p:spPr>
          <a:xfrm>
            <a:off x="195681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imsi_apn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2935224" y="2724912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6" name="Text 94"/>
          <p:cNvSpPr/>
          <p:nvPr/>
        </p:nvSpPr>
        <p:spPr>
          <a:xfrm>
            <a:off x="2962656" y="2724912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3941064" y="2724912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98" name="Text 96"/>
          <p:cNvSpPr/>
          <p:nvPr/>
        </p:nvSpPr>
        <p:spPr>
          <a:xfrm>
            <a:off x="3968496" y="2724912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M×N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4599432" y="2724912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0" name="Text 98"/>
          <p:cNvSpPr/>
          <p:nvPr/>
        </p:nvSpPr>
        <p:spPr>
          <a:xfrm>
            <a:off x="4626864" y="2724912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 on each slot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5971032" y="2724912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2" name="Text 100"/>
          <p:cNvSpPr/>
          <p:nvPr/>
        </p:nvSpPr>
        <p:spPr>
          <a:xfrm>
            <a:off x="5998464" y="2724912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M×N IPs — per-slot per-APN, 1 COMMIT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164592" y="3054096"/>
            <a:ext cx="347472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4" name="Text 102"/>
          <p:cNvSpPr/>
          <p:nvPr/>
        </p:nvSpPr>
        <p:spPr>
          <a:xfrm>
            <a:off x="192024" y="3054096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M3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512064" y="3054096"/>
            <a:ext cx="141732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6" name="Text 104"/>
          <p:cNvSpPr/>
          <p:nvPr/>
        </p:nvSpPr>
        <p:spPr>
          <a:xfrm>
            <a:off x="539496" y="3054096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07" name="Shape 105"/>
          <p:cNvSpPr/>
          <p:nvPr/>
        </p:nvSpPr>
        <p:spPr>
          <a:xfrm>
            <a:off x="192938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08" name="Text 106"/>
          <p:cNvSpPr/>
          <p:nvPr/>
        </p:nvSpPr>
        <p:spPr>
          <a:xfrm>
            <a:off x="195681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</a:t>
            </a:r>
            <a:endParaRPr lang="en-US" sz="850" dirty="0"/>
          </a:p>
        </p:txBody>
      </p:sp>
      <p:sp>
        <p:nvSpPr>
          <p:cNvPr id="109" name="Shape 107"/>
          <p:cNvSpPr/>
          <p:nvPr/>
        </p:nvSpPr>
        <p:spPr>
          <a:xfrm>
            <a:off x="2935224" y="3054096"/>
            <a:ext cx="10058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0" name="Text 108"/>
          <p:cNvSpPr/>
          <p:nvPr/>
        </p:nvSpPr>
        <p:spPr>
          <a:xfrm>
            <a:off x="2962656" y="3054096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—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3941064" y="3054096"/>
            <a:ext cx="658368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2" name="Text 110"/>
          <p:cNvSpPr/>
          <p:nvPr/>
        </p:nvSpPr>
        <p:spPr>
          <a:xfrm>
            <a:off x="3968496" y="305409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1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4599432" y="3054096"/>
            <a:ext cx="137160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4" name="Text 112"/>
          <p:cNvSpPr/>
          <p:nvPr/>
        </p:nvSpPr>
        <p:spPr>
          <a:xfrm>
            <a:off x="4626864" y="3054096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5971032" y="3054096"/>
            <a:ext cx="1691640" cy="329184"/>
          </a:xfrm>
          <a:prstGeom prst="rect">
            <a:avLst/>
          </a:prstGeom>
          <a:solidFill>
            <a:srgbClr val="EFF3FB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6" name="Text 114"/>
          <p:cNvSpPr/>
          <p:nvPr/>
        </p:nvSpPr>
        <p:spPr>
          <a:xfrm>
            <a:off x="5998464" y="3054096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1 IP shared — all slots, 1 COMMIT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164592" y="3383280"/>
            <a:ext cx="347472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18" name="Text 116"/>
          <p:cNvSpPr/>
          <p:nvPr/>
        </p:nvSpPr>
        <p:spPr>
          <a:xfrm>
            <a:off x="192024" y="3383280"/>
            <a:ext cx="2926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2761"/>
                </a:solidFill>
              </a:rPr>
              <a:t>M4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512064" y="3383280"/>
            <a:ext cx="141732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0" name="Text 118"/>
          <p:cNvSpPr/>
          <p:nvPr/>
        </p:nvSpPr>
        <p:spPr>
          <a:xfrm>
            <a:off x="539496" y="33832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Multi-IMSI (M)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192938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2" name="Text 120"/>
          <p:cNvSpPr/>
          <p:nvPr/>
        </p:nvSpPr>
        <p:spPr>
          <a:xfrm>
            <a:off x="195681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C3F7"/>
                </a:solidFill>
              </a:rPr>
              <a:t>iccid_apn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2935224" y="3383280"/>
            <a:ext cx="10058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4" name="Text 122"/>
          <p:cNvSpPr/>
          <p:nvPr/>
        </p:nvSpPr>
        <p:spPr>
          <a:xfrm>
            <a:off x="2962656" y="3383280"/>
            <a:ext cx="9509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APNs</a:t>
            </a:r>
            <a:endParaRPr lang="en-US" sz="850" dirty="0"/>
          </a:p>
        </p:txBody>
      </p:sp>
      <p:sp>
        <p:nvSpPr>
          <p:cNvPr id="125" name="Shape 123"/>
          <p:cNvSpPr/>
          <p:nvPr/>
        </p:nvSpPr>
        <p:spPr>
          <a:xfrm>
            <a:off x="3941064" y="3383280"/>
            <a:ext cx="658368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6" name="Text 124"/>
          <p:cNvSpPr/>
          <p:nvPr/>
        </p:nvSpPr>
        <p:spPr>
          <a:xfrm>
            <a:off x="3968496" y="3383280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CC8C"/>
                </a:solidFill>
              </a:rPr>
              <a:t>N</a:t>
            </a:r>
            <a:endParaRPr lang="en-US" sz="850" dirty="0"/>
          </a:p>
        </p:txBody>
      </p:sp>
      <p:sp>
        <p:nvSpPr>
          <p:cNvPr id="127" name="Shape 125"/>
          <p:cNvSpPr/>
          <p:nvPr/>
        </p:nvSpPr>
        <p:spPr>
          <a:xfrm>
            <a:off x="4599432" y="3383280"/>
            <a:ext cx="137160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28" name="Text 126"/>
          <p:cNvSpPr/>
          <p:nvPr/>
        </p:nvSpPr>
        <p:spPr>
          <a:xfrm>
            <a:off x="4626864" y="3383280"/>
            <a:ext cx="1316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iccid-range + M slots + apn-pools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5971032" y="3383280"/>
            <a:ext cx="1691640" cy="329184"/>
          </a:xfrm>
          <a:prstGeom prst="rect">
            <a:avLst/>
          </a:prstGeom>
          <a:solidFill>
            <a:srgbClr val="FFFFFF"/>
          </a:solidFill>
          <a:ln w="3810">
            <a:solidFill>
              <a:srgbClr val="D0D8E8"/>
            </a:solidFill>
            <a:prstDash val="solid"/>
          </a:ln>
        </p:spPr>
        <p:txBody>
          <a:bodyPr/>
          <a:p/>
        </p:txBody>
      </p:sp>
      <p:sp>
        <p:nvSpPr>
          <p:cNvPr id="130" name="Text 128"/>
          <p:cNvSpPr/>
          <p:nvPr/>
        </p:nvSpPr>
        <p:spPr>
          <a:xfrm>
            <a:off x="5998464" y="3383280"/>
            <a:ext cx="1636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IPs shared card-level, 1 COMMIT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164592" y="3785616"/>
            <a:ext cx="8814816" cy="713232"/>
          </a:xfrm>
          <a:prstGeom prst="rect">
            <a:avLst/>
          </a:prstGeom>
          <a:solidFill>
            <a:srgbClr val="EEF3FB"/>
          </a:solidFill>
          <a:ln w="7620">
            <a:solidFill>
              <a:srgbClr val="2E75B6"/>
            </a:solidFill>
            <a:prstDash val="solid"/>
          </a:ln>
        </p:spPr>
        <p:txBody>
          <a:bodyPr/>
          <a:p/>
        </p:txBody>
      </p:sp>
      <p:sp>
        <p:nvSpPr>
          <p:cNvPr id="132" name="Text 130"/>
          <p:cNvSpPr/>
          <p:nvPr/>
        </p:nvSpPr>
        <p:spPr>
          <a:xfrm>
            <a:off x="256032" y="3803904"/>
            <a:ext cx="86319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N = APN entries in range_config_apn_pools  ·  M = active IMSI slots  ·  All scenarios are idempotent — repeat calls return existing IP with single read, no allocation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Pool resolution: APN override (range_config_apn_pools) → slot pool (imsi_range_configs) → parent pool (iccid_range_configs)  ·  M2 example: 2 slots × 2 APNs = 4 IPs per SIM in one COMMIT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761"/>
                </a:solidFill>
              </a:rPr>
              <a:t>Bulk provisioning: all 8 scenarios supported via POST /v1/profiles/bulk — supply static_ip/pool_id per IP entry for pre-provisioned, or omit for auto-allocation via range config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42050"/>
          </a:solidFill>
          <a:ln w="12700">
            <a:solidFill>
              <a:srgbClr val="142050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65760" y="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Key Takeaways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960120"/>
            <a:ext cx="4114800" cy="54864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40233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Real-Time Performance Guaranteed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233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Separated read/write paths ensure RADIUS authentication always stays below 15ms p99 — even as the subscriber base grows.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709160" y="96012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09160" y="960120"/>
            <a:ext cx="4114800" cy="54864"/>
          </a:xfrm>
          <a:prstGeom prst="rect">
            <a:avLst/>
          </a:prstGeom>
          <a:solidFill>
            <a:srgbClr val="2ECC8C"/>
          </a:solidFill>
          <a:ln w="12700">
            <a:solidFill>
              <a:srgbClr val="2ECC8C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837176" y="108813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Zero-Touch First-Connection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37176" y="146304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Unknown IMSIs are detected and auto-provisioned on first RADIUS attach. Multi-IMSI SIM cards get all slots provisioned atomically in a single transaction.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7432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74320" y="2880360"/>
            <a:ext cx="4114800" cy="54864"/>
          </a:xfrm>
          <a:prstGeom prst="rect">
            <a:avLst/>
          </a:prstGeom>
          <a:solidFill>
            <a:srgbClr val="7EA8E8"/>
          </a:solidFill>
          <a:ln w="12700">
            <a:solidFill>
              <a:srgbClr val="7EA8E8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0233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Cloud-Native from the Ground Up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0233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Kubernetes-native with Helm charts, CloudNativePG, PgBouncer, Prometheus, and Grafana. Scales independently per-region, per-service.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09160" y="2880360"/>
            <a:ext cx="4114800" cy="1737360"/>
          </a:xfrm>
          <a:prstGeom prst="rect">
            <a:avLst/>
          </a:prstGeom>
          <a:solidFill>
            <a:srgbClr val="172055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09160" y="2880360"/>
            <a:ext cx="411480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37176" y="30083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Enterprise-Scale Operations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837176" y="3383280"/>
            <a:ext cx="3840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EA8E8"/>
                </a:solidFill>
              </a:rPr>
              <a:t>Bulk provisioning of 100K profiles per job, async processing, per-row error accumulation, and full audit trail for compliance.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274320" y="4773168"/>
            <a:ext cx="8595360" cy="0"/>
          </a:xfrm>
          <a:prstGeom prst="line">
            <a:avLst/>
          </a:prstGeom>
          <a:noFill/>
          <a:ln w="6350">
            <a:solidFill>
              <a:srgbClr val="3C4D6B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274320" y="4809744"/>
            <a:ext cx="8595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FA1BD"/>
                </a:solidFill>
              </a:rPr>
              <a:t>aaa-cloud-native  |  Platform Engineering  |  March 2026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AAA Cloud-Native Platform</dc:title>
  <dc:subject>PptxGenJS Presentation</dc:subject>
  <dc:creator>Platform Engineering</dc:creator>
  <cp:lastModifiedBy>Platform Engineering</cp:lastModifiedBy>
  <cp:revision>1</cp:revision>
  <dcterms:created xsi:type="dcterms:W3CDTF">2026-03-15T15:39:26Z</dcterms:created>
  <dcterms:modified xsi:type="dcterms:W3CDTF">2026-03-15T15:39:26Z</dcterms:modified>
</cp:coreProperties>
</file>