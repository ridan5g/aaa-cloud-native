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077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4114800" cy="5692140"/>
          </a:xfrm>
          <a:prstGeom prst="rect">
            <a:avLst/>
          </a:prstGeom>
          <a:solidFill>
            <a:srgbClr val="172055">
              <a:alpha val="60000"/>
            </a:srgbClr>
          </a:solidFill>
          <a:ln w="12700">
            <a:solidFill>
              <a:srgbClr val="17205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583680" y="-274320"/>
            <a:ext cx="3200400" cy="5692140"/>
          </a:xfrm>
          <a:prstGeom prst="rect">
            <a:avLst/>
          </a:prstGeom>
          <a:solidFill>
            <a:srgbClr val="0D1844">
              <a:alpha val="60000"/>
            </a:srgbClr>
          </a:solidFill>
          <a:ln w="12700">
            <a:solidFill>
              <a:srgbClr val="0D184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365760"/>
            <a:ext cx="3200400" cy="237744"/>
          </a:xfrm>
          <a:prstGeom prst="roundRect">
            <a:avLst>
              <a:gd name="adj" fmla="val 50000"/>
            </a:avLst>
          </a:prstGeom>
          <a:solidFill>
            <a:srgbClr val="3C4D6B"/>
          </a:solidFill>
          <a:ln w="12700">
            <a:solidFill>
              <a:srgbClr val="3C4D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ADCFC"/>
                </a:solidFill>
              </a:rPr>
              <a:t>TELECOM  |  AAA  |  CLOUD-NATIVE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Cloud-Native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E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Subscriber Provisioning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7E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Real-Time RADIUS Authentication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7432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7432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&lt; 15ms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p99 Lookup SLA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19456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219456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100K+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Bulk Profiles/Job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657600"/>
            <a:ext cx="1737360" cy="822960"/>
          </a:xfrm>
          <a:prstGeom prst="rect">
            <a:avLst/>
          </a:prstGeom>
          <a:solidFill>
            <a:srgbClr val="142050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114800" y="3657600"/>
            <a:ext cx="17373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1148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Multi-IMSI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E8"/>
                </a:solidFill>
              </a:rPr>
              <a:t>Auto-Provisioning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914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C++17 / Drogon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074420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676656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Python / FastAPI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1348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6766560" y="2048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PostgreSQL 15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2208276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766560" y="2615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Kubernetes / Helm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2775204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766560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</a:rPr>
              <a:t>Prometheus / Grafana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3342132"/>
            <a:ext cx="7315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Challenge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93776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Speed vs. Scale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" y="1252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RADIUS must authenticate subscribers in &lt;15ms while serving millions of requests per day — but provisioning writes are slower and less frequent.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93776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Unknown IMSIs at First Attach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31272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Network equipment cannot predict when a new SIM activates. Operators need dynamic, zero-touch provisioning on first connection — no manual intervention.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882896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Multi-IMSI SIM Complexity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82896" y="125272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A single physical SIM card can carry up to 10 distinct IMSIs. Provisioning one slot must automatically provision all sibling slots in a single atomic step.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645920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82896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 Pool Race Conditions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82896" y="3127248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Concurrent first-connection events can race to claim the same IP address. A safe, lock-free allocation mechanism is critical for correctness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Solution: Separated Read &amp; Write Paths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One platform, two independent services optimized for their workloads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097280"/>
            <a:ext cx="0" cy="377190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5B6"/>
                </a:solidFill>
              </a:rPr>
              <a:t>READ PATH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aaa-lookup-service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75B6"/>
                </a:solidFill>
              </a:rPr>
              <a:t>C++17 / Drogon — Port 8081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Sub-15ms p99 RADIUS hot-path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Reads from local read-replica only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Single-query IMSI lookup (no joins cascade)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JWT RS256 verification with caching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3-6 replicas per region, co-located with RADIUS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Prometheus metrics: latency, result counters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5B6"/>
                </a:solidFill>
              </a:rPr>
              <a:t>WRITE PATH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subscriber-profile-api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75B6"/>
                </a:solidFill>
              </a:rPr>
              <a:t>Python 3.11 / FastAPI — Port 8080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Full subscriber lifecycle CRUD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First-connection dynamic allocation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Multi-IMSI atomic provisioning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Race-safe IP pool claiming (FOR UPDATE SKIP LOCKED)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Async bulk operations up to 100K profiles/job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C4D6B"/>
                </a:solidFill>
              </a:rPr>
              <a:t>Writes to primary; reads use primary for consistency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0020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&lt; 15ms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p99 Lookup Latency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39112" y="868680"/>
            <a:ext cx="1600200" cy="123444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2039112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039112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1-3ms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39112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p50 Typical Latency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58184" y="868680"/>
            <a:ext cx="1600200" cy="123444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3758184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758184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58184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Profiles per Bulk Job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77256" y="868680"/>
            <a:ext cx="1600200" cy="1234440"/>
          </a:xfrm>
          <a:prstGeom prst="rect">
            <a:avLst/>
          </a:prstGeom>
          <a:solidFill>
            <a:srgbClr val="114C75"/>
          </a:solidFill>
          <a:ln w="12700">
            <a:solidFill>
              <a:srgbClr val="114C7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477256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77256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253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77256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IPs per /24 Pool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96328" y="868680"/>
            <a:ext cx="1600200" cy="123444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7196328" y="868680"/>
            <a:ext cx="1600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7196328" y="960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96328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Max IMSIs per SIM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How we achieve &lt; 15ms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93776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Index-only B-tree seek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044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subscriber_imsis.imsi is a PK — single-page lookup, no full-table scan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882896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Near 100% cache hit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82896" y="3044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~80MB index fits entirely in PostgreSQL shared_buffers at steady state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93776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Async C++ Drogon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" y="4005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Non-blocking I/O with coroutines; zero context-switching overhead per request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4023360" cy="804672"/>
          </a:xfrm>
          <a:prstGeom prst="rect">
            <a:avLst/>
          </a:prstGeom>
          <a:solidFill>
            <a:srgbClr val="172055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4882896" y="3749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 replica isolation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82896" y="4005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E8"/>
                </a:solidFill>
              </a:rPr>
              <a:t>Lookup never competes with write transactions on the primary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RADIUS Hot-Path Flow (Happy Path)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040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Steady-state: every Access-Request handled entirely by aaa-lookup-service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FreeRADIUS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(rlm_rest)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7442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aaa-lookup-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(C++, port 8081)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470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16916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709160" y="1005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 Replica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(PostgreSQL)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54980" y="1737360"/>
            <a:ext cx="0" cy="2926080"/>
          </a:xfrm>
          <a:prstGeom prst="line">
            <a:avLst/>
          </a:prstGeom>
          <a:noFill/>
          <a:ln w="63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1074420" y="1920240"/>
            <a:ext cx="22402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186684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0140" y="19923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</a:rPr>
              <a:t>GET /lookup?imsi=278773000002002&amp;apn=internet.op.com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4700" y="2423160"/>
            <a:ext cx="224028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26964" y="22951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0420" y="2130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</a:rPr>
              <a:t>SELECT ... WHERE imsi = $1  (index seek)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4700" y="2880360"/>
            <a:ext cx="2240280" cy="0"/>
          </a:xfrm>
          <a:prstGeom prst="line">
            <a:avLst/>
          </a:prstGeom>
          <a:noFill/>
          <a:ln w="19050">
            <a:solidFill>
              <a:srgbClr val="2ECC8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3259836" y="27523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8C"/>
                </a:solidFill>
              </a:rPr>
              <a:t>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0420" y="25877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E75B6"/>
                </a:solidFill>
              </a:rPr>
              <a:t>Row: static_ip = 100.65.120.5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74420" y="3337560"/>
            <a:ext cx="2240280" cy="0"/>
          </a:xfrm>
          <a:prstGeom prst="line">
            <a:avLst/>
          </a:prstGeom>
          <a:noFill/>
          <a:ln w="19050">
            <a:solidFill>
              <a:srgbClr val="2ECC8C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1019556" y="32095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8C"/>
                </a:solidFill>
              </a:rPr>
              <a:t>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0140" y="30449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E75B6"/>
                </a:solidFill>
              </a:rPr>
              <a:t>200 OK  {"static_ip": "100.65.120.5"}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Possible Outcomes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280160"/>
            <a:ext cx="2286000" cy="54864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583680" y="1280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1280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Access-Accept + Framed-IP-Address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0" y="1938528"/>
            <a:ext cx="22860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6583680" y="1938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19385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Access-Reject (suspended)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0" y="2596896"/>
            <a:ext cx="2286000" cy="54864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583680" y="25968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25968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Triggers Stage 2 first-connection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SLA: p99 &lt; 15ms end-to-end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solidFill>
            <a:srgbClr val="EE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65836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SLA: p99 &lt; 15ms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Two-Stage First-Connection Allocation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33915" y="69494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Unknown IMSI → auto-provisioned in a single atomic transaction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aaa-lookup-service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/lookup?imsi={imsi}&amp;apn={apn}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Queries READ REPLICA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IMSI not found in subscriber_imsis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404 {"error": "not_found"}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</a:rPr>
              <a:t>▼  FreeRADIUS falls through to Stage 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944368"/>
            <a:ext cx="40233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65760" y="2990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282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subscriber-profile-api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611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/v1/first-connection {imsi, apn, imei}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Idempotency check: IMSI already exists?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Match range config (f_imsi &lt;= $imsi &lt;= t_imsi)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Claim IP:  DELETE FROM ip_pool_available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UPDATE SKIP LOCKED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INSERT profile + IMSI + IP  (atomic COMMIT)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</a:rPr>
              <a:t>Stage 2 Outcomes  </a:t>
            </a:r>
            <a:r>
              <a:rPr lang="en-US" sz="1000" b="1" dirty="0">
                <a:solidFill>
                  <a:srgbClr val="2E75B6"/>
                </a:solidFill>
              </a:rPr>
              <a:t>(subscriber-profile-api)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61872"/>
            <a:ext cx="411480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663440" y="1261872"/>
            <a:ext cx="54864" cy="86868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773168" y="13075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200 OK — IP Allocated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3168" y="156362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subscriber-profile-api creates device_id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(gen_random_uuid). static_ip returned.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FreeRADIUS issues Access-Accept.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221992"/>
            <a:ext cx="411480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663440" y="2221992"/>
            <a:ext cx="54864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773168" y="2267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200 OK — Idempotent Return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252374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IMSI already existed in DB.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Same device_id &amp; IP returned.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Safe to retry — no duplicates.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82112"/>
            <a:ext cx="411480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663440" y="3182112"/>
            <a:ext cx="54864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773168" y="32278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404 — No Range Config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348386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IMSI not in any active range config.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FreeRADIUS issues Access-Reject.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142232"/>
            <a:ext cx="4114800" cy="868680"/>
          </a:xfrm>
          <a:prstGeom prst="rect">
            <a:avLst/>
          </a:prstGeom>
          <a:solidFill>
            <a:srgbClr val="FFEBEE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4663440" y="4142232"/>
            <a:ext cx="54864" cy="8686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773168" y="4187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503 — Pool Exhausted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73168" y="444398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No available IPs remaining.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Create a new pool.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C4D6B"/>
                </a:solidFill>
              </a:rPr>
              <a:t>Alert fires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Multi-IMSI SIM: Zero-Touch Provisioning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One IP allocated per card; all sibling slots pre-provisioned in a single transaction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286000" cy="3200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828800" cy="3657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SIM Card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2011680" cy="475488"/>
          </a:xfrm>
          <a:prstGeom prst="rect">
            <a:avLst/>
          </a:prstGeom>
          <a:solidFill>
            <a:srgbClr val="3C4D6B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Slot 1: IMSI 278770...042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2011680" cy="475488"/>
          </a:xfrm>
          <a:prstGeom prst="rect">
            <a:avLst/>
          </a:prstGeom>
          <a:solidFill>
            <a:srgbClr val="3C4D6B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Slot 2: IMSI 278771...042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EA8E8"/>
                </a:solidFill>
              </a:rPr>
              <a:t>ICCID: 8944...042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1051560"/>
            <a:ext cx="1097280" cy="3200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324612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24612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950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 1 First Attach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950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 → 404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/first-connection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{imsi: "278770...042"}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69080" y="1051560"/>
            <a:ext cx="1097280" cy="320040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48056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48056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9E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2394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Compute Offset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2394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= 278770...042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- 278770...000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42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03520" y="1051560"/>
            <a:ext cx="1097280" cy="320040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571500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57150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A8A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5838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Derive ICCID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5838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8944...000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+ 42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8944...042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37960" y="1051560"/>
            <a:ext cx="1097280" cy="320040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694944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94944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C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9282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Atomic Transaction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9282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IP allocated from pool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 1 + Slot 2 both INSERTed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COMMIT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0" y="1051560"/>
            <a:ext cx="1097280" cy="3200400"/>
          </a:xfrm>
          <a:prstGeom prst="rect">
            <a:avLst/>
          </a:prstGeom>
          <a:solidFill>
            <a:srgbClr val="28A870"/>
          </a:solidFill>
          <a:ln w="12700">
            <a:solidFill>
              <a:srgbClr val="28A8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8183880" y="1115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818388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A870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27264" y="146304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 2 Connects Later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27264" y="1975104"/>
            <a:ext cx="9875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/lookup → 200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(pre-provisioned!)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never runs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Key: ONE IP allocated per physical card, regardless of IMSI count. All slots share the same IP address.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4434840"/>
            <a:ext cx="54864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Model: 8 PostgreSQL Tables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Three logical groups — subscriber data, IP pools, and range configurations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SUBSCRIBER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subscriber_profiles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device_id (UUID)  |  One row per SIM card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283464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84048" y="2048256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subscriber_imsis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imsi (15 digits)  |  One row per IMSI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84048" y="2706624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subscriber_apn_ips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9443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IMSI-level IP assignments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283464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84048" y="336499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subscriber_iccid_ips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6027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Card-level IP assignments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005840"/>
            <a:ext cx="2651760" cy="292608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33756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IP POOLS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35331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3447288" y="13898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ip_pools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47288" y="162763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pool_id (UUID)  |  Pool definition (CIDR, bounds)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011680"/>
            <a:ext cx="265176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3447288" y="20482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ip_pool_available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22860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(pool_id, ip)  |  Available IP work-queue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005840"/>
            <a:ext cx="2651760" cy="292608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21792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RANGE CONFIGS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35331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327648" y="13898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imsi_range_configs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1627632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IMSI ranges for auto-prov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011680"/>
            <a:ext cx="2651760" cy="566928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6327648" y="204825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iccid_range_configs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22860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id (BIGINT)  |  Multi-IMSI SIM parent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670048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6327648" y="270662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bulk_jobs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27648" y="29443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1BD"/>
                </a:solidFill>
              </a:rPr>
              <a:t>PK: job_id (UUID)  |  Async bulk job tracking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5720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ip_resolution modes: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2880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182880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2880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IMSI, all APNs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1188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361188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imsi_apn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1188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IMSI per APN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9496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539496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9496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card, all APNs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78040" y="4069080"/>
            <a:ext cx="1645920" cy="749808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7178040" y="4096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iccid_apn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7804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IP per card per APN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subscriber-profile-api: REST API Surface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Full lifecycle management with JWT authentication (OAuth 2.0 Bearer)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Subscriber Profiles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/v1/profiles/{id}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/v1/profiles?iccid={}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6576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/v1/profiles/{id}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576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/v1/profiles/{id}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292608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320040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IMSI Operations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2918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/v1/profiles/{id}/imsis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32918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/v1/profiles/{id}/imsis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329184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.../imsis/{imsi}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29184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.../imsis/{imsi}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005840"/>
            <a:ext cx="2743200" cy="292608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12648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IP Pools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135331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/v1/pools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170078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621792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/v1/pools/{id}/stats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204825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21792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/v1/pools/{id}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239572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621792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/v1/pools/{id}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971800"/>
            <a:ext cx="2743200" cy="292608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27432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Range Configs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36576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/v1/range-configs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36576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/v1/iccid-range-configs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36576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.../imsi-slots (multi-IMSI)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44"/>
          <p:cNvSpPr/>
          <p:nvPr/>
        </p:nvSpPr>
        <p:spPr>
          <a:xfrm>
            <a:off x="36576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 DELETE both types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0" y="2971800"/>
            <a:ext cx="2743200" cy="292608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320040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First-Connection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32918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/v1/first-connection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Text 50"/>
          <p:cNvSpPr/>
          <p:nvPr/>
        </p:nvSpPr>
        <p:spPr>
          <a:xfrm>
            <a:off x="329184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Idempotent allocation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329184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device_id + IP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54"/>
          <p:cNvSpPr/>
          <p:nvPr/>
        </p:nvSpPr>
        <p:spPr>
          <a:xfrm>
            <a:off x="329184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503 if pool exhausted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26480" y="2971800"/>
            <a:ext cx="27432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8" name="Text 56"/>
          <p:cNvSpPr/>
          <p:nvPr/>
        </p:nvSpPr>
        <p:spPr>
          <a:xfrm>
            <a:off x="6126480" y="2971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Bulk &amp; Jobs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26480" y="3319272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Text 58"/>
          <p:cNvSpPr/>
          <p:nvPr/>
        </p:nvSpPr>
        <p:spPr>
          <a:xfrm>
            <a:off x="62179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/v1/profiles/bulk (JSON)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26480" y="3666744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Text 60"/>
          <p:cNvSpPr/>
          <p:nvPr/>
        </p:nvSpPr>
        <p:spPr>
          <a:xfrm>
            <a:off x="621792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/v1/profiles/bulk (CSV)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26480" y="4014216"/>
            <a:ext cx="2743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Text 62"/>
          <p:cNvSpPr/>
          <p:nvPr/>
        </p:nvSpPr>
        <p:spPr>
          <a:xfrm>
            <a:off x="6217920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/v1/jobs/{job_id}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26480" y="4361688"/>
            <a:ext cx="2743200" cy="310896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6" name="Text 64"/>
          <p:cNvSpPr/>
          <p:nvPr/>
        </p:nvSpPr>
        <p:spPr>
          <a:xfrm>
            <a:off x="6217920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queued / processing / done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Bulk Provisioning: Async Job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Up to 100,000 profiles per job — JSON or CSV, never blocks the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920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109728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Submit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POST /v1/profiles/bulk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JSON array or CSV file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(up to 100K profiles)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7440" y="1005840"/>
            <a:ext cx="1920240" cy="192024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320040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20040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5A8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202 Accepted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Returns job_id immediately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No waiting — fully async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status_url provided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1005840"/>
            <a:ext cx="1920240" cy="192024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530352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530352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D60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5371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Thread Pool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5371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BULK_WORKER_THREADS (default 2)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Processes in batches of 1,000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INSERT ON CONFLICT (upsert)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1005840"/>
            <a:ext cx="1920240" cy="1920240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7406640" y="107899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740664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8C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56832" y="14264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Poll Status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56832" y="1755648"/>
            <a:ext cx="1773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GET /v1/jobs/{job_id}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queued → processing → completed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processed + failed + errors[]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127248"/>
            <a:ext cx="4114800" cy="169164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274320" y="3127248"/>
            <a:ext cx="54864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02336" y="3200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Error Handling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" y="35204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Failed rows do not abort the job — errors are accumulated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Each error contains: row number, field, message, bad value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C4D6B"/>
                </a:solidFill>
              </a:rPr>
              <a:t>Job completes with processed=N, failed=M, errors=[...]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127248"/>
            <a:ext cx="4297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4663440" y="3200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A8E8"/>
                </a:solidFill>
              </a:rPr>
              <a:t>Example response (GET /v1/jobs/{id})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3511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{"job_id": "abc123",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6941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"status": "completed",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3877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"processed": 4997,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"failed": 3,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4242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"errors": [{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44256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"row": 42, "field": "imsi",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46085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"message": "Must be 15 digits"}]}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Observability &amp;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Prometheus metrics, structured JSON logs, Grafana dashboards, auto-alerting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Prometheus Metrics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 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lookup_latency_ms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p50/p95/p99 per result 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lookup_result_total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/ not_found / suspended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first_connection_total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 / reused / pool_exhausted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pool_exhausted_total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pool_id — alert if rate &gt;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bulk_job_duration_seconds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bulk job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api_request_duration_ms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endpoints by method+path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Alerting Rules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8686800" y="1280160"/>
            <a:ext cx="182880" cy="6858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6309360" y="1316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p99 Latency High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0936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&gt; 15ms for 2+ min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6217920" y="205740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8686800" y="2057400"/>
            <a:ext cx="1828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6309360" y="2093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Pool Exhausted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30936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rate &gt; 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17920" y="283464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8686800" y="2834640"/>
            <a:ext cx="1828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6309360" y="28712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Not-Found Spike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0936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&gt; 5x baseline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17920" y="3611880"/>
            <a:ext cx="265176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8"/>
          <p:cNvSpPr/>
          <p:nvPr/>
        </p:nvSpPr>
        <p:spPr>
          <a:xfrm>
            <a:off x="8686800" y="3611880"/>
            <a:ext cx="182880" cy="6858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6309360" y="3648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DB Primary Down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309360" y="3904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Condition: connection lost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Structured JSON Logging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4320" y="4023360"/>
            <a:ext cx="859536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411480" y="4114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"ts":"2026-03-13T14:00:00Z", "imsi_hash":"278773..", "apn":"internet.op.com", "result":"resolved", "latency_ms":2.4, "ip_resolution":"imsi" }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11480" y="4663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</a:rPr>
              <a:t>Note: Raw IMSI is NEVER logged — SHA-256(imsi)[0:8] is used instead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Kubernetes Deployment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Helm umbrella chart — all components in aaa-platform namespace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794760"/>
          </a:xfrm>
          <a:prstGeom prst="rect">
            <a:avLst/>
          </a:prstGeom>
          <a:solidFill>
            <a:srgbClr val="F8FA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</a:rPr>
              <a:t>aaa-platform  (Kubernetes Namespace)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192024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aaa-lookup-service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(C++, 3-6 replicas)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8081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389888"/>
            <a:ext cx="1920240" cy="914400"/>
          </a:xfrm>
          <a:prstGeom prst="rect">
            <a:avLst/>
          </a:prstGeom>
          <a:solidFill>
            <a:srgbClr val="155A8A"/>
          </a:solidFill>
          <a:ln w="12700">
            <a:solidFill>
              <a:srgbClr val="155A8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subscriber-profile-api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(Python, 2-4 replicas)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8080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389888"/>
            <a:ext cx="1920240" cy="914400"/>
          </a:xfrm>
          <a:prstGeom prst="rect">
            <a:avLst/>
          </a:prstGeom>
          <a:solidFill>
            <a:srgbClr val="0D3D60"/>
          </a:solidFill>
          <a:ln w="12700">
            <a:solidFill>
              <a:srgbClr val="0D3D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aaa-management-ui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(React, 1-2 replicas)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80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0" y="1389888"/>
            <a:ext cx="1920240" cy="914400"/>
          </a:xfrm>
          <a:prstGeom prst="rect">
            <a:avLst/>
          </a:prstGeom>
          <a:solidFill>
            <a:srgbClr val="3C4D6B"/>
          </a:solidFill>
          <a:ln w="12700">
            <a:solidFill>
              <a:srgbClr val="3C4D6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76656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Prometheus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+ Grafana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</a:rPr>
              <a:t>port 9090/3000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17320" y="2304288"/>
            <a:ext cx="0" cy="36576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3520440" y="2304288"/>
            <a:ext cx="0" cy="365760"/>
          </a:xfrm>
          <a:prstGeom prst="line">
            <a:avLst/>
          </a:prstGeom>
          <a:noFill/>
          <a:ln w="1270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5029200" cy="914400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54864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PostgreSQL Primary (CNPG)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8308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178308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PgBouncer RW (pooler)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1752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301752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PgBouncer RO (pooler)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51960" y="2743200"/>
            <a:ext cx="1143000" cy="685800"/>
          </a:xfrm>
          <a:prstGeom prst="rect">
            <a:avLst/>
          </a:prstGeom>
          <a:solidFill>
            <a:srgbClr val="1A3566"/>
          </a:solidFill>
          <a:ln w="635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251960" y="27432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Read Replica(s)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5029200" cy="640080"/>
          </a:xfrm>
          <a:prstGeom prst="rect">
            <a:avLst/>
          </a:prstGeom>
          <a:solidFill>
            <a:srgbClr val="EEF3FB"/>
          </a:solidFill>
          <a:ln w="635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502920" y="3794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nginx-ingress  |  lookup.aaa.localhost → :8081  |  provisioning.aaa.localhost → :8080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1389888"/>
            <a:ext cx="3017520" cy="1600200"/>
          </a:xfrm>
          <a:prstGeom prst="rect">
            <a:avLst/>
          </a:prstGeom>
          <a:solidFill>
            <a:srgbClr val="EEF3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585216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Helm Charts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17647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aaa-platform (umbrella)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52160" y="19933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aaa-database (CNPG)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52160" y="22219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aaa-lookup-service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52160" y="24505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subscriber-profile-api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26791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aaa-management-ui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090672"/>
            <a:ext cx="3017520" cy="1344168"/>
          </a:xfrm>
          <a:prstGeom prst="rect">
            <a:avLst/>
          </a:prstGeom>
          <a:solidFill>
            <a:srgbClr val="EEF3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5852160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Storage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Dev: local-path (k3d) (5 Gi)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52160" y="3785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Prod: gp3-encrypted (EBS) (100 Gi)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52160" y="4078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Prometheus: local-path / gp3 (5-50 Gi)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Developer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</a:rPr>
              <a:t>Makefile-driven local development with k3d + hot-reload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Bootstrap (first time):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bootstrap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335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cluster-up + hosts + build-all + push-all + deploy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65760" y="18379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837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Show all pod statuses in aaa-platform namespace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4572000" cy="438912"/>
          </a:xfrm>
          <a:prstGeom prst="rect">
            <a:avLst/>
          </a:prstGeom>
          <a:solidFill>
            <a:srgbClr val="1E2761"/>
          </a:solidFill>
          <a:ln w="63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65760" y="23408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3408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Run 11-module regression suite as K8s Job (~15 min)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Port-Forward (local dev):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4572000" cy="36576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84048" y="32278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32278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localhost:8080 (subscriber-profile-api)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630168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84048" y="3657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port-forward-lookup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78608" y="3657600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localhost:8081 (aaa-lookup-service)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4572000" cy="365760"/>
          </a:xfrm>
          <a:prstGeom prst="rect">
            <a:avLst/>
          </a:prstGeom>
          <a:solidFill>
            <a:srgbClr val="EEF3FB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384048" y="40873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78608" y="408736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localhost:5432 (psql, DBeaver)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489704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84048" y="45171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port-forward-grafana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78608" y="4517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C4D6B"/>
                </a:solidFill>
              </a:rPr>
              <a:t>→ localhost:3000 (admin/dev-grafana)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20640" y="960120"/>
            <a:ext cx="3749040" cy="3886200"/>
          </a:xfrm>
          <a:prstGeom prst="rect">
            <a:avLst/>
          </a:prstGeom>
          <a:solidFill>
            <a:srgbClr val="EEF3FB"/>
          </a:solidFill>
          <a:ln w="1016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5120640" y="960120"/>
            <a:ext cx="374904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5166360" y="960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Regression Test Suite (11 Modules)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30368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test_01_pools.py — IP pool CRUD &amp; exhaustion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30368" y="1719072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5230368" y="1755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test_02_range_configs.py — IMSI range CRUD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30368" y="2103120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5230368" y="2139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test_03/04/05 — Profiles A / B / C modes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30368" y="2487168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5230368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test_06_imsi_ops.py — IMSI add/remove/update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30368" y="2871216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5230368" y="29077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test_07_dynamic_alloc.py — Two-stage flow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30368" y="3255264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5230368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test_08_bulk.py — JSON + CSV bulk upsert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30368" y="3639312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5230368" y="3675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test_09_migration.py — MariaDB → PostgreSQL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0368" y="4023360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5230368" y="40599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test_10_errors.py — Validation &amp; conflicts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230368" y="4407408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5230368" y="4443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</a:rPr>
              <a:t>test_11_performance.py — Latency &amp; stress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30368" y="4791456"/>
            <a:ext cx="35661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02336" y="1088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Performance Guaranteed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14630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Separated read/write paths ensure RADIUS authentication always stays below 15ms p99 — even as the subscriber base grows.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2ECC8C"/>
          </a:solidFill>
          <a:ln w="12700">
            <a:solidFill>
              <a:srgbClr val="2ECC8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837176" y="10881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Zero-Touch First-Connection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37176" y="14630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Unknown IMSIs are detected and auto-provisioned on first RADIUS attach. Multi-IMSI SIM cards get all slots provisioned atomically in a single transaction.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14800" cy="54864"/>
          </a:xfrm>
          <a:prstGeom prst="rect">
            <a:avLst/>
          </a:prstGeom>
          <a:solidFill>
            <a:srgbClr val="7EA8E8"/>
          </a:solidFill>
          <a:ln w="12700">
            <a:solidFill>
              <a:srgbClr val="7EA8E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02336" y="3008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Cloud-Native from the Ground 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Kubernetes-native with Helm charts, CloudNativePG, PgBouncer, Prometheus, and Grafana. Scales independently per-region, per-service.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17205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37176" y="30083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Enterprise-Scale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33832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A8E8"/>
                </a:solidFill>
              </a:rPr>
              <a:t>Bulk provisioning of 100K profiles per job, async processing, per-row error accumulation, and full audit trail for compliance.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773168"/>
            <a:ext cx="8595360" cy="0"/>
          </a:xfrm>
          <a:prstGeom prst="line">
            <a:avLst/>
          </a:prstGeom>
          <a:noFill/>
          <a:ln w="6350">
            <a:solidFill>
              <a:srgbClr val="3C4D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274320" y="480974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1BD"/>
                </a:solidFill>
              </a:rPr>
              <a:t>aaa-cloud-native  |  Platform Engineering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2132</Words>
  <Application>Microsoft Office PowerPoint</Application>
  <PresentationFormat>On-screen Show (16:9)</PresentationFormat>
  <Paragraphs>376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Cloud-Native Platform</dc:title>
  <dc:subject>PptxGenJS Presentation</dc:subject>
  <dc:creator>Platform Engineering</dc:creator>
  <cp:lastModifiedBy>Rony Idan</cp:lastModifiedBy>
  <cp:revision>2</cp:revision>
  <dcterms:created xsi:type="dcterms:W3CDTF">2026-03-14T18:38:16Z</dcterms:created>
  <dcterms:modified xsi:type="dcterms:W3CDTF">2026-03-14T18:55:44Z</dcterms:modified>
</cp:coreProperties>
</file>